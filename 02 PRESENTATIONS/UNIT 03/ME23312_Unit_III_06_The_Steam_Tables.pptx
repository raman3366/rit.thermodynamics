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6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Steam Tables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tables · compressed liquid approximation · linear interpolation · identifying the state of steam · steam as a real gas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steam tables contain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tables – temperature and pressure basis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Superheated steam table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liquid table and the approximation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interpolation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the state of steam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as a real gas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tables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steam tables contain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properties of water and steam at saturation and in the superheated region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these notes are from the </a:t>
            </a:r>
            <a:r>
              <a:rPr lang="en-US" sz="3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IAPWS-97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formulation, which textbook tables reproduce to within rounding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tables: saturation (temperature basis), saturation (pressure basis), superheated steam, compressed liquid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saturation tables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1004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basis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temperature: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Used when the temperature of the wet steam or saturated state is known.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233008" y="1554480"/>
            <a:ext cx="5410048" cy="4617720"/>
          </a:xfrm>
          <a:prstGeom prst="roundRect">
            <a:avLst>
              <a:gd name="adj" fmla="val 237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1608" y="16916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basis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61608" y="228600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properties listed against pressure. Used when the pressure is known – the usual case in boilers, condensers and turbines.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 and compressed-liquid tables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1004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Superheated steam table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pressure: v, u, h and s at temperatures above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usually in steps of 50 K; the first row is the saturated vapour. Two independent properties, normally p and T, fix the state.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233008" y="1554480"/>
            <a:ext cx="5410048" cy="4617720"/>
          </a:xfrm>
          <a:prstGeom prst="roundRect">
            <a:avLst>
              <a:gd name="adj" fmla="val 237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1608" y="16916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liquid table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61608" y="228600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of liquid water at pressures above the saturation pressure. Where it is not available, treat the compressed liquid as saturated liquid at the same temperature.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liquid approximation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≈ v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     u ≈ u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     s ≈ s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</a:t>
            </a:r>
            <a:endParaRPr lang="en-US" sz="3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≈ h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(T) + v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 – p</a:t>
            </a:r>
            <a:r>
              <a:rPr lang="en-US" sz="34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11094415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of a liquid depend mainly on temperature, hardly on pressure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 correction term in h accounts for the flow work at the higher pressure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Interpolation and identifying the state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interpolation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y</a:t>
            </a:r>
            <a:r>
              <a:rPr lang="en-US" sz="36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(y</a:t>
            </a:r>
            <a:r>
              <a:rPr lang="en-US" sz="36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y</a:t>
            </a:r>
            <a:r>
              <a:rPr lang="en-US" sz="36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(T – T</a:t>
            </a:r>
            <a:r>
              <a:rPr lang="en-US" sz="36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)/(T</a:t>
            </a:r>
            <a:r>
              <a:rPr lang="en-US" sz="36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</a:t>
            </a:r>
            <a:r>
              <a:rPr lang="en-US" sz="3600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1094415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property y tabulated as y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y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</a:t>
            </a:r>
            <a:r>
              <a:rPr lang="en-US" sz="30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 a temperature T between them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used in reverse – to find the temperature (or pressure) at which a property has a given value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the state of steam at a given pressure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given property with the saturated values at that pressure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&lt; 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T &lt; T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→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liquid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≤ v ≤ 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steam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find the dryness fraction x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&gt; v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T &gt; T</a:t>
            </a:r>
            <a:r>
              <a:rPr lang="en-US" sz="28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→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superheated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use the superheat table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test works with h, s or u in place of v.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as a real gas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the ideal-gas law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Superheated steam at low pressure and high superheat behaves roughly as an ideal gas with R = 8.3145/18.015 = 0.4615 kJ/kg K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the saturation line intermolecular attraction reduces the volume below the ideal value; the deviation grows with pressure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critical point Z = pv/RT is only 0.23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2 % deviation at 1.2 MPa with 162 K of superheat; about 28 % at 10 MPa and 350 °C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steam tables for everything except rough estimates at low pressure.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tables (T basis and p basis): v, u, h, s of f and g states plus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 table: v, u, h, s against T for each p; state fixed by (p, T)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liquid ≈ saturated liquid at the same T; h ≈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 –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interpolation between tabulated entries, forwards or in reverse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state by comparing v (or h, s, u, T) with the saturated values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is a real gas – pv = RT only for rough low-pressure estimates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Properties of wet, dry saturated and superheated steam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 fraction and the mixture relations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energy u = h – pv; h</a:t>
            </a:r>
            <a:r>
              <a:rPr lang="en-US" sz="3000" baseline="-40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</a:t>
            </a:r>
            <a:r>
              <a:rPr lang="en-US" sz="3000" baseline="-40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</a:t>
            </a:r>
            <a:r>
              <a:rPr lang="en-US" sz="3000" baseline="-40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problems: Worked Examples 3.1 – 3.4 in the lecture notes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Steam Tables</dc:title>
  <dc:subject>PptxGenJS Presentation</dc:subject>
  <dc:creator>Dr. Anantha Raman L.</dc:creator>
  <cp:lastModifiedBy>Dr. Anantha Raman L.</cp:lastModifiedBy>
  <cp:revision>1</cp:revision>
  <dcterms:created xsi:type="dcterms:W3CDTF">2026-09-07T05:51:24Z</dcterms:created>
  <dcterms:modified xsi:type="dcterms:W3CDTF">2026-09-07T05:51:24Z</dcterms:modified>
</cp:coreProperties>
</file>