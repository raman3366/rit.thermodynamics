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743200" cy="982634"/>
          </a:xfrm>
          <a:prstGeom prst="roundRect">
            <a:avLst>
              <a:gd name="adj" fmla="val 111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tmp/claude-0/-home-claude/a34dce71-a27e-57cc-8705-14efc3510b3f/scratchpad/slides/img-0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40080"/>
            <a:ext cx="2468880" cy="63748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8288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B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 ENGINEERING THERMODYNAMICS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2860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6E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III – Properties of Pure Substance  ·  Presentation 2 of 10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880360"/>
            <a:ext cx="110944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Formation of Steam at Constant Pressure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38912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D6E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Heating water at constant pressure · compressed liquid, saturated liquid, wet steam, dry saturated and superheated vapour · saturation temperature and pressure · the T–Q diagram · sensible and latent heat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8064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B4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Anantha Raman L., M.E., Ph.D.  ·  Associate Professor, Department of Mechanical Engineering, Rajalakshmi Institute of Technology, Chennai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a34dce71-a27e-57cc-8705-14efc3510b3f/scratchpad/slide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2935" y="201168"/>
            <a:ext cx="960120" cy="24791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2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65760"/>
            <a:ext cx="99056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this presentation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54480"/>
            <a:ext cx="11094415" cy="4617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3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Heating water at constant pressure</a:t>
            </a:r>
            <a:endParaRPr lang="en-US" sz="3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3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five states a to e</a:t>
            </a:r>
            <a:endParaRPr lang="en-US" sz="3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3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Saturation temperature and saturation pressure</a:t>
            </a:r>
            <a:endParaRPr lang="en-US" sz="3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3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Fixing the state of wet steam</a:t>
            </a:r>
            <a:endParaRPr lang="en-US" sz="3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3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T–Q diagram</a:t>
            </a:r>
            <a:endParaRPr lang="en-US" sz="3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3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Sensible heat and latent heat</a:t>
            </a:r>
            <a:endParaRPr lang="en-US" sz="3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3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Latent heat depends on the pressure</a:t>
            </a:r>
            <a:endParaRPr lang="en-US" sz="3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a34dce71-a27e-57cc-8705-14efc3510b3f/scratchpad/slide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2935" y="201168"/>
            <a:ext cx="960120" cy="24791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2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2011680"/>
            <a:ext cx="2011680" cy="201168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201168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200" dirty="0"/>
          </a:p>
        </p:txBody>
      </p:sp>
      <p:sp>
        <p:nvSpPr>
          <p:cNvPr id="7" name="Text 4"/>
          <p:cNvSpPr txBox="1"/>
          <p:nvPr/>
        </p:nvSpPr>
        <p:spPr>
          <a:xfrm>
            <a:off x="3017520" y="1828800"/>
            <a:ext cx="862553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Heating water at constant pressure</a:t>
            </a:r>
            <a:endParaRPr lang="en-US" sz="4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a34dce71-a27e-57cc-8705-14efc3510b3f/scratchpad/slide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2935" y="201168"/>
            <a:ext cx="960120" cy="24791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2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65760"/>
            <a:ext cx="99056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Formation of steam on the T–v diagram</a:t>
            </a:r>
            <a:endParaRPr lang="en-US" sz="3800" dirty="0"/>
          </a:p>
        </p:txBody>
      </p:sp>
      <p:pic>
        <p:nvPicPr>
          <p:cNvPr id="6" name="Image 1" descr="/tmp/claude-0/-home-claude/a34dce71-a27e-57cc-8705-14efc3510b3f/scratchpad/slides/s3_tv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4634" y="1554480"/>
            <a:ext cx="7262428" cy="39776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55778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kg of water heated at a constant 0.1 MPa: states a → b → c → d → e; isobars at 0.1, 1 and 10 MPa; the saturation dome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a34dce71-a27e-57cc-8705-14efc3510b3f/scratchpad/slide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2935" y="201168"/>
            <a:ext cx="960120" cy="24791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2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65760"/>
            <a:ext cx="99056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States a and b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5410048" cy="4617720"/>
          </a:xfrm>
          <a:prstGeom prst="roundRect">
            <a:avLst>
              <a:gd name="adj" fmla="val 2376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1691640"/>
            <a:ext cx="495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 Compressed (subcooled) liquid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286000"/>
            <a:ext cx="4952848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at 30 °C, below its boiling point for the pressure: p &gt; p</a:t>
            </a:r>
            <a:r>
              <a:rPr lang="en-US" sz="24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</a:t>
            </a: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(30 °C) = 4.25 kPa (compressed); T &lt; T</a:t>
            </a:r>
            <a:r>
              <a:rPr lang="en-US" sz="24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</a:t>
            </a: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(0.1 MPa) = 99.6 °C (subcooled). Heating raises T; the volume grows only slightly.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6233008" y="1554480"/>
            <a:ext cx="5410048" cy="4617720"/>
          </a:xfrm>
          <a:prstGeom prst="roundRect">
            <a:avLst>
              <a:gd name="adj" fmla="val 2376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61608" y="1691640"/>
            <a:ext cx="495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 Saturated liquid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6461608" y="2286000"/>
            <a:ext cx="4952848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99.6 °C the water is about to boil – any further heat begins vaporisation. Properties carry the subscript f: v</a:t>
            </a:r>
            <a:r>
              <a:rPr lang="en-US" sz="24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u</a:t>
            </a:r>
            <a:r>
              <a:rPr lang="en-US" sz="24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h</a:t>
            </a:r>
            <a:r>
              <a:rPr lang="en-US" sz="24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s</a:t>
            </a:r>
            <a:r>
              <a:rPr lang="en-US" sz="24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a34dce71-a27e-57cc-8705-14efc3510b3f/scratchpad/slide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2935" y="201168"/>
            <a:ext cx="960120" cy="24791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2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65760"/>
            <a:ext cx="99056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States c and d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5410048" cy="4617720"/>
          </a:xfrm>
          <a:prstGeom prst="roundRect">
            <a:avLst>
              <a:gd name="adj" fmla="val 2376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1691640"/>
            <a:ext cx="495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 Wet steam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286000"/>
            <a:ext cx="4952848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Liquid turns to vapour at constant T and p; the volume grows enormously (0.001043 → 1.694 m³/kg at 0.1 MPa). A two-phase mixture of saturated liquid and saturated vapour in equilibrium.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6233008" y="1554480"/>
            <a:ext cx="5410048" cy="4617720"/>
          </a:xfrm>
          <a:prstGeom prst="roundRect">
            <a:avLst>
              <a:gd name="adj" fmla="val 2376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61608" y="1691640"/>
            <a:ext cx="495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 Dry saturated vapour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6461608" y="2286000"/>
            <a:ext cx="4952848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last drop of liquid has vaporised: vapour at T</a:t>
            </a:r>
            <a:r>
              <a:rPr lang="en-US" sz="24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</a:t>
            </a: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with no moisture (subscript g: v</a:t>
            </a:r>
            <a:r>
              <a:rPr lang="en-US" sz="24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u</a:t>
            </a:r>
            <a:r>
              <a:rPr lang="en-US" sz="24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h</a:t>
            </a:r>
            <a:r>
              <a:rPr lang="en-US" sz="24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s</a:t>
            </a:r>
            <a:r>
              <a:rPr lang="en-US" sz="24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), on the point of condensing if heat is removed.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a34dce71-a27e-57cc-8705-14efc3510b3f/scratchpad/slide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2935" y="201168"/>
            <a:ext cx="960120" cy="24791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2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65760"/>
            <a:ext cx="99056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e – superheated vapour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11094415" cy="2011680"/>
          </a:xfrm>
          <a:prstGeom prst="roundRect">
            <a:avLst>
              <a:gd name="adj" fmla="val 6818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68680" y="1554480"/>
            <a:ext cx="1045433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Further heating raises the temperature above the saturation temperature; the temperature and the volume both increase with heat addition.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840480"/>
            <a:ext cx="11094415" cy="2331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3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Superheated steam is fixed by two independent properties, normally p and T</a:t>
            </a:r>
            <a:endParaRPr lang="en-US" sz="3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a34dce71-a27e-57cc-8705-14efc3510b3f/scratchpad/slide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2935" y="201168"/>
            <a:ext cx="960120" cy="24791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2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2011680"/>
            <a:ext cx="2011680" cy="201168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201168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200" dirty="0"/>
          </a:p>
        </p:txBody>
      </p:sp>
      <p:sp>
        <p:nvSpPr>
          <p:cNvPr id="7" name="Text 4"/>
          <p:cNvSpPr txBox="1"/>
          <p:nvPr/>
        </p:nvSpPr>
        <p:spPr>
          <a:xfrm>
            <a:off x="3017520" y="1828800"/>
            <a:ext cx="862553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Saturation temperature and pressure</a:t>
            </a:r>
            <a:endParaRPr lang="en-US" sz="4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a34dce71-a27e-57cc-8705-14efc3510b3f/scratchpad/slide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2935" y="201168"/>
            <a:ext cx="960120" cy="24791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2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65760"/>
            <a:ext cx="99056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Saturation temperature and saturation pressure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54480"/>
            <a:ext cx="11094415" cy="4617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6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r>
              <a:rPr lang="en-US" sz="2600" b="1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</a:t>
            </a: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the temperature at which a pure substance changes phase at a given pressure</a:t>
            </a:r>
            <a:endParaRPr lang="en-US" sz="26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6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r>
              <a:rPr lang="en-US" sz="2600" b="1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</a:t>
            </a: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the pressure at which it changes phase at a given temperature</a:t>
            </a:r>
            <a:endParaRPr lang="en-US" sz="26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Uniquely related along the </a:t>
            </a:r>
            <a:r>
              <a:rPr lang="en-US" sz="26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vapour-pressure curve</a:t>
            </a: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T</a:t>
            </a:r>
            <a:r>
              <a:rPr lang="en-US" sz="26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</a:t>
            </a: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rises with pressure</a:t>
            </a:r>
            <a:endParaRPr lang="en-US" sz="26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 pressure cooker cooks faster, and why boiler pressures are raised to reach higher cycle temperatures</a:t>
            </a:r>
            <a:endParaRPr lang="en-US" sz="2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a34dce71-a27e-57cc-8705-14efc3510b3f/scratchpad/slide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2935" y="201168"/>
            <a:ext cx="960120" cy="24791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2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65760"/>
            <a:ext cx="99056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Boiling point of water against pressure</a:t>
            </a:r>
            <a:endParaRPr lang="en-US" sz="3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5547208"/>
                <a:gridCol w="5547208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Pressure</a:t>
                      </a:r>
                      <a:endParaRPr lang="en-US" sz="2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Saturation temperature</a:t>
                      </a:r>
                      <a:endParaRPr lang="en-US" sz="2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600" b="1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 MPa</a:t>
                      </a:r>
                      <a:endParaRPr lang="en-US" sz="2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6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99.6 °C</a:t>
                      </a:r>
                      <a:endParaRPr lang="en-US" sz="2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600" b="1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MPa</a:t>
                      </a:r>
                      <a:endParaRPr lang="en-US" sz="2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6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179.9 °C</a:t>
                      </a:r>
                      <a:endParaRPr lang="en-US" sz="2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600" b="1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MPa</a:t>
                      </a:r>
                      <a:endParaRPr lang="en-US" sz="2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6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311.0 °C</a:t>
                      </a:r>
                      <a:endParaRPr lang="en-US" sz="2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600" b="1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22.06 MPa (critical)</a:t>
                      </a:r>
                      <a:endParaRPr lang="en-US" sz="2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6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374.1 °C</a:t>
                      </a:r>
                      <a:endParaRPr lang="en-US" sz="2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a34dce71-a27e-57cc-8705-14efc3510b3f/scratchpad/slide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2935" y="201168"/>
            <a:ext cx="960120" cy="24791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2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65760"/>
            <a:ext cx="99056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Fixing the state of wet steam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11094415" cy="2011680"/>
          </a:xfrm>
          <a:prstGeom prst="roundRect">
            <a:avLst>
              <a:gd name="adj" fmla="val 6818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68680" y="1554480"/>
            <a:ext cx="1045433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During a phase change T and p are not independent – fixing one fixes the other. A single one of them does not fix the state of wet steam.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840480"/>
            <a:ext cx="11094415" cy="2331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3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second property is needed: v, h, s or the dryness fraction x</a:t>
            </a:r>
            <a:endParaRPr lang="en-US" sz="3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a34dce71-a27e-57cc-8705-14efc3510b3f/scratchpad/slide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2935" y="201168"/>
            <a:ext cx="960120" cy="24791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2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2011680"/>
            <a:ext cx="2011680" cy="201168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201168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200" dirty="0"/>
          </a:p>
        </p:txBody>
      </p:sp>
      <p:sp>
        <p:nvSpPr>
          <p:cNvPr id="7" name="Text 4"/>
          <p:cNvSpPr txBox="1"/>
          <p:nvPr/>
        </p:nvSpPr>
        <p:spPr>
          <a:xfrm>
            <a:off x="3017520" y="1828800"/>
            <a:ext cx="862553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T–Q diagram</a:t>
            </a:r>
            <a:endParaRPr lang="en-US" sz="4400" dirty="0"/>
          </a:p>
        </p:txBody>
      </p:sp>
      <p:sp>
        <p:nvSpPr>
          <p:cNvPr id="8" name="Text 5"/>
          <p:cNvSpPr txBox="1"/>
          <p:nvPr/>
        </p:nvSpPr>
        <p:spPr>
          <a:xfrm>
            <a:off x="3017520" y="3337560"/>
            <a:ext cx="86255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Sensible heat, latent heat and superheat</a:t>
            </a:r>
            <a:endParaRPr lang="en-US" sz="2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a34dce71-a27e-57cc-8705-14efc3510b3f/scratchpad/slide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2935" y="201168"/>
            <a:ext cx="960120" cy="24791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2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65760"/>
            <a:ext cx="99056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Ice at –10 °C to steam at 150 °C at 1 atm</a:t>
            </a:r>
            <a:endParaRPr lang="en-US" sz="3800" dirty="0"/>
          </a:p>
        </p:txBody>
      </p:sp>
      <p:pic>
        <p:nvPicPr>
          <p:cNvPr id="6" name="Image 1" descr="/tmp/claude-0/-home-claude/a34dce71-a27e-57cc-8705-14efc3510b3f/scratchpad/slides/s3_tq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7939" y="1554480"/>
            <a:ext cx="7295818" cy="39776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55778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 of 1 kg of water plotted against the heat supplied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a34dce71-a27e-57cc-8705-14efc3510b3f/scratchpad/slide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2935" y="201168"/>
            <a:ext cx="960120" cy="24791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2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65760"/>
            <a:ext cx="99056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 supplied: ice at –10 °C → steam at 150 °C</a:t>
            </a:r>
            <a:endParaRPr lang="en-US" sz="3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1849069"/>
                <a:gridCol w="6009475"/>
                <a:gridCol w="3235871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Segment</a:t>
                      </a:r>
                      <a:endParaRPr lang="en-US" sz="2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happens</a:t>
                      </a:r>
                      <a:endParaRPr lang="en-US" sz="2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Heat (kJ/kg)</a:t>
                      </a:r>
                      <a:endParaRPr lang="en-US" sz="2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A–B</a:t>
                      </a:r>
                      <a:endParaRPr lang="en-US" sz="2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Sensible heat of ice, –10 → 0 °C: c</a:t>
                      </a:r>
                      <a:r>
                        <a:rPr lang="en-US" sz="2200" baseline="-400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ice</a:t>
                      </a:r>
                      <a:r>
                        <a:rPr lang="en-US" sz="22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ΔT = 2.093 × 10</a:t>
                      </a:r>
                      <a:endParaRPr lang="en-US" sz="2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20.9</a:t>
                      </a:r>
                      <a:endParaRPr lang="en-US" sz="2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B–C</a:t>
                      </a:r>
                      <a:endParaRPr lang="en-US" sz="2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Latent heat of fusion – ice melts at 0 °C</a:t>
                      </a:r>
                      <a:endParaRPr lang="en-US" sz="2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</a:t>
                      </a:r>
                      <a:r>
                        <a:rPr lang="en-US" sz="2200" baseline="-400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r>
                        <a:rPr lang="en-US" sz="22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= 334.5</a:t>
                      </a:r>
                      <a:endParaRPr lang="en-US" sz="2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C–D</a:t>
                      </a:r>
                      <a:endParaRPr lang="en-US" sz="2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Sensible heat of water, 0 → 100 °C: c</a:t>
                      </a:r>
                      <a:r>
                        <a:rPr lang="en-US" sz="2200" baseline="-400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</a:t>
                      </a:r>
                      <a:r>
                        <a:rPr lang="en-US" sz="22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ΔT = 4.187 × 100</a:t>
                      </a:r>
                      <a:endParaRPr lang="en-US" sz="2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418.7</a:t>
                      </a:r>
                      <a:endParaRPr lang="en-US" sz="2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D–E</a:t>
                      </a:r>
                      <a:endParaRPr lang="en-US" sz="2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Latent heat of vaporisation – water boils at 100 °C</a:t>
                      </a:r>
                      <a:endParaRPr lang="en-US" sz="2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</a:t>
                      </a:r>
                      <a:r>
                        <a:rPr lang="en-US" sz="2200" baseline="-400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fg</a:t>
                      </a:r>
                      <a:r>
                        <a:rPr lang="en-US" sz="22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= 2257</a:t>
                      </a:r>
                      <a:endParaRPr lang="en-US" sz="2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E–F</a:t>
                      </a:r>
                      <a:endParaRPr lang="en-US" sz="2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Superheat, 100 → 150 °C: c</a:t>
                      </a:r>
                      <a:r>
                        <a:rPr lang="en-US" sz="2200" baseline="-400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r>
                        <a:rPr lang="en-US" sz="22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ΔT ≈ 2.0 × 50</a:t>
                      </a:r>
                      <a:endParaRPr lang="en-US" sz="2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 100</a:t>
                      </a:r>
                      <a:endParaRPr lang="en-US" sz="2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2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 3131</a:t>
                      </a:r>
                      <a:endParaRPr lang="en-US" sz="2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a34dce71-a27e-57cc-8705-14efc3510b3f/scratchpad/slide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2935" y="201168"/>
            <a:ext cx="960120" cy="24791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2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65760"/>
            <a:ext cx="99056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Sensible heat and latent heat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5364328" cy="4617720"/>
          </a:xfrm>
          <a:prstGeom prst="roundRect">
            <a:avLst>
              <a:gd name="adj" fmla="val 2376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1691640"/>
            <a:ext cx="49071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Sensible heat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377440"/>
            <a:ext cx="4907128" cy="3657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Produces a </a:t>
            </a:r>
            <a:r>
              <a:rPr lang="en-US" sz="28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of temperature</a:t>
            </a:r>
            <a:r>
              <a:rPr lang="en-US" sz="2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without a change of phase</a:t>
            </a:r>
            <a:endParaRPr lang="en-US" sz="28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Segments A–B, C–D and E–F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6278728" y="1554480"/>
            <a:ext cx="5364328" cy="4617720"/>
          </a:xfrm>
          <a:prstGeom prst="roundRect">
            <a:avLst>
              <a:gd name="adj" fmla="val 2376"/>
            </a:avLst>
          </a:prstGeom>
          <a:solidFill>
            <a:srgbClr val="FDF1E8"/>
          </a:solidFill>
          <a:ln w="12700">
            <a:solidFill>
              <a:srgbClr val="FDF1E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507328" y="1691640"/>
            <a:ext cx="49071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Latent heat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6507328" y="2377440"/>
            <a:ext cx="4907128" cy="3657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Absorbed or released at </a:t>
            </a:r>
            <a:r>
              <a:rPr lang="en-US" sz="24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constant temperature</a:t>
            </a: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during a change of phase</a:t>
            </a:r>
            <a:endParaRPr lang="en-US" sz="24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4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r>
              <a:rPr lang="en-US" sz="2400" b="1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</a:t>
            </a: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latent heat of fusion</a:t>
            </a:r>
            <a:endParaRPr lang="en-US" sz="24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4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r>
              <a:rPr lang="en-US" sz="2400" b="1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</a:t>
            </a:r>
            <a:r>
              <a:rPr lang="en-US" sz="24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h</a:t>
            </a:r>
            <a:r>
              <a:rPr lang="en-US" sz="2400" b="1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r>
              <a:rPr lang="en-US" sz="24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h</a:t>
            </a:r>
            <a:r>
              <a:rPr lang="en-US" sz="2400" b="1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latent heat of vaporisation at constant pressure</a:t>
            </a:r>
            <a:endParaRPr lang="en-US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a34dce71-a27e-57cc-8705-14efc3510b3f/scratchpad/slide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2935" y="201168"/>
            <a:ext cx="960120" cy="24791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2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65760"/>
            <a:ext cx="99056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Latent heat depends on the pressure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54480"/>
            <a:ext cx="11094415" cy="3383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3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r>
              <a:rPr lang="en-US" sz="32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</a:t>
            </a:r>
            <a:r>
              <a:rPr lang="en-US" sz="3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2257.5 kJ/kg at 0.1 MPa</a:t>
            </a:r>
            <a:endParaRPr lang="en-US" sz="32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3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r>
              <a:rPr lang="en-US" sz="32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</a:t>
            </a:r>
            <a:r>
              <a:rPr lang="en-US" sz="3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2014.4 kJ/kg at 1 MPa</a:t>
            </a:r>
            <a:endParaRPr lang="en-US" sz="32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3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r>
              <a:rPr lang="en-US" sz="32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</a:t>
            </a:r>
            <a:r>
              <a:rPr lang="en-US" sz="3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1317.6 kJ/kg at 10 MPa</a:t>
            </a:r>
            <a:endParaRPr lang="en-US" sz="32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3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r>
              <a:rPr lang="en-US" sz="32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</a:t>
            </a:r>
            <a:r>
              <a:rPr lang="en-US" sz="3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0 at the critical point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548640" y="5074920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FDF1E8"/>
          </a:solidFill>
          <a:ln w="12700">
            <a:solidFill>
              <a:srgbClr val="FDF1E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5074920"/>
            <a:ext cx="107286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E87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  </a:t>
            </a:r>
            <a:r>
              <a:rPr lang="en-US" sz="2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Vaporisation is by far the largest item – more than five times the sensible heat of the water.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a34dce71-a27e-57cc-8705-14efc3510b3f/scratchpad/slide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2935" y="201168"/>
            <a:ext cx="960120" cy="24791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2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65760"/>
            <a:ext cx="99056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54480"/>
            <a:ext cx="5364328" cy="4617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Constant-pressure heating: compressed liquid → saturated liquid (f) → wet steam → dry saturated vapour (g) → superheated vapour</a:t>
            </a:r>
            <a:endParaRPr lang="en-US" sz="24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grows enormously during vaporisation (0.001 → 1.7 m³/kg at 0.1 MPa)</a:t>
            </a:r>
            <a:endParaRPr lang="en-US" sz="24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r>
              <a:rPr lang="en-US" sz="24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</a:t>
            </a: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p</a:t>
            </a:r>
            <a:r>
              <a:rPr lang="en-US" sz="24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</a:t>
            </a: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are uniquely related; T</a:t>
            </a:r>
            <a:r>
              <a:rPr lang="en-US" sz="24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</a:t>
            </a:r>
            <a:r>
              <a:rPr lang="en-US" sz="2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rises with pressure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6278728" y="1554480"/>
            <a:ext cx="5364328" cy="4617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Wet steam needs a second property (v, h, s or x) to fix its state</a:t>
            </a:r>
            <a:endParaRPr lang="en-US" sz="26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Sensible heat changes temperature; latent heat changes phase at constant temperature</a:t>
            </a:r>
            <a:endParaRPr lang="en-US" sz="26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r>
              <a:rPr lang="en-US" sz="2600" baseline="-400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</a:t>
            </a:r>
            <a:r>
              <a:rPr lang="en-US" sz="2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falls with pressure and vanishes at the critical point</a:t>
            </a:r>
            <a:endParaRPr lang="en-US" sz="2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2801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Superheat, subcooling, critical and triple points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651760"/>
            <a:ext cx="11094415" cy="3108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3000" dirty="0">
                <a:solidFill>
                  <a:srgbClr val="D6E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Degree of superheat and degree of subcooling</a:t>
            </a:r>
            <a:endParaRPr lang="en-US" sz="3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3000" dirty="0">
                <a:solidFill>
                  <a:srgbClr val="D6E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Evaporation versus boiling</a:t>
            </a:r>
            <a:endParaRPr lang="en-US" sz="30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3000" dirty="0">
                <a:solidFill>
                  <a:srgbClr val="D6E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critical point and the triple point of water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6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ME23312 Engineering Thermodynamics  ·  Unit III · Presentation 2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9C6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Rajalakshmi Institute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Formation of Steam at Constant Pressure</dc:title>
  <dc:subject>PptxGenJS Presentation</dc:subject>
  <dc:creator>Dr. Anantha Raman L.</dc:creator>
  <cp:lastModifiedBy>Dr. Anantha Raman L.</cp:lastModifiedBy>
  <cp:revision>1</cp:revision>
  <dcterms:created xsi:type="dcterms:W3CDTF">2026-09-07T05:54:53Z</dcterms:created>
  <dcterms:modified xsi:type="dcterms:W3CDTF">2026-09-07T05:54:53Z</dcterms:modified>
</cp:coreProperties>
</file>