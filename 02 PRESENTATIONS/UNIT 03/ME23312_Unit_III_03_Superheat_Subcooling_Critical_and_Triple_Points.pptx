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743200" cy="982634"/>
          </a:xfrm>
          <a:prstGeom prst="roundRect">
            <a:avLst>
              <a:gd name="adj" fmla="val 111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tmp/claude-0/-home-claude/a34dce71-a27e-57cc-8705-14efc3510b3f/scratchpad/slides/img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0080"/>
            <a:ext cx="2468880" cy="63748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8288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B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 ENGINEERING THERMODYNAMICS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860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6E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III – Properties of Pure Substance  ·  Presentation 3 of 10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8036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Superheat, Subcooling, Evaporation and Boiling, the Critical and Triple Points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38912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D6E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Degree of superheat · degree of subcooling · evaporation versus boiling · the critical point and supercritical states · the triple point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8064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B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Anantha Raman L., M.E., Ph.D.  ·  Associate Professor, Department of Mechanical Engineering, Rajalakshmi Institute of Technology, Chennai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3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presentation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11094415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Degree of superheat</a:t>
            </a:r>
            <a:endParaRPr lang="en-US" sz="3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Degree of subcooling</a:t>
            </a:r>
            <a:endParaRPr lang="en-US" sz="3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Evaporation</a:t>
            </a:r>
            <a:endParaRPr lang="en-US" sz="3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Boiling</a:t>
            </a:r>
            <a:endParaRPr lang="en-US" sz="3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critical point</a:t>
            </a:r>
            <a:endParaRPr lang="en-US" sz="3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Supercritical states</a:t>
            </a:r>
            <a:endParaRPr lang="en-US" sz="3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triple point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3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2011680"/>
            <a:ext cx="2011680" cy="201168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01168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200" dirty="0"/>
          </a:p>
        </p:txBody>
      </p:sp>
      <p:sp>
        <p:nvSpPr>
          <p:cNvPr id="7" name="Text 4"/>
          <p:cNvSpPr txBox="1"/>
          <p:nvPr/>
        </p:nvSpPr>
        <p:spPr>
          <a:xfrm>
            <a:off x="3017520" y="1828800"/>
            <a:ext cx="8625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Degree of superheat and degree of subcooling</a:t>
            </a:r>
            <a:endParaRPr lang="en-US" sz="4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3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Degree of superheat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94415" cy="137160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554480"/>
            <a:ext cx="107286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Degree of superheat = T – T</a:t>
            </a:r>
            <a:r>
              <a:rPr lang="en-US" sz="40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</a:t>
            </a: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(p)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200400"/>
            <a:ext cx="11094415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far superheated steam is above the saturation temperature at the same pressure</a:t>
            </a:r>
            <a:endParaRPr lang="en-US" sz="28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Steam at 1.2 MPa and 350 °C: T</a:t>
            </a:r>
            <a:r>
              <a:rPr lang="en-US" sz="28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</a:t>
            </a: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188.0 °C, so the degree of superheat is 162.0 K</a:t>
            </a:r>
            <a:endParaRPr lang="en-US" sz="28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Dry saturated steam has zero superheat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3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Degree of subcooling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94415" cy="137160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554480"/>
            <a:ext cx="107286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Degree of subcooling = T</a:t>
            </a:r>
            <a:r>
              <a:rPr lang="en-US" sz="40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</a:t>
            </a: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(p) – T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200400"/>
            <a:ext cx="11094415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far a compressed liquid is below the saturation temperature at its pressure (also called undercooling)</a:t>
            </a:r>
            <a:endParaRPr lang="en-US" sz="3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at 1.2 MPa and 40 °C is subcooled by 188.0 – 40 = 148.0 K</a:t>
            </a:r>
            <a:endParaRPr lang="en-US" sz="3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saturated liquid has zero subcooling</a:t>
            </a:r>
            <a:endParaRPr lang="en-US" sz="3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3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2011680"/>
            <a:ext cx="2011680" cy="201168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01168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200" dirty="0"/>
          </a:p>
        </p:txBody>
      </p:sp>
      <p:sp>
        <p:nvSpPr>
          <p:cNvPr id="7" name="Text 4"/>
          <p:cNvSpPr txBox="1"/>
          <p:nvPr/>
        </p:nvSpPr>
        <p:spPr>
          <a:xfrm>
            <a:off x="3017520" y="1828800"/>
            <a:ext cx="8625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Evaporation and boiling</a:t>
            </a:r>
            <a:endParaRPr lang="en-US" sz="4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3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Evaporation versus boiling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5364328" cy="4617720"/>
          </a:xfrm>
          <a:prstGeom prst="roundRect">
            <a:avLst>
              <a:gd name="adj" fmla="val 2376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691640"/>
            <a:ext cx="49071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Evaporation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377440"/>
            <a:ext cx="4907128" cy="3657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1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</a:t>
            </a:r>
            <a:r>
              <a:rPr lang="en-US" sz="18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surface</a:t>
            </a:r>
            <a:r>
              <a:rPr lang="en-US" sz="1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at any temperature below the boiling point</a:t>
            </a:r>
            <a:endParaRPr lang="en-US" sz="18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1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more energetic surface molecules escape into the space above</a:t>
            </a:r>
            <a:endParaRPr lang="en-US" sz="18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1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Slow, no bubbles; rate depends on exposed area, temperature and the vapour already present</a:t>
            </a:r>
            <a:endParaRPr lang="en-US" sz="18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1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in an open dish at room temperature; moisture picked up in a cooling tower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278728" y="1554480"/>
            <a:ext cx="5364328" cy="4617720"/>
          </a:xfrm>
          <a:prstGeom prst="roundRect">
            <a:avLst>
              <a:gd name="adj" fmla="val 2376"/>
            </a:avLst>
          </a:prstGeom>
          <a:solidFill>
            <a:srgbClr val="FDF1E8"/>
          </a:solidFill>
          <a:ln w="12700">
            <a:solidFill>
              <a:srgbClr val="FDF1E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07328" y="1691640"/>
            <a:ext cx="49071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Boiling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6507328" y="2377440"/>
            <a:ext cx="4907128" cy="3657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Vaporisation </a:t>
            </a:r>
            <a:r>
              <a:rPr lang="en-US" sz="24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throughout the bulk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the liquid, with bubble formation</a:t>
            </a:r>
            <a:endParaRPr lang="en-US" sz="24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when the liquid has reached the </a:t>
            </a:r>
            <a:r>
              <a:rPr lang="en-US" sz="24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saturation temperature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the pressure acting on it</a:t>
            </a:r>
            <a:endParaRPr lang="en-US" sz="24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Steam generated in a boiler is produced by boiling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3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2011680"/>
            <a:ext cx="2011680" cy="201168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01168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200" dirty="0"/>
          </a:p>
        </p:txBody>
      </p:sp>
      <p:sp>
        <p:nvSpPr>
          <p:cNvPr id="7" name="Text 4"/>
          <p:cNvSpPr txBox="1"/>
          <p:nvPr/>
        </p:nvSpPr>
        <p:spPr>
          <a:xfrm>
            <a:off x="3017520" y="1828800"/>
            <a:ext cx="8625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critical point</a:t>
            </a:r>
            <a:endParaRPr lang="en-US" sz="4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3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Approaching the critical point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11094415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the pressure rises, the horizontal vaporisation segment on the T–v diagram becomes </a:t>
            </a:r>
            <a:r>
              <a:rPr lang="en-US" sz="32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shorter</a:t>
            </a:r>
            <a:endParaRPr lang="en-US" sz="32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saturated liquid expands and the saturated vapour is compressed: v</a:t>
            </a:r>
            <a:r>
              <a:rPr lang="en-US" sz="32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r>
              <a:rPr lang="en-US" sz="3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v</a:t>
            </a:r>
            <a:r>
              <a:rPr lang="en-US" sz="32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r>
              <a:rPr lang="en-US" sz="3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approach each other, and so do h</a:t>
            </a:r>
            <a:r>
              <a:rPr lang="en-US" sz="32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r>
              <a:rPr lang="en-US" sz="3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h</a:t>
            </a:r>
            <a:r>
              <a:rPr lang="en-US" sz="32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32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</a:t>
            </a:r>
            <a:r>
              <a:rPr lang="en-US" sz="32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point</a:t>
            </a:r>
            <a:r>
              <a:rPr lang="en-US" sz="3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saturated liquid and saturated vapour states coincide</a:t>
            </a:r>
            <a:endParaRPr lang="en-US" sz="3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3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critical point of water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94415" cy="2011680"/>
          </a:xfrm>
          <a:prstGeom prst="roundRect">
            <a:avLst>
              <a:gd name="adj" fmla="val 6818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" y="1554480"/>
            <a:ext cx="1045433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r>
              <a:rPr lang="en-US" sz="3000" b="1" baseline="-4000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r>
              <a:rPr lang="en-US" sz="30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22.064 MPa,   T</a:t>
            </a:r>
            <a:r>
              <a:rPr lang="en-US" sz="3000" b="1" baseline="-4000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r>
              <a:rPr lang="en-US" sz="30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373.95 °C (647.1 K),   v</a:t>
            </a:r>
            <a:r>
              <a:rPr lang="en-US" sz="3000" b="1" baseline="-4000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r>
              <a:rPr lang="en-US" sz="30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≈ 0.0031 m³/kg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840480"/>
            <a:ext cx="11094415" cy="2331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Latent heat is zero: h</a:t>
            </a:r>
            <a:r>
              <a:rPr lang="en-US" sz="30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</a:t>
            </a: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v</a:t>
            </a:r>
            <a:r>
              <a:rPr lang="en-US" sz="30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</a:t>
            </a: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s</a:t>
            </a:r>
            <a:r>
              <a:rPr lang="en-US" sz="30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</a:t>
            </a: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0</a:t>
            </a:r>
            <a:endParaRPr lang="en-US" sz="3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distinction between liquid and vapour – no meniscus is visible</a:t>
            </a:r>
            <a:endParaRPr lang="en-US" sz="3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3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Supercritical states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11094415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Above the critical pressure a substance passes from a liquid-like to a gas-like state with </a:t>
            </a:r>
            <a:r>
              <a:rPr lang="en-US" sz="32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phase change and no boiling</a:t>
            </a:r>
            <a:endParaRPr lang="en-US" sz="32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2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Supercritical boilers</a:t>
            </a:r>
            <a:r>
              <a:rPr lang="en-US" sz="3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work in this region – no drum, no separation of water and steam</a:t>
            </a:r>
            <a:endParaRPr lang="en-US" sz="32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highest-efficiency steam plants operate at supercritical pressures</a:t>
            </a:r>
            <a:endParaRPr lang="en-US" sz="3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3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2011680"/>
            <a:ext cx="2011680" cy="201168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01168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200" dirty="0"/>
          </a:p>
        </p:txBody>
      </p:sp>
      <p:sp>
        <p:nvSpPr>
          <p:cNvPr id="7" name="Text 4"/>
          <p:cNvSpPr txBox="1"/>
          <p:nvPr/>
        </p:nvSpPr>
        <p:spPr>
          <a:xfrm>
            <a:off x="3017520" y="1828800"/>
            <a:ext cx="8625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triple point</a:t>
            </a:r>
            <a:endParaRPr lang="en-US" sz="4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3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triple point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11094415" cy="3383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state at which </a:t>
            </a:r>
            <a:r>
              <a:rPr lang="en-US" sz="28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solid, liquid and vapour coexist</a:t>
            </a: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equilibrium</a:t>
            </a:r>
            <a:endParaRPr lang="en-US" sz="28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</a:t>
            </a:r>
            <a:r>
              <a:rPr lang="en-US" sz="28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</a:t>
            </a: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 the p–T diagram; a </a:t>
            </a:r>
            <a:r>
              <a:rPr lang="en-US" sz="28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</a:t>
            </a: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(the triple line) on the p–v and p–v–T diagrams</a:t>
            </a:r>
            <a:endParaRPr lang="en-US" sz="28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Water: T</a:t>
            </a:r>
            <a:r>
              <a:rPr lang="en-US" sz="28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</a:t>
            </a: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0.01 °C (273.16 K exactly), p</a:t>
            </a:r>
            <a:r>
              <a:rPr lang="en-US" sz="28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</a:t>
            </a: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0.6117 kPa</a:t>
            </a:r>
            <a:endParaRPr lang="en-US" sz="28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fixed point that defines the Kelvin scale (Unit I)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548640" y="507492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DF1E8"/>
          </a:solidFill>
          <a:ln w="12700">
            <a:solidFill>
              <a:srgbClr val="FDF1E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5074920"/>
            <a:ext cx="107286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  </a:t>
            </a:r>
            <a:r>
              <a:rPr lang="en-US" sz="2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 the triple-point pressure a solid sublimes directly to vapour.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3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5364328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Degree of superheat = T – T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zero for dry saturated steam</a:t>
            </a:r>
            <a:endParaRPr lang="en-US" sz="26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Degree of subcooling = T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T; zero for saturated liquid</a:t>
            </a:r>
            <a:endParaRPr lang="en-US" sz="26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Evaporation: surface, any temperature, slow; boiling: bulk, at T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with bubbles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278728" y="1554480"/>
            <a:ext cx="5364328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point of water: 22.064 MPa, 373.95 °C; h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0; liquid and vapour indistinguishable</a:t>
            </a:r>
            <a:endParaRPr lang="en-US" sz="26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Supercritical: no phase change, no boiling</a:t>
            </a:r>
            <a:endParaRPr lang="en-US" sz="26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Triple point of water: 0.01 °C, 0.6117 kPa – solid, liquid and vapour together</a:t>
            </a:r>
            <a:endParaRPr lang="en-US" sz="2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801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The p–v–T surface and the p–T diagram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51760"/>
            <a:ext cx="11094415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000" dirty="0">
                <a:solidFill>
                  <a:srgbClr val="D6E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Single-phase and two-phase regions of the p–v–T surface</a:t>
            </a:r>
            <a:endParaRPr lang="en-US" sz="3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000" dirty="0">
                <a:solidFill>
                  <a:srgbClr val="D6E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Substances that contract or expand on freezing</a:t>
            </a:r>
            <a:endParaRPr lang="en-US" sz="3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000" dirty="0">
                <a:solidFill>
                  <a:srgbClr val="D6E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phase diagram: vaporisation, fusion and sublimation curves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3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9C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Rajalakshmi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Superheat, Subcooling, Evaporation and Boiling, the Critical and Triple Points</dc:title>
  <dc:subject>PptxGenJS Presentation</dc:subject>
  <dc:creator>Dr. Anantha Raman L.</dc:creator>
  <cp:lastModifiedBy>Dr. Anantha Raman L.</cp:lastModifiedBy>
  <cp:revision>1</cp:revision>
  <dcterms:created xsi:type="dcterms:W3CDTF">2026-09-07T05:51:18Z</dcterms:created>
  <dcterms:modified xsi:type="dcterms:W3CDTF">2026-09-07T05:51:18Z</dcterms:modified>
</cp:coreProperties>
</file>