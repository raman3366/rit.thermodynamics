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743200" cy="982634"/>
          </a:xfrm>
          <a:prstGeom prst="roundRect">
            <a:avLst>
              <a:gd name="adj" fmla="val 11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tmp/claude-0/-home-claude/a34dce71-a27e-57cc-8705-14efc3510b3f/scratchpad/slide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2468880" cy="6374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28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 ENGINEERING THERMODYNAMICS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III – Properties of Pure Substance  ·  Presentation 1 of 10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Substances and their Phases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3891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Unit III covers · definition of a pure substance · phases and phase changes · why steam is the working fluid · tables and charts instead of pv = RT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064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B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Anantha Raman L., M.E., Ph.D.  ·  Associate Professor, Department of Mechanical Engineering, Rajalakshmi Institute of Technology, Chennai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presentation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Unit III covers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pure substance is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and non-examples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phases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changes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steam?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and charts instead of pv = RT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Unit III covers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of steam and its properties; p–v, p–T, T–v, T–s and h–s diagrams; the p–v–T surface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Determination of the dryness fraction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and heat transfer in non-flow and flow processes using the steam tables and the Mollier chart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of the first and second laws to pure substances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50749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074920"/>
            <a:ext cx="10728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 </a:t>
            </a:r>
            <a:r>
              <a:rPr lang="en-US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outcome CO3: analyse the properties of a pure substance with diagrams and charts to calculate work, heat transfer and dryness fraction.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substance</a:t>
            </a:r>
            <a:endParaRPr lang="en-US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2011680"/>
          </a:xfrm>
          <a:prstGeom prst="roundRect">
            <a:avLst>
              <a:gd name="adj" fmla="val 6818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554480"/>
            <a:ext cx="104543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pure substance has a homogeneous and invariable chemical composition throughout its mass – even though it may exist in more than one phase.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840480"/>
            <a:ext cx="11094415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Ice, liquid water and steam are all H</a:t>
            </a:r>
            <a:r>
              <a:rPr lang="en-US" sz="3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– water and steam together in a boiler drum are still a pure substance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and non-examples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substances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77440"/>
            <a:ext cx="4907128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– ice, liquid, steam, and their mixtures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Nitrogen, oxygen, carbon dioxide, ammonia, refrigerants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– as long as its composition does not change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07328" y="1691640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pure substances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507328" y="2377440"/>
            <a:ext cx="4907128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cooled until some of it liquefies – the liquid is richer in oxygen than the vapour, so the phases differ in composition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mixture of oil and water – not chemically homogeneous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and phase changes</a:t>
            </a:r>
            <a:endParaRPr lang="en-US" sz="4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phases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86000"/>
            <a:ext cx="305805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Molecules held in a fixed lattice by strong intermolecular forces; definite shape and volume.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338218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66818" y="169164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566818" y="2286000"/>
            <a:ext cx="305805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Molecules move freely but stay close together; definite volume, no definite shape.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8127797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169164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(vapour)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356397" y="2286000"/>
            <a:ext cx="305805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Molecules far apart, moving at random, filling any container. A vapour is a gas near its condensation conditions – steam is water vapour.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changes</a:t>
            </a:r>
            <a:endParaRPr lang="en-US" sz="3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958511"/>
                <a:gridCol w="2958511"/>
                <a:gridCol w="5177394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→ to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Melting (fusion)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Solid → liquid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the melting point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Freezing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Liquid → solid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Vaporisation (boiling)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Liquid → vapour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the saturation temperature for the pressure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Condensation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Vapour → liquid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Sublimation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Solid → vapour directly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Below the triple-point pressure: dry ice at 1 atm; ice in a vacuum or on a very cold dry day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steam?</a:t>
            </a:r>
            <a:endParaRPr lang="en-US" sz="4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as the working fluid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Cheap, plentiful, chemically stable and non-toxic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latent heat – carries a lot of energy per kilogram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fluid of almost all thermal power stations, of process heating in industry, and of many heating and refrigeration systems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and charts instead of pv = RT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near its saturation conditions does </a:t>
            </a: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obey the ideal-gas equation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properties have been measured and are tabulated in the </a:t>
            </a: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tables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(IAPWS-97 values in these notes)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plotted on charts – the </a:t>
            </a: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Mollier (h–s) chart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most used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unit: how steam forms, how its properties are represented, and how tables and charts give work and heat transfer in closed and open systems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364328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substance: homogeneous, invariable chemical composition, in any number of phases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in all its phases, N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refrigerants – and air while its composition stays fixed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Phases: solid, liquid, gas; a vapour is a gas near condensation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278728" y="1554480"/>
            <a:ext cx="5364328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changes: melting, freezing, vaporisation, condensation, sublimation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Steam: cheap, stable, large latent heat – the universal working fluid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is not an ideal gas – use steam tables and the Mollier chart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Formation of steam at constant pressure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1094415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 liquid → saturated liquid → wet steam → dry saturated → superheated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Saturation temperature and pressure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T–Q diagram: sensible heat, latent heat and superheat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Rajalakshmi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Pure Substances and their Phases</dc:title>
  <dc:subject>PptxGenJS Presentation</dc:subject>
  <dc:creator>Dr. Anantha Raman L.</dc:creator>
  <cp:lastModifiedBy>Dr. Anantha Raman L.</cp:lastModifiedBy>
  <cp:revision>1</cp:revision>
  <dcterms:created xsi:type="dcterms:W3CDTF">2026-09-07T05:51:14Z</dcterms:created>
  <dcterms:modified xsi:type="dcterms:W3CDTF">2026-09-07T05:51:14Z</dcterms:modified>
</cp:coreProperties>
</file>