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743200" cy="982634"/>
          </a:xfrm>
          <a:prstGeom prst="roundRect">
            <a:avLst>
              <a:gd name="adj" fmla="val 111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tmp/claude-0/-home-claude/a34dce71-a27e-57cc-8705-14efc3510b3f/scratchpad/slides/im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0080"/>
            <a:ext cx="2468880" cy="63748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828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 ENGINEERING THERMODYNAMICS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III – Properties of Pure Substance  ·  Presentation 4 of 10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p–v–T Surface and the p–T Phase Diagram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3891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Single-phase and two-phase regions · ruled surfaces · triple line and critical point · substances that contract or expand on freezing · the phase diagram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8064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B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Anantha Raman L., M.E., Ph.D.  ·  Associate Professor, Department of Mechanical Engineering, Rajalakshmi Institute of Technology, Chennai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4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presentation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94415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surface?</a:t>
            </a:r>
            <a:endParaRPr lang="en-US" sz="32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p–v–T surface of a substance that contracts on freezing</a:t>
            </a:r>
            <a:endParaRPr lang="en-US" sz="32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Regions of the surface</a:t>
            </a:r>
            <a:endParaRPr lang="en-US" sz="32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– a substance that expands on freezing</a:t>
            </a:r>
            <a:endParaRPr lang="en-US" sz="32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p–T (phase) diagram</a:t>
            </a:r>
            <a:endParaRPr lang="en-US" sz="32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curves and the triple point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4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2011680"/>
            <a:ext cx="2011680" cy="201168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01168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0" dirty="0"/>
          </a:p>
        </p:txBody>
      </p:sp>
      <p:sp>
        <p:nvSpPr>
          <p:cNvPr id="7" name="Text 4"/>
          <p:cNvSpPr txBox="1"/>
          <p:nvPr/>
        </p:nvSpPr>
        <p:spPr>
          <a:xfrm>
            <a:off x="3017520" y="1828800"/>
            <a:ext cx="8625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p–v–T surface</a:t>
            </a:r>
            <a:endParaRPr lang="en-US" sz="4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4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surface?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94415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equilibrium state of a pure substance is a point on a surface in p–v–T space – any two of the three properties fix the third</a:t>
            </a:r>
            <a:endParaRPr lang="en-US" sz="32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Two-dimensional projections are more convenient: p–T, p–v, T–v (and, with entropy, T–s and h–s)</a:t>
            </a:r>
            <a:endParaRPr lang="en-US" sz="32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surface shows how all these diagrams fit together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4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p–v–T surface: contraction on freezing</a:t>
            </a:r>
            <a:endParaRPr lang="en-US" sz="3800" dirty="0"/>
          </a:p>
        </p:txBody>
      </p:sp>
      <p:pic>
        <p:nvPicPr>
          <p:cNvPr id="6" name="Image 1" descr="/tmp/claude-0/-home-claude/a34dce71-a27e-57cc-8705-14efc3510b3f/scratchpad/slides/s3_pvT_contra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190" y="1554480"/>
            <a:ext cx="4587315" cy="39776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55778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single-phase regions, three two-phase ruled surfaces, the triple line and the critical point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4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Regions of the surface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691640"/>
            <a:ext cx="4907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Single-phase regions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77440"/>
            <a:ext cx="4907128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Solid, liquid, vapour</a:t>
            </a:r>
            <a:endParaRPr lang="en-US" sz="2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p, v and T can all vary independently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6278728" y="15544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FDF1E8"/>
          </a:solidFill>
          <a:ln w="12700">
            <a:solidFill>
              <a:srgbClr val="FDF1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07328" y="1691640"/>
            <a:ext cx="4907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Two-phase regions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6507328" y="2377440"/>
            <a:ext cx="4907128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Solid–liquid, liquid–vapour, solid–vapour</a:t>
            </a:r>
            <a:endParaRPr lang="en-US" sz="22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and T are related – fixing one fixes the other; only v changes as the proportion of the phases changes</a:t>
            </a:r>
            <a:endParaRPr lang="en-US" sz="22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Ruled surfaces</a:t>
            </a:r>
            <a:r>
              <a:rPr lang="en-US" sz="2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straight lines of constant p and T – seen edge-on (as lines) along the v-axis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4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line and critical point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94415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two-phase regions meet along the </a:t>
            </a:r>
            <a:r>
              <a:rPr lang="en-US" sz="3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line</a:t>
            </a:r>
            <a:endParaRPr lang="en-US" sz="32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liquid–vapour region narrows with increasing pressure and ends at the </a:t>
            </a:r>
            <a:r>
              <a:rPr lang="en-US" sz="3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point</a:t>
            </a:r>
            <a:endParaRPr lang="en-US" sz="32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the critical point the liquid and vapour regions merge</a:t>
            </a:r>
            <a:endParaRPr lang="en-US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4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2011680"/>
            <a:ext cx="2011680" cy="201168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01168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0" dirty="0"/>
          </a:p>
        </p:txBody>
      </p:sp>
      <p:sp>
        <p:nvSpPr>
          <p:cNvPr id="7" name="Text 4"/>
          <p:cNvSpPr txBox="1"/>
          <p:nvPr/>
        </p:nvSpPr>
        <p:spPr>
          <a:xfrm>
            <a:off x="3017520" y="1828800"/>
            <a:ext cx="8625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– expansion on freezing</a:t>
            </a:r>
            <a:endParaRPr lang="en-US" sz="4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4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p–v–T surface of water: expansion on freezing</a:t>
            </a:r>
            <a:endParaRPr lang="en-US" sz="3200" dirty="0"/>
          </a:p>
        </p:txBody>
      </p:sp>
      <p:pic>
        <p:nvPicPr>
          <p:cNvPr id="6" name="Image 1" descr="/tmp/claude-0/-home-claude/a34dce71-a27e-57cc-8705-14efc3510b3f/scratchpad/slides/s3_pvT_wa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190" y="1554480"/>
            <a:ext cx="4587315" cy="39776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55778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solid has the larger volume, so the solid–liquid region leans the other way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4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Contraction versus expansion on freezing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691640"/>
            <a:ext cx="4907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substances contract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77440"/>
            <a:ext cx="4907128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denser than the liquid</a:t>
            </a:r>
            <a:endParaRPr lang="en-US" sz="2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Solid–liquid surface at smaller volumes than the liquid</a:t>
            </a:r>
            <a:endParaRPr lang="en-US" sz="2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 curve on the p–T plane slopes to the </a:t>
            </a:r>
            <a:r>
              <a:rPr lang="en-US" sz="2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melting point rises with pressure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6278728" y="15544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FDF1E8"/>
          </a:solidFill>
          <a:ln w="12700">
            <a:solidFill>
              <a:srgbClr val="FDF1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07328" y="1691640"/>
            <a:ext cx="4907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expands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6507328" y="2377440"/>
            <a:ext cx="4907128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 floats – the solid has the larger volume</a:t>
            </a:r>
            <a:endParaRPr lang="en-US" sz="24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Solid–liquid region leans the other way</a:t>
            </a:r>
            <a:endParaRPr lang="en-US" sz="24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 curve has a </a:t>
            </a:r>
            <a:r>
              <a:rPr lang="en-US" sz="2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slope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the melting point of ice falls as pressure rises: ice under a skate blade melts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4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2011680"/>
            <a:ext cx="2011680" cy="201168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01168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200" dirty="0"/>
          </a:p>
        </p:txBody>
      </p:sp>
      <p:sp>
        <p:nvSpPr>
          <p:cNvPr id="7" name="Text 4"/>
          <p:cNvSpPr txBox="1"/>
          <p:nvPr/>
        </p:nvSpPr>
        <p:spPr>
          <a:xfrm>
            <a:off x="3017520" y="1828800"/>
            <a:ext cx="8625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p–T phase diagram</a:t>
            </a:r>
            <a:endParaRPr lang="en-US" sz="4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4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p–T (phase) diagram of water</a:t>
            </a:r>
            <a:endParaRPr lang="en-US" sz="3800" dirty="0"/>
          </a:p>
        </p:txBody>
      </p:sp>
      <p:pic>
        <p:nvPicPr>
          <p:cNvPr id="6" name="Image 1" descr="/tmp/claude-0/-home-claude/a34dce71-a27e-57cc-8705-14efc3510b3f/scratchpad/slides/s3_p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059" y="1554480"/>
            <a:ext cx="7245577" cy="39776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55778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two-phase region of the surface collapses into a single curve; the three curves meet at the triple point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4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curves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69164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Vaporisation curve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286000"/>
            <a:ext cx="305805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Vapour-pressure curve separating liquid from vapour; ends at the critical point.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338218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66818" y="169164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 curve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4566818" y="2286000"/>
            <a:ext cx="305805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Separates solid from liquid; negative slope for water (exaggerated in the figure).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8127797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56397" y="169164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Sublimation curve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8356397" y="2286000"/>
            <a:ext cx="305805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Separates solid from vapour below the triple point.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4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phase diagram is useful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94415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at a glance </a:t>
            </a:r>
            <a:r>
              <a:rPr lang="en-US" sz="3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phase exists</a:t>
            </a: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 any p and T</a:t>
            </a:r>
            <a:endParaRPr lang="en-US" sz="32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curves meet at the </a:t>
            </a:r>
            <a:r>
              <a:rPr lang="en-US" sz="3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point</a:t>
            </a:r>
            <a:endParaRPr lang="en-US" sz="32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diagram on which the Clausius–Clapeyron equation (Unit IV) is written</a:t>
            </a:r>
            <a:endParaRPr lang="en-US" sz="3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4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5364328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p–v–T surface: any two properties fix the third; diagrams are its projections</a:t>
            </a:r>
            <a:endParaRPr lang="en-US" sz="24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Single-phase regions: solid, liquid, vapour; two-phase regions: ruled surfaces with p and T linked</a:t>
            </a:r>
            <a:endParaRPr lang="en-US" sz="24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line where the three two-phase regions meet; critical point ends the liquid–vapour region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278728" y="1554480"/>
            <a:ext cx="5364328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expands on freezing – its fusion curve has a negative slope</a:t>
            </a:r>
            <a:endParaRPr lang="en-US" sz="2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p–T diagram: vaporisation, fusion and sublimation curves meeting at the triple point</a:t>
            </a:r>
            <a:endParaRPr lang="en-US" sz="2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Tells which phase exists at any p and T</a:t>
            </a:r>
            <a:endParaRPr lang="en-US" sz="2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The p–v, T–s and h–s diagrams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1094415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saturation dome and isotherms on the p–v plane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T–s diagram – heat as an area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Mollier (h–s) chart and how to read it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4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9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Rajalakshmi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p–v–T Surface and the p–T Phase Diagram</dc:title>
  <dc:subject>PptxGenJS Presentation</dc:subject>
  <dc:creator>Dr. Anantha Raman L.</dc:creator>
  <cp:lastModifiedBy>Dr. Anantha Raman L.</cp:lastModifiedBy>
  <cp:revision>1</cp:revision>
  <dcterms:created xsi:type="dcterms:W3CDTF">2026-09-07T05:54:55Z</dcterms:created>
  <dcterms:modified xsi:type="dcterms:W3CDTF">2026-09-07T05:54:55Z</dcterms:modified>
</cp:coreProperties>
</file>