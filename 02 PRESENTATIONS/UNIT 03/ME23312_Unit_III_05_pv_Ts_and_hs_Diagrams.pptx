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2743200" cy="982634"/>
          </a:xfrm>
          <a:prstGeom prst="roundRect">
            <a:avLst>
              <a:gd name="adj" fmla="val 1116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3" name="Image 0" descr="/tmp/claude-0/-home-claude/a34dce71-a27e-57cc-8705-14efc3510b3f/scratchpad/slides/img-00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640080"/>
            <a:ext cx="2468880" cy="63748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182880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B4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ME23312  ENGINEERING THERMODYNAMICS</a:t>
            </a:r>
            <a:endParaRPr lang="en-US" sz="2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228600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D6E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Unit III – Properties of Pure Substance  ·  Presentation 5 of 10</a:t>
            </a:r>
            <a:endParaRPr lang="en-US" sz="2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2880360"/>
            <a:ext cx="11094415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p–v, T–v, T–s and h–s (Mollier) Diagrams</a:t>
            </a:r>
            <a:endParaRPr lang="en-US" sz="44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4389120"/>
            <a:ext cx="110944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D6E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saturation dome and isotherms · the T–v diagram · the T–s diagram as the working diagram for second-law analysis · the Mollier chart and its lines · reading the diagrams</a:t>
            </a:r>
            <a:endParaRPr lang="en-US" sz="22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580644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B4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Dr. Anantha Raman L., M.E., Ph.D.  ·  Associate Professor, Department of Mechanical Engineering, Rajalakshmi Institute of Technology, Chennai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claude/a34dce71-a27e-57cc-8705-14efc3510b3f/scratchpad/slides/logo_s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82935" y="201168"/>
            <a:ext cx="960120" cy="24791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6419088"/>
            <a:ext cx="99971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ME23312 Engineering Thermodynamics  ·  Unit III · Presentation 5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365760"/>
            <a:ext cx="990569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80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this presentation</a:t>
            </a:r>
            <a:endParaRPr lang="en-US" sz="38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554480"/>
            <a:ext cx="11094415" cy="46177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342900" indent="-342900">
              <a:lnSpc>
                <a:spcPct val="105000"/>
              </a:lnSpc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en-US" sz="30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p–v diagram</a:t>
            </a:r>
            <a:endParaRPr lang="en-US" sz="3000" dirty="0"/>
          </a:p>
          <a:p>
            <a:pPr marL="342900" indent="-342900">
              <a:lnSpc>
                <a:spcPct val="105000"/>
              </a:lnSpc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en-US" sz="30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Isotherms on the p–v plane</a:t>
            </a:r>
            <a:endParaRPr lang="en-US" sz="3000" dirty="0"/>
          </a:p>
          <a:p>
            <a:pPr marL="342900" indent="-342900">
              <a:lnSpc>
                <a:spcPct val="105000"/>
              </a:lnSpc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en-US" sz="30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T–v diagram</a:t>
            </a:r>
            <a:endParaRPr lang="en-US" sz="3000" dirty="0"/>
          </a:p>
          <a:p>
            <a:pPr marL="342900" indent="-342900">
              <a:lnSpc>
                <a:spcPct val="105000"/>
              </a:lnSpc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en-US" sz="30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T–s diagram</a:t>
            </a:r>
            <a:endParaRPr lang="en-US" sz="3000" dirty="0"/>
          </a:p>
          <a:p>
            <a:pPr marL="342900" indent="-342900">
              <a:lnSpc>
                <a:spcPct val="105000"/>
              </a:lnSpc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en-US" sz="30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h–s (Mollier) chart</a:t>
            </a:r>
            <a:endParaRPr lang="en-US" sz="3000" dirty="0"/>
          </a:p>
          <a:p>
            <a:pPr marL="342900" indent="-342900">
              <a:lnSpc>
                <a:spcPct val="105000"/>
              </a:lnSpc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en-US" sz="30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Lines drawn on the Mollier chart</a:t>
            </a:r>
            <a:endParaRPr lang="en-US" sz="3000" dirty="0"/>
          </a:p>
          <a:p>
            <a:pPr marL="342900" indent="-342900">
              <a:lnSpc>
                <a:spcPct val="105000"/>
              </a:lnSpc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en-US" sz="30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Reading the diagrams</a:t>
            </a:r>
            <a:endParaRPr lang="en-US" sz="3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AF2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claude/a34dce71-a27e-57cc-8705-14efc3510b3f/scratchpad/slides/logo_s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82935" y="201168"/>
            <a:ext cx="960120" cy="24791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6419088"/>
            <a:ext cx="99971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ME23312 Engineering Thermodynamics  ·  Unit III · Presentation 5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548640" y="2011680"/>
            <a:ext cx="2011680" cy="2011680"/>
          </a:xfrm>
          <a:prstGeom prst="ellipse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48640" y="2011680"/>
            <a:ext cx="20116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7200" dirty="0"/>
          </a:p>
        </p:txBody>
      </p:sp>
      <p:sp>
        <p:nvSpPr>
          <p:cNvPr id="7" name="Text 4"/>
          <p:cNvSpPr txBox="1"/>
          <p:nvPr/>
        </p:nvSpPr>
        <p:spPr>
          <a:xfrm>
            <a:off x="3017520" y="1828800"/>
            <a:ext cx="8625535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40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p–v and T–v diagrams</a:t>
            </a:r>
            <a:endParaRPr lang="en-US" sz="4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claude/a34dce71-a27e-57cc-8705-14efc3510b3f/scratchpad/slides/logo_s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82935" y="201168"/>
            <a:ext cx="960120" cy="24791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6419088"/>
            <a:ext cx="99971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ME23312 Engineering Thermodynamics  ·  Unit III · Presentation 5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365760"/>
            <a:ext cx="990569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80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p–v diagram of water with isotherms</a:t>
            </a:r>
            <a:endParaRPr lang="en-US" sz="3800" dirty="0"/>
          </a:p>
        </p:txBody>
      </p:sp>
      <p:pic>
        <p:nvPicPr>
          <p:cNvPr id="6" name="Image 1" descr="/tmp/claude-0/-home-claude/a34dce71-a27e-57cc-8705-14efc3510b3f/scratchpad/slides/s3_pv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20980" y="1554480"/>
            <a:ext cx="7149735" cy="397764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548640" y="557784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liquid–vapour region is a dome bounded by the saturated liquid and saturated vapour lines, meeting at the critical point</a:t>
            </a:r>
            <a:endParaRPr lang="en-US" sz="2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claude/a34dce71-a27e-57cc-8705-14efc3510b3f/scratchpad/slides/logo_s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82935" y="201168"/>
            <a:ext cx="960120" cy="24791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6419088"/>
            <a:ext cx="99971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ME23312 Engineering Thermodynamics  ·  Unit III · Presentation 5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365760"/>
            <a:ext cx="990569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80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Isotherms on the p–v plane</a:t>
            </a:r>
            <a:endParaRPr lang="en-US" sz="38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554480"/>
            <a:ext cx="11094415" cy="33832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342900" indent="-342900">
              <a:lnSpc>
                <a:spcPct val="105000"/>
              </a:lnSpc>
              <a:spcAft>
                <a:spcPts val="1200"/>
              </a:spcAft>
              <a:buSzPct val="100000"/>
              <a:buChar char="▪"/>
            </a:pPr>
            <a:r>
              <a:rPr lang="en-US" sz="24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Cross the dome </a:t>
            </a:r>
            <a:r>
              <a:rPr lang="en-US" sz="2400" b="1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horizontally</a:t>
            </a:r>
            <a:r>
              <a:rPr lang="en-US" sz="24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– constant pressure during vaporisation</a:t>
            </a:r>
            <a:endParaRPr lang="en-US" sz="2400" dirty="0"/>
          </a:p>
          <a:p>
            <a:pPr marL="342900" indent="-342900">
              <a:lnSpc>
                <a:spcPct val="105000"/>
              </a:lnSpc>
              <a:spcAft>
                <a:spcPts val="1200"/>
              </a:spcAft>
              <a:buSzPct val="100000"/>
              <a:buChar char="▪"/>
            </a:pPr>
            <a:r>
              <a:rPr lang="en-US" sz="24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Fall </a:t>
            </a:r>
            <a:r>
              <a:rPr lang="en-US" sz="2400" b="1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steeply</a:t>
            </a:r>
            <a:r>
              <a:rPr lang="en-US" sz="24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 the liquid region – a liquid is almost incompressible</a:t>
            </a:r>
            <a:endParaRPr lang="en-US" sz="2400" dirty="0"/>
          </a:p>
          <a:p>
            <a:pPr marL="342900" indent="-342900">
              <a:lnSpc>
                <a:spcPct val="105000"/>
              </a:lnSpc>
              <a:spcAft>
                <a:spcPts val="1200"/>
              </a:spcAft>
              <a:buSzPct val="100000"/>
              <a:buChar char="▪"/>
            </a:pPr>
            <a:r>
              <a:rPr lang="en-US" sz="24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Follow a hyperbola-like curve in the vapour region, approaching pv = RT at low pressures</a:t>
            </a:r>
            <a:endParaRPr lang="en-US" sz="2400" dirty="0"/>
          </a:p>
          <a:p>
            <a:pPr marL="342900" indent="-342900">
              <a:lnSpc>
                <a:spcPct val="105000"/>
              </a:lnSpc>
              <a:spcAft>
                <a:spcPts val="1200"/>
              </a:spcAft>
              <a:buSzPct val="100000"/>
              <a:buChar char="▪"/>
            </a:pPr>
            <a:r>
              <a:rPr lang="en-US" sz="24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</a:t>
            </a:r>
            <a:r>
              <a:rPr lang="en-US" sz="2400" b="1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critical isotherm</a:t>
            </a:r>
            <a:r>
              <a:rPr lang="en-US" sz="24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has a horizontal point of inflexion at the critical point</a:t>
            </a:r>
            <a:endParaRPr lang="en-US" sz="2400" dirty="0"/>
          </a:p>
        </p:txBody>
      </p:sp>
      <p:sp>
        <p:nvSpPr>
          <p:cNvPr id="7" name="Shape 4"/>
          <p:cNvSpPr/>
          <p:nvPr/>
        </p:nvSpPr>
        <p:spPr>
          <a:xfrm>
            <a:off x="548640" y="5074920"/>
            <a:ext cx="11094415" cy="1051560"/>
          </a:xfrm>
          <a:prstGeom prst="roundRect">
            <a:avLst>
              <a:gd name="adj" fmla="val 8696"/>
            </a:avLst>
          </a:prstGeom>
          <a:solidFill>
            <a:srgbClr val="FDF1E8"/>
          </a:solidFill>
          <a:ln w="12700">
            <a:solidFill>
              <a:srgbClr val="FDF1E8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31520" y="5074920"/>
            <a:ext cx="1072865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E87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POINT  </a:t>
            </a:r>
            <a:r>
              <a:rPr lang="en-US" sz="22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triple line is the horizontal base of the dome.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claude/a34dce71-a27e-57cc-8705-14efc3510b3f/scratchpad/slides/logo_s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82935" y="201168"/>
            <a:ext cx="960120" cy="24791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6419088"/>
            <a:ext cx="99971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ME23312 Engineering Thermodynamics  ·  Unit III · Presentation 5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365760"/>
            <a:ext cx="990569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80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T–v diagram</a:t>
            </a:r>
            <a:endParaRPr lang="en-US" sz="38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554480"/>
            <a:ext cx="11094415" cy="46177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342900" indent="-342900">
              <a:lnSpc>
                <a:spcPct val="105000"/>
              </a:lnSpc>
              <a:spcAft>
                <a:spcPts val="1200"/>
              </a:spcAft>
              <a:buSzPct val="100000"/>
              <a:buChar char="▪"/>
            </a:pPr>
            <a:r>
              <a:rPr lang="en-US" sz="32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same picture with </a:t>
            </a:r>
            <a:r>
              <a:rPr lang="en-US" sz="3200" b="1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constant-pressure lines</a:t>
            </a:r>
            <a:r>
              <a:rPr lang="en-US" sz="32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instead of isotherms (Presentation 2)</a:t>
            </a:r>
            <a:endParaRPr lang="en-US" sz="3200" dirty="0"/>
          </a:p>
          <a:p>
            <a:pPr marL="342900" indent="-342900">
              <a:lnSpc>
                <a:spcPct val="105000"/>
              </a:lnSpc>
              <a:spcAft>
                <a:spcPts val="1200"/>
              </a:spcAft>
              <a:buSzPct val="100000"/>
              <a:buChar char="▪"/>
            </a:pPr>
            <a:r>
              <a:rPr lang="en-US" sz="32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Isobars run horizontally through the dome and rise steeply in the liquid and vapour regions</a:t>
            </a:r>
            <a:endParaRPr lang="en-US" sz="3200" dirty="0"/>
          </a:p>
          <a:p>
            <a:pPr marL="342900" indent="-342900">
              <a:lnSpc>
                <a:spcPct val="105000"/>
              </a:lnSpc>
              <a:spcAft>
                <a:spcPts val="1200"/>
              </a:spcAft>
              <a:buSzPct val="100000"/>
              <a:buChar char="▪"/>
            </a:pPr>
            <a:r>
              <a:rPr lang="en-US" sz="32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horizontal segment shortens as the pressure rises and vanishes at the critical point</a:t>
            </a:r>
            <a:endParaRPr lang="en-US" sz="3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AF2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claude/a34dce71-a27e-57cc-8705-14efc3510b3f/scratchpad/slides/logo_s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82935" y="201168"/>
            <a:ext cx="960120" cy="24791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6419088"/>
            <a:ext cx="99971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ME23312 Engineering Thermodynamics  ·  Unit III · Presentation 5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548640" y="2011680"/>
            <a:ext cx="2011680" cy="2011680"/>
          </a:xfrm>
          <a:prstGeom prst="ellipse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48640" y="2011680"/>
            <a:ext cx="20116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7200" dirty="0"/>
          </a:p>
        </p:txBody>
      </p:sp>
      <p:sp>
        <p:nvSpPr>
          <p:cNvPr id="7" name="Text 4"/>
          <p:cNvSpPr txBox="1"/>
          <p:nvPr/>
        </p:nvSpPr>
        <p:spPr>
          <a:xfrm>
            <a:off x="3017520" y="1828800"/>
            <a:ext cx="8625535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40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T–s diagram</a:t>
            </a:r>
            <a:endParaRPr lang="en-US" sz="4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claude/a34dce71-a27e-57cc-8705-14efc3510b3f/scratchpad/slides/logo_s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82935" y="201168"/>
            <a:ext cx="960120" cy="24791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6419088"/>
            <a:ext cx="99971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ME23312 Engineering Thermodynamics  ·  Unit III · Presentation 5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365760"/>
            <a:ext cx="990569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80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T–s diagram of water</a:t>
            </a:r>
            <a:endParaRPr lang="en-US" sz="3800" dirty="0"/>
          </a:p>
        </p:txBody>
      </p:sp>
      <p:pic>
        <p:nvPicPr>
          <p:cNvPr id="6" name="Image 1" descr="/tmp/claude-0/-home-claude/a34dce71-a27e-57cc-8705-14efc3510b3f/scratchpad/slides/s3_t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04114" y="1554480"/>
            <a:ext cx="7383468" cy="397764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548640" y="557784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Saturation dome, isobars at 0.1, 1 and 10 MPa, and lines of constant dryness fraction</a:t>
            </a:r>
            <a:endParaRPr lang="en-US" sz="2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claude/a34dce71-a27e-57cc-8705-14efc3510b3f/scratchpad/slides/logo_s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82935" y="201168"/>
            <a:ext cx="960120" cy="24791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6419088"/>
            <a:ext cx="99971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ME23312 Engineering Thermodynamics  ·  Unit III · Presentation 5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365760"/>
            <a:ext cx="990569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80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Features of the T–s diagram</a:t>
            </a:r>
            <a:endParaRPr lang="en-US" sz="38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554480"/>
            <a:ext cx="11094415" cy="33832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342900" indent="-342900">
              <a:lnSpc>
                <a:spcPct val="105000"/>
              </a:lnSpc>
              <a:spcAft>
                <a:spcPts val="1200"/>
              </a:spcAft>
              <a:buSzPct val="100000"/>
              <a:buChar char="▪"/>
            </a:pPr>
            <a:r>
              <a:rPr lang="en-US" sz="24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</a:t>
            </a:r>
            <a:r>
              <a:rPr lang="en-US" sz="2400" b="1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working diagram</a:t>
            </a:r>
            <a:r>
              <a:rPr lang="en-US" sz="24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for second-law analysis: area under a reversible process = heat transferred; isentropic process = vertical line</a:t>
            </a:r>
            <a:endParaRPr lang="en-US" sz="2400" dirty="0"/>
          </a:p>
          <a:p>
            <a:pPr marL="342900" indent="-342900">
              <a:lnSpc>
                <a:spcPct val="105000"/>
              </a:lnSpc>
              <a:spcAft>
                <a:spcPts val="1200"/>
              </a:spcAft>
              <a:buSzPct val="100000"/>
              <a:buChar char="▪"/>
            </a:pPr>
            <a:r>
              <a:rPr lang="en-US" sz="24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Inside the dome constant-pressure lines </a:t>
            </a:r>
            <a:r>
              <a:rPr lang="en-US" sz="2400" b="1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coincide with the isotherms</a:t>
            </a:r>
            <a:endParaRPr lang="en-US" sz="2400" dirty="0"/>
          </a:p>
          <a:p>
            <a:pPr marL="342900" indent="-342900">
              <a:lnSpc>
                <a:spcPct val="105000"/>
              </a:lnSpc>
              <a:spcAft>
                <a:spcPts val="1200"/>
              </a:spcAft>
              <a:buSzPct val="100000"/>
              <a:buChar char="▪"/>
            </a:pPr>
            <a:r>
              <a:rPr lang="en-US" sz="24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the liquid region isobars rise steeply, almost along the saturated liquid line; in the superheated region they curve upwards</a:t>
            </a:r>
            <a:endParaRPr lang="en-US" sz="2400" dirty="0"/>
          </a:p>
          <a:p>
            <a:pPr marL="342900" indent="-342900">
              <a:lnSpc>
                <a:spcPct val="105000"/>
              </a:lnSpc>
              <a:spcAft>
                <a:spcPts val="1200"/>
              </a:spcAft>
              <a:buSzPct val="100000"/>
              <a:buChar char="▪"/>
            </a:pPr>
            <a:r>
              <a:rPr lang="en-US" sz="24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Lines of constant dryness fraction divide the horizontal segments of the dome in proportion</a:t>
            </a:r>
            <a:endParaRPr lang="en-US" sz="2400" dirty="0"/>
          </a:p>
        </p:txBody>
      </p:sp>
      <p:sp>
        <p:nvSpPr>
          <p:cNvPr id="7" name="Shape 4"/>
          <p:cNvSpPr/>
          <p:nvPr/>
        </p:nvSpPr>
        <p:spPr>
          <a:xfrm>
            <a:off x="548640" y="5074920"/>
            <a:ext cx="11094415" cy="1051560"/>
          </a:xfrm>
          <a:prstGeom prst="roundRect">
            <a:avLst>
              <a:gd name="adj" fmla="val 8696"/>
            </a:avLst>
          </a:prstGeom>
          <a:solidFill>
            <a:srgbClr val="FDF1E8"/>
          </a:solidFill>
          <a:ln w="12700">
            <a:solidFill>
              <a:srgbClr val="FDF1E8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31520" y="5074920"/>
            <a:ext cx="1072865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E87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POINT  </a:t>
            </a:r>
            <a:r>
              <a:rPr lang="en-US" sz="22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Datum: s = 0 for saturated liquid at the triple point.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AF2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claude/a34dce71-a27e-57cc-8705-14efc3510b3f/scratchpad/slides/logo_s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82935" y="201168"/>
            <a:ext cx="960120" cy="24791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6419088"/>
            <a:ext cx="99971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ME23312 Engineering Thermodynamics  ·  Unit III · Presentation 5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548640" y="2011680"/>
            <a:ext cx="2011680" cy="2011680"/>
          </a:xfrm>
          <a:prstGeom prst="ellipse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48640" y="2011680"/>
            <a:ext cx="20116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7200" dirty="0"/>
          </a:p>
        </p:txBody>
      </p:sp>
      <p:sp>
        <p:nvSpPr>
          <p:cNvPr id="7" name="Text 4"/>
          <p:cNvSpPr txBox="1"/>
          <p:nvPr/>
        </p:nvSpPr>
        <p:spPr>
          <a:xfrm>
            <a:off x="3017520" y="1828800"/>
            <a:ext cx="8625535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40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h–s (Mollier) chart</a:t>
            </a:r>
            <a:endParaRPr lang="en-US" sz="4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claude/a34dce71-a27e-57cc-8705-14efc3510b3f/scratchpad/slides/logo_s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82935" y="201168"/>
            <a:ext cx="960120" cy="24791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6419088"/>
            <a:ext cx="99971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ME23312 Engineering Thermodynamics  ·  Unit III · Presentation 5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365760"/>
            <a:ext cx="990569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80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h–s (Mollier) diagram for steam</a:t>
            </a:r>
            <a:endParaRPr lang="en-US" sz="3800" dirty="0"/>
          </a:p>
        </p:txBody>
      </p:sp>
      <p:pic>
        <p:nvPicPr>
          <p:cNvPr id="6" name="Image 1" descr="/tmp/claude-0/-home-claude/a34dce71-a27e-57cc-8705-14efc3510b3f/scratchpad/slides/s3_h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84037" y="1554480"/>
            <a:ext cx="7223621" cy="397764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548640" y="557784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Only the region of engineering interest is drawn: x above about 0.6 and pressures from about 0.01 to 100 MPa</a:t>
            </a:r>
            <a:endParaRPr lang="en-US" sz="2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claude/a34dce71-a27e-57cc-8705-14efc3510b3f/scratchpad/slides/logo_s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82935" y="201168"/>
            <a:ext cx="960120" cy="24791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6419088"/>
            <a:ext cx="99971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ME23312 Engineering Thermodynamics  ·  Unit III · Presentation 5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365760"/>
            <a:ext cx="990569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the Mollier chart is used for flow calculations</a:t>
            </a:r>
            <a:endParaRPr lang="en-US" sz="3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554480"/>
            <a:ext cx="11094415" cy="46177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342900" indent="-342900">
              <a:lnSpc>
                <a:spcPct val="105000"/>
              </a:lnSpc>
              <a:spcAft>
                <a:spcPts val="1200"/>
              </a:spcAft>
              <a:buSzPct val="100000"/>
              <a:buChar char="▪"/>
            </a:pPr>
            <a:r>
              <a:rPr lang="en-US" sz="32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Enthalpy drop in a turbine or nozzle for an isentropic process = a </a:t>
            </a:r>
            <a:r>
              <a:rPr lang="en-US" sz="3200" b="1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vertical distance</a:t>
            </a:r>
            <a:endParaRPr lang="en-US" sz="3200" dirty="0"/>
          </a:p>
          <a:p>
            <a:pPr marL="342900" indent="-342900">
              <a:lnSpc>
                <a:spcPct val="105000"/>
              </a:lnSpc>
              <a:spcAft>
                <a:spcPts val="1200"/>
              </a:spcAft>
              <a:buSzPct val="100000"/>
              <a:buChar char="▪"/>
            </a:pPr>
            <a:r>
              <a:rPr lang="en-US" sz="32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 state after throttling lies on a </a:t>
            </a:r>
            <a:r>
              <a:rPr lang="en-US" sz="3200" b="1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horizontal line</a:t>
            </a:r>
            <a:r>
              <a:rPr lang="en-US" sz="32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(h = constant)</a:t>
            </a:r>
            <a:endParaRPr lang="en-US" sz="3200" dirty="0"/>
          </a:p>
          <a:p>
            <a:pPr marL="342900" indent="-342900">
              <a:lnSpc>
                <a:spcPct val="105000"/>
              </a:lnSpc>
              <a:spcAft>
                <a:spcPts val="1200"/>
              </a:spcAft>
              <a:buSzPct val="100000"/>
              <a:buChar char="▪"/>
            </a:pPr>
            <a:r>
              <a:rPr lang="en-US" sz="32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Both can be read directly – no interpolation in tables</a:t>
            </a:r>
            <a:endParaRPr lang="en-US" sz="3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claude/a34dce71-a27e-57cc-8705-14efc3510b3f/scratchpad/slides/logo_s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82935" y="201168"/>
            <a:ext cx="960120" cy="24791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6419088"/>
            <a:ext cx="99971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ME23312 Engineering Thermodynamics  ·  Unit III · Presentation 5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365760"/>
            <a:ext cx="990569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80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Lines drawn on the Mollier chart</a:t>
            </a:r>
            <a:endParaRPr lang="en-US" sz="38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1094415" cy="914400"/>
        </p:xfrm>
        <a:graphic>
          <a:graphicData uri="http://schemas.openxmlformats.org/drawingml/2006/table">
            <a:tbl>
              <a:tblPr/>
              <a:tblGrid>
                <a:gridCol w="3328325"/>
                <a:gridCol w="7766091"/>
              </a:tblGrid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Line</a:t>
                      </a:r>
                      <a:endParaRPr lang="en-US" sz="2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Behaviour</a:t>
                      </a:r>
                      <a:endParaRPr lang="en-US" sz="2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1B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Constant pressure</a:t>
                      </a:r>
                      <a:endParaRPr lang="en-US" sz="2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B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Straight in the wet region (dh/ds = T at constant p); curving upwards in the superheated region</a:t>
                      </a:r>
                      <a:endParaRPr lang="en-US" sz="2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1B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Constant temperature</a:t>
                      </a:r>
                      <a:endParaRPr lang="en-US" sz="2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B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Superheated region only; bend towards the horizontal as pressure falls – ideal-gas behaviour, h = f(T)</a:t>
                      </a:r>
                      <a:endParaRPr lang="en-US" sz="2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1B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Constant dryness fraction</a:t>
                      </a:r>
                      <a:endParaRPr lang="en-US" sz="2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B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Wet region</a:t>
                      </a:r>
                      <a:endParaRPr lang="en-US" sz="2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1B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Constant specific volume</a:t>
                      </a:r>
                      <a:endParaRPr lang="en-US" sz="2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B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Steeper than the isobars</a:t>
                      </a:r>
                      <a:endParaRPr lang="en-US" sz="2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1B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Saturation line x = 1</a:t>
                      </a:r>
                      <a:endParaRPr lang="en-US" sz="2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B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Separates the wet and superheated regions; the critical point lies far down on the left</a:t>
                      </a:r>
                      <a:endParaRPr lang="en-US" sz="2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claude/a34dce71-a27e-57cc-8705-14efc3510b3f/scratchpad/slides/logo_s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82935" y="201168"/>
            <a:ext cx="960120" cy="24791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6419088"/>
            <a:ext cx="99971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ME23312 Engineering Thermodynamics  ·  Unit III · Presentation 5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365760"/>
            <a:ext cx="990569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80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Reading the diagrams</a:t>
            </a:r>
            <a:endParaRPr lang="en-US" sz="3800" dirty="0"/>
          </a:p>
        </p:txBody>
      </p:sp>
      <p:sp>
        <p:nvSpPr>
          <p:cNvPr id="6" name="Shape 3"/>
          <p:cNvSpPr/>
          <p:nvPr/>
        </p:nvSpPr>
        <p:spPr>
          <a:xfrm>
            <a:off x="548640" y="1554480"/>
            <a:ext cx="11094415" cy="2011680"/>
          </a:xfrm>
          <a:prstGeom prst="roundRect">
            <a:avLst>
              <a:gd name="adj" fmla="val 6818"/>
            </a:avLst>
          </a:prstGeom>
          <a:solidFill>
            <a:srgbClr val="EAF2FB"/>
          </a:solidFill>
          <a:ln w="12700">
            <a:solidFill>
              <a:srgbClr val="EAF2FB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68680" y="1554480"/>
            <a:ext cx="10454335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Inside the dome p and T are not independent – an isobar and an isotherm are the same horizontal line – so a second property (v, h, s or x) is required to fix the state.</a:t>
            </a:r>
            <a:endParaRPr lang="en-US" sz="28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3840480"/>
            <a:ext cx="11094415" cy="23317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342900" indent="-342900">
              <a:lnSpc>
                <a:spcPct val="105000"/>
              </a:lnSpc>
              <a:spcAft>
                <a:spcPts val="1200"/>
              </a:spcAft>
              <a:buSzPct val="100000"/>
              <a:buChar char="▪"/>
            </a:pPr>
            <a:r>
              <a:rPr lang="en-US" sz="30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Outside the dome (compressed liquid, superheated vapour) p and T are independent and fix the state on their own</a:t>
            </a:r>
            <a:endParaRPr lang="en-US" sz="3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claude/a34dce71-a27e-57cc-8705-14efc3510b3f/scratchpad/slides/logo_s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82935" y="201168"/>
            <a:ext cx="960120" cy="24791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6419088"/>
            <a:ext cx="99971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ME23312 Engineering Thermodynamics  ·  Unit III · Presentation 5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365760"/>
            <a:ext cx="990569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80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Summary</a:t>
            </a:r>
            <a:endParaRPr lang="en-US" sz="38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554480"/>
            <a:ext cx="5364328" cy="46177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342900" indent="-342900">
              <a:lnSpc>
                <a:spcPct val="105000"/>
              </a:lnSpc>
              <a:spcAft>
                <a:spcPts val="1200"/>
              </a:spcAft>
              <a:buSzPct val="100000"/>
              <a:buChar char="▪"/>
            </a:pPr>
            <a:r>
              <a:rPr lang="en-US" sz="26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p–v: saturation dome; isotherms horizontal inside, steep in the liquid, hyperbola-like in the vapour</a:t>
            </a:r>
            <a:endParaRPr lang="en-US" sz="2600" dirty="0"/>
          </a:p>
          <a:p>
            <a:pPr marL="342900" indent="-342900">
              <a:lnSpc>
                <a:spcPct val="105000"/>
              </a:lnSpc>
              <a:spcAft>
                <a:spcPts val="1200"/>
              </a:spcAft>
              <a:buSzPct val="100000"/>
              <a:buChar char="▪"/>
            </a:pPr>
            <a:r>
              <a:rPr lang="en-US" sz="26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T–v: the same dome with isobars</a:t>
            </a:r>
            <a:endParaRPr lang="en-US" sz="2600" dirty="0"/>
          </a:p>
          <a:p>
            <a:pPr marL="342900" indent="-342900">
              <a:lnSpc>
                <a:spcPct val="105000"/>
              </a:lnSpc>
              <a:spcAft>
                <a:spcPts val="1200"/>
              </a:spcAft>
              <a:buSzPct val="100000"/>
              <a:buChar char="▪"/>
            </a:pPr>
            <a:r>
              <a:rPr lang="en-US" sz="26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T–s: heat = area, isentropic = vertical; isobars coincide with isotherms inside the dome</a:t>
            </a:r>
            <a:endParaRPr lang="en-US" sz="2600" dirty="0"/>
          </a:p>
        </p:txBody>
      </p:sp>
      <p:sp>
        <p:nvSpPr>
          <p:cNvPr id="7" name="Text 4"/>
          <p:cNvSpPr txBox="1"/>
          <p:nvPr/>
        </p:nvSpPr>
        <p:spPr>
          <a:xfrm>
            <a:off x="6278728" y="1554480"/>
            <a:ext cx="5364328" cy="46177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342900" indent="-342900">
              <a:lnSpc>
                <a:spcPct val="105000"/>
              </a:lnSpc>
              <a:spcAft>
                <a:spcPts val="1200"/>
              </a:spcAft>
              <a:buSzPct val="100000"/>
              <a:buChar char="▪"/>
            </a:pPr>
            <a:r>
              <a:rPr lang="en-US" sz="26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Mollier h–s: isentropic = vertical drop, throttling = horizontal line</a:t>
            </a:r>
            <a:endParaRPr lang="en-US" sz="2600" dirty="0"/>
          </a:p>
          <a:p>
            <a:pPr marL="342900" indent="-342900">
              <a:lnSpc>
                <a:spcPct val="105000"/>
              </a:lnSpc>
              <a:spcAft>
                <a:spcPts val="1200"/>
              </a:spcAft>
              <a:buSzPct val="100000"/>
              <a:buChar char="▪"/>
            </a:pPr>
            <a:r>
              <a:rPr lang="en-US" sz="26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Chart lines: p, T (superheated), x, v, and the saturation line x = 1</a:t>
            </a:r>
            <a:endParaRPr lang="en-US" sz="2600" dirty="0"/>
          </a:p>
          <a:p>
            <a:pPr marL="342900" indent="-342900">
              <a:lnSpc>
                <a:spcPct val="105000"/>
              </a:lnSpc>
              <a:spcAft>
                <a:spcPts val="1200"/>
              </a:spcAft>
              <a:buSzPct val="100000"/>
              <a:buChar char="▪"/>
            </a:pPr>
            <a:r>
              <a:rPr lang="en-US" sz="26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Inside the dome a second property is needed; outside, p and T suffice</a:t>
            </a:r>
            <a:endParaRPr lang="en-US" sz="26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F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280160"/>
            <a:ext cx="1109441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Next: The steam tables</a:t>
            </a:r>
            <a:endParaRPr lang="en-US" sz="4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651760"/>
            <a:ext cx="11094415" cy="3108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342900" indent="-342900">
              <a:lnSpc>
                <a:spcPct val="105000"/>
              </a:lnSpc>
              <a:spcAft>
                <a:spcPts val="1200"/>
              </a:spcAft>
              <a:buSzPct val="100000"/>
              <a:buChar char="▪"/>
            </a:pPr>
            <a:r>
              <a:rPr lang="en-US" sz="3000" dirty="0">
                <a:solidFill>
                  <a:srgbClr val="D6E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Saturation tables (temperature and pressure basis), superheat table, compressed-liquid table</a:t>
            </a:r>
            <a:endParaRPr lang="en-US" sz="3000" dirty="0"/>
          </a:p>
          <a:p>
            <a:pPr marL="342900" indent="-342900">
              <a:lnSpc>
                <a:spcPct val="105000"/>
              </a:lnSpc>
              <a:spcAft>
                <a:spcPts val="1200"/>
              </a:spcAft>
              <a:buSzPct val="100000"/>
              <a:buChar char="▪"/>
            </a:pPr>
            <a:r>
              <a:rPr lang="en-US" sz="3000" dirty="0">
                <a:solidFill>
                  <a:srgbClr val="D6E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Interpolation and identifying the state</a:t>
            </a:r>
            <a:endParaRPr lang="en-US" sz="3000" dirty="0"/>
          </a:p>
          <a:p>
            <a:pPr marL="342900" indent="-342900">
              <a:lnSpc>
                <a:spcPct val="105000"/>
              </a:lnSpc>
              <a:spcAft>
                <a:spcPts val="1200"/>
              </a:spcAft>
              <a:buSzPct val="100000"/>
              <a:buChar char="▪"/>
            </a:pPr>
            <a:r>
              <a:rPr lang="en-US" sz="3000" dirty="0">
                <a:solidFill>
                  <a:srgbClr val="D6E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Steam as a real gas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19088"/>
            <a:ext cx="99971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9C6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ME23312 Engineering Thermodynamics  ·  Unit III · Presentation 5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B9C6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Rajalakshmi Institute of Technology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p–v, T–v, T–s and h–s (Mollier) Diagrams</dc:title>
  <dc:subject>PptxGenJS Presentation</dc:subject>
  <dc:creator>Dr. Anantha Raman L.</dc:creator>
  <cp:lastModifiedBy>Dr. Anantha Raman L.</cp:lastModifiedBy>
  <cp:revision>1</cp:revision>
  <dcterms:created xsi:type="dcterms:W3CDTF">2026-09-07T05:54:57Z</dcterms:created>
  <dcterms:modified xsi:type="dcterms:W3CDTF">2026-09-07T05:54:57Z</dcterms:modified>
</cp:coreProperties>
</file>