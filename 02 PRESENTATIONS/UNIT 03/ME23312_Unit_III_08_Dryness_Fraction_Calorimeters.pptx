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743200" cy="982634"/>
          </a:xfrm>
          <a:prstGeom prst="roundRect">
            <a:avLst>
              <a:gd name="adj" fmla="val 111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tmp/claude-0/-home-claude/a34dce71-a27e-57cc-8705-14efc3510b3f/scratchpad/slides/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0080"/>
            <a:ext cx="2468880" cy="63748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828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 ENGINEERING THERMODYNAMICS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III – Properties of Pure Substance  ·  Presentation 8 of 10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Determination of the Dryness Fraction – Steam Calorimeters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3891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 · barrel calorimeter · separating calorimeter · throttling calorimeter · combined separating and throttling calorimeter · comparison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064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B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Anantha Raman L., M.E., Ph.D.  ·  Associate Professor, Department of Mechanical Engineering, Rajalakshmi Institute of Technology, Chennai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8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presentation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94415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calorimeter?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Barrel (bucket) calorimeter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Separating calorimeter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Throttling calorimeter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throttling calorimeter works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separating and throttling calorimeter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of the calorimeters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8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calorimeter?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94415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dryness fraction of steam leaving a boiler or flowing in a pipe </a:t>
            </a:r>
            <a:r>
              <a:rPr lang="en-US" sz="3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be measured directly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sz="3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steam calorimeter</a:t>
            </a: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brings a sample to a state whose properties can be measured and applies the energy balance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sample is taken through a perforated tube inserted across the pipe so that it is representative of the flow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Instruments: barrel, separating, throttling, combined, electrical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8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2011680"/>
            <a:ext cx="2011680" cy="201168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0116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1828800"/>
            <a:ext cx="8625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Barrel calorimeter</a:t>
            </a:r>
            <a:endParaRPr lang="en-US" sz="4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8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Barrel (bucket) calorimeter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4415" cy="1463040"/>
          </a:xfrm>
          <a:prstGeom prst="roundRect">
            <a:avLst>
              <a:gd name="adj" fmla="val 75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54480"/>
            <a:ext cx="107286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[h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x h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c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 = (m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m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c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t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91840"/>
            <a:ext cx="11094415" cy="2880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 steam m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condensed in cold water m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(initial t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in an insulated barrel; final temperature t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lost by the steam = heat gained by the water and the barrel (water equivalent m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4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but </a:t>
            </a:r>
            <a:r>
              <a:rPr lang="en-US" sz="2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inaccurate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heat losses and a small temperature rise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8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2011680"/>
            <a:ext cx="2011680" cy="201168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0116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1828800"/>
            <a:ext cx="8625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Separating calorimeter</a:t>
            </a:r>
            <a:endParaRPr lang="en-US" sz="4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8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Separating calorimeter</a:t>
            </a:r>
            <a:endParaRPr lang="en-US" sz="3800" dirty="0"/>
          </a:p>
        </p:txBody>
      </p:sp>
      <p:pic>
        <p:nvPicPr>
          <p:cNvPr id="6" name="Image 1" descr="/tmp/claude-0/-home-claude/a34dce71-a27e-57cc-8705-14efc3510b3f/scratchpad/slides/s3_calor_se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4821" y="1554480"/>
            <a:ext cx="6002054" cy="39776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55778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Baffles throw the heavier water droplets out of the stream; the water collects below and the drier steam passes on to be condensed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8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Separating calorimeter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4415" cy="13716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54480"/>
            <a:ext cx="107286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= m</a:t>
            </a:r>
            <a:r>
              <a:rPr lang="en-US" sz="40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/(m</a:t>
            </a:r>
            <a:r>
              <a:rPr lang="en-US" sz="40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m</a:t>
            </a:r>
            <a:r>
              <a:rPr lang="en-US" sz="40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00400"/>
            <a:ext cx="11094415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Sudden changes of direction throw out the water; its mass m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read from a gauge glass; the drier steam is condensed and weighed, m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4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 is never complete – fine moisture is carried over, so it </a:t>
            </a:r>
            <a:r>
              <a:rPr lang="en-US" sz="2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over-estimates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x</a:t>
            </a:r>
            <a:endParaRPr lang="en-US" sz="24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instrument for </a:t>
            </a:r>
            <a:r>
              <a:rPr lang="en-US" sz="2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wet steam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first stage of the combined calorimeter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8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2011680"/>
            <a:ext cx="2011680" cy="201168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0116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1828800"/>
            <a:ext cx="8625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Throttling calorimeter</a:t>
            </a:r>
            <a:endParaRPr lang="en-US" sz="4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8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Throttling calorimeter</a:t>
            </a:r>
            <a:endParaRPr lang="en-US" sz="3800" dirty="0"/>
          </a:p>
        </p:txBody>
      </p:sp>
      <p:pic>
        <p:nvPicPr>
          <p:cNvPr id="6" name="Image 1" descr="/tmp/claude-0/-home-claude/a34dce71-a27e-57cc-8705-14efc3510b3f/scratchpad/slides/s3_calor_thr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4821" y="1554480"/>
            <a:ext cx="6002054" cy="39776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55778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sample is throttled from the pipe pressure p</a:t>
            </a:r>
            <a:r>
              <a:rPr lang="en-US" sz="2000" baseline="-400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0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a low pressure p</a:t>
            </a:r>
            <a:r>
              <a:rPr lang="en-US" sz="2000" baseline="-400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0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p</a:t>
            </a:r>
            <a:r>
              <a:rPr lang="en-US" sz="2000" baseline="-400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0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T</a:t>
            </a:r>
            <a:r>
              <a:rPr lang="en-US" sz="2000" baseline="-400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0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 measured in the insulated chamber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8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Throttling calorimeter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4415" cy="1463040"/>
          </a:xfrm>
          <a:prstGeom prst="roundRect">
            <a:avLst>
              <a:gd name="adj" fmla="val 75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54480"/>
            <a:ext cx="107286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x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fg1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h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  ⇒   x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(h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h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)/h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fg1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91840"/>
            <a:ext cx="11094415" cy="2880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Throttling is a </a:t>
            </a:r>
            <a:r>
              <a:rPr lang="en-US" sz="2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constant-enthalpy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process (Unit I)</a:t>
            </a:r>
            <a:endParaRPr lang="en-US" sz="24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throttled steam is superheated, its state is fixed by p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T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h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read from the superheat table</a:t>
            </a:r>
            <a:endParaRPr lang="en-US" sz="24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Mollier chart: a horizontal line from the wet region at p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into the superheated region at p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8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throttling calorimeter works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94415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Accurate – but only if the throttled steam is </a:t>
            </a:r>
            <a:r>
              <a:rPr lang="en-US" sz="3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superheated by at least about 5 K</a:t>
            </a:r>
            <a:endParaRPr lang="en-US" sz="32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 it to fairly dry steam: x above roughly 0.95 for the usual pressure ratios</a:t>
            </a:r>
            <a:endParaRPr lang="en-US" sz="32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wetter steam the two instruments are combined</a:t>
            </a:r>
            <a:endParaRPr 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8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2011680"/>
            <a:ext cx="2011680" cy="201168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0116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1828800"/>
            <a:ext cx="8625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separating and throttling calorimeter</a:t>
            </a:r>
            <a:endParaRPr lang="en-US" sz="4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8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separating and throttling calorimeter</a:t>
            </a:r>
            <a:endParaRPr lang="en-US" sz="3200" dirty="0"/>
          </a:p>
        </p:txBody>
      </p:sp>
      <p:pic>
        <p:nvPicPr>
          <p:cNvPr id="6" name="Image 1" descr="/tmp/claude-0/-home-claude/a34dce71-a27e-57cc-8705-14efc3510b3f/scratchpad/slides/s3_calor_com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4821" y="1554480"/>
            <a:ext cx="6002054" cy="39776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55778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separator removes most of the moisture; the partially dried steam is then throttled into the superheated region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8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calorimeter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4415" cy="1463040"/>
          </a:xfrm>
          <a:prstGeom prst="roundRect">
            <a:avLst>
              <a:gd name="adj" fmla="val 75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54480"/>
            <a:ext cx="107286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(h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h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)/h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fg1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x = x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/(m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m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= x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x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91840"/>
            <a:ext cx="11094415" cy="2880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Separator collects water m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the partially dried steam (x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mass m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is throttled to p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h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fg1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the pipe pressure p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unchanged through the separator</a:t>
            </a:r>
            <a:endParaRPr lang="en-US" sz="24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 vapour in the sample = x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total mass = m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m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x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m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/(m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m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is the separator reading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8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of the calorimeters</a:t>
            </a:r>
            <a:endParaRPr lang="en-US" sz="3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218883"/>
                <a:gridCol w="3328325"/>
                <a:gridCol w="2588697"/>
                <a:gridCol w="2958511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Calorimeter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Principle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Suitable for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Limitation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Barrel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Energy balance with cold water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Rough checks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Inaccurate – heat losses, small ΔT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Separating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Mechanical separation of moisture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wet steam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Over-estimates x – carry-over of fine moisture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Throttling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 = constant into the superheated region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Fairly dry steam, x &gt; 0.95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Throttled steam must be superheated (≥ 5 K)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Combined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Separation, then throttling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 wetness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instruments; x = x</a:t>
                      </a:r>
                      <a:r>
                        <a:rPr lang="en-US" sz="2000" baseline="-40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r>
                        <a:rPr lang="en-US" sz="2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x</a:t>
                      </a:r>
                      <a:r>
                        <a:rPr lang="en-US" sz="2000" baseline="-40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8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5364328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Dryness fraction is found from a representative sample with a calorimeter</a:t>
            </a:r>
            <a:endParaRPr lang="en-US" sz="24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Barrel: m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[h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x h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c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 = (m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m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c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t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); inaccurate</a:t>
            </a:r>
            <a:endParaRPr lang="en-US" sz="24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Separating: x = m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/(m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m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); over-estimates; best for very wet steam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278728" y="1554480"/>
            <a:ext cx="5364328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Throttling: x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(h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h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)/h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fg1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needs superheat after throttling</a:t>
            </a:r>
            <a:endParaRPr lang="en-US" sz="2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Combined: x = x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/(m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m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= x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x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Mollier chart throttling is a horizontal line</a:t>
            </a:r>
            <a:endParaRPr lang="en-US" sz="2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Non-flow processes of steam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1094415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and heat transfer for constant-volume, constant-pressure, isothermal, hyperbolic, isentropic and polytropic processes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Numerical problems: Worked Examples 3.5 – 3.6 in the lecture notes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8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9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Rajalakshmi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Determination of the Dryness Fraction – Steam Calorimeters</dc:title>
  <dc:subject>PptxGenJS Presentation</dc:subject>
  <dc:creator>Dr. Anantha Raman L.</dc:creator>
  <cp:lastModifiedBy>Dr. Anantha Raman L.</cp:lastModifiedBy>
  <cp:revision>1</cp:revision>
  <dcterms:created xsi:type="dcterms:W3CDTF">2026-09-07T05:55:00Z</dcterms:created>
  <dcterms:modified xsi:type="dcterms:W3CDTF">2026-09-07T05:55:00Z</dcterms:modified>
</cp:coreProperties>
</file>