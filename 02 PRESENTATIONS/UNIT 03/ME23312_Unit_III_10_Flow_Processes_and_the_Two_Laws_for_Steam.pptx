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10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Processes of Steam and the Application of the Two Laws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SFEE with steam · turbine and isentropic efficiency · nozzle · throttling · adiabatic mixing · entropy generation and feasibility · availability of steam · Unit III formula sheet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SFEE with steam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turbine – ideal and actual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 efficiency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nozzle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Adiabatic mixing of steam streams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law – closed and open systems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law – entropy of steam and feasibility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of steam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formula sheet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processes of steam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SFEE with steam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Boilers, turbines, nozzles, condensers, valves and mixing chambers: 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²/2 + gz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q = 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²/2 + gz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w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Enthalpies from the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tables or the Mollier chart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potential-energy term is always negligible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governing property is the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enthalpy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internal energy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ideal (reversible adiabatic) process is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 vertical line on the h–s chart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 expansion on the h–s diagram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turbine_h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228" y="1554480"/>
            <a:ext cx="7249239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 expansion 1–2s is the vertical drop; the actual exhaust 2 lies to the right, with less work and a higher dryness fraction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turbine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Insulated casing (q ≈ 0), small velocities: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h</a:t>
            </a:r>
            <a:r>
              <a:rPr lang="en-US" sz="28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8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turbine: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if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lies between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p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exhaust is wet: x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fg2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work w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the vertical drop on the Mollier chart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turbine: friction and turbulence raise the exhaust entropy – state 2 lies to the right of 2s and the work is smaller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 (adiabatic) efficiency of a turbine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actual work / isentropic work = (h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)/(h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η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11094415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exit dryness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r>
              <a:rPr 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the energy not converted to work stays in the steam and re-evaporates some moisture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generated per kg: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0 (adiabatic)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nozzle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2377440"/>
          </a:xfrm>
          <a:prstGeom prst="roundRect">
            <a:avLst>
              <a:gd name="adj" fmla="val 461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√[2 (h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)]   (h in J/kg)</a:t>
            </a:r>
            <a:endParaRPr lang="en-US" sz="3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44.72 √(h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 (h in kJ/kg, V in m/s)</a:t>
            </a:r>
            <a:endParaRPr lang="en-US" sz="3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ṁ v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 v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v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</a:t>
            </a:r>
            <a:r>
              <a:rPr lang="en-US" sz="30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fg2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11094415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Enthalpy drop → kinetic energy; no work, no heat, no change of elevation: V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²/2 – V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²/2 = h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nozzle: isentropic expansion with negligible inlet velocity; nozzle efficiency η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(h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)/(h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2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for friction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Partly open valve, orifice or porous plug: large pressure drop, no work, no heat, negligible velocity change ⇒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28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28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line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Mollier chart: wet steam becomes drier and eventually superheated; superheated steam becomes cooler (steam is not an ideal gas)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irreversible: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s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pressure drop is lost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Uses: throttling calorimeter, pressure-reducing valves, refrigerator expansion valve, throttle governing of turbines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Adiabatic mixing of steam streams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mix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73" y="1554480"/>
            <a:ext cx="8503549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streams at the same pressure mix in an insulated chamber with no work; the mixture may then expand in a nozzle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Adiabatic mixing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)/(ṁ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ṁ</a:t>
            </a:r>
            <a:r>
              <a:rPr lang="en-US" sz="32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11094415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 state fixed by p and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wet,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superheated, T by interpolation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Irreversible: Ṡ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ṁ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ṁ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ṁ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must be positive; desuperheaters and feed-water heaters work this way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and second laws applied to steam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law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systems (non-flow)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m (u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+ W, W from the process law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h – pv, or 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wet steam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V: Q = mΔu; constant p: Q = mΔh; isentropic: W = –mΔu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systems (steady flow)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– w = Δh + ΔV²/2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 w =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nozzle 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√[2 (h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)]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boiler, condenser q =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mixing Σ ṁh in = Σ ṁh out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law – entropy of steam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is read from the tables (s = s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s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wet region), so Δs = s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regardless of the path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process: q = ∫ T ds = area under the T–s curve; isothermal evaporation q = T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adiabatic = isentropic; the isentropic end state is the reference for the actual one through the isentropic efficiency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generation and feasibility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2377440"/>
          </a:xfrm>
          <a:prstGeom prst="roundRect">
            <a:avLst>
              <a:gd name="adj" fmla="val 461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Adiabatic device:  s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2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Mixing:  Ṡ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Σ ṁ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Σ ṁ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2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q to surroundings at T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s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(s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q/T</a:t>
            </a:r>
            <a:r>
              <a:rPr lang="en-US" sz="28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11094415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process is possible only if s</a:t>
            </a:r>
            <a:r>
              <a:rPr lang="en-US" sz="2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0; the work lost is I = T</a:t>
            </a:r>
            <a:r>
              <a:rPr lang="en-US" sz="2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r>
              <a:rPr lang="en-US" sz="2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(Unit II)</a:t>
            </a:r>
            <a:endParaRPr lang="en-US" sz="2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generates far more entropy than a real turbine or a mixing chamber – a wasteful way to reduce pressure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of steam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 = (h – h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T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 – s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      η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w/(ψ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ψ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1094415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state usually taken as saturated liquid at the atmospheric temperature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 gives the maximum work obtainable from the stream; the same table values serve both laws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for any steam problem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each state with two independent properties – decide wet, dry or superheated by comparing with the saturation values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system → use u and Q = ΔU + W; open system → use h and the SFEE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process → s = constant; real process → isentropic efficiency, then the actual end state from h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result with the second law: s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0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at a glance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3337560"/>
            <a:ext cx="8625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sheet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sheet (1) – states and properties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point 0.01 °C, 0.6117 kPa; critical point 22.064 MPa, 373.95 °C,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superheat T –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degree of subcooling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v = 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h =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 = s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s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h – pv = 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x 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liquid ≈ saturated liquid at the same T; h ≈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 –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Diagrams: T–s heat = area, isentropic vertical; Mollier isentropic vertical, throttling horizontal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sheet (2) – calorimeters and processes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x = 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throttling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fg1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x =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/(m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volume W = 0, Q = mΔu; constant pressure W = pΔV, Q = mΔh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Isothermal Q = mTΔs; hyperbolic W = p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ln (V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Isentropic W = –mΔu; polytropic W = (p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)/(n – 1)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Q = ΔU + W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sheet (3) – flow and the second law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 w =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η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)/(h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Nozzle V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√[2 (h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)] = 44.72 √Δh; A = ṁv/V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Throttling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mixing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(ṁ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ṁ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)/(ṁ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ṁ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(adiabatic) or Σ ṁs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Σ ṁs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0; I = T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turbine exhaust is drier than the isentropic exhaust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 = (h – 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T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 – s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η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w/(ψ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ψ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complete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problems: Worked Examples 3.1 – 3.15 and Practice Problems P1 – P8 in the lecture notes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questions: 30 two-mark and 17 thirteen-mark questions in the notes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unit: Ideal and Real Gases, Thermodynamic Relations – Unit IV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10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Processes of Steam and the Application of the Two Laws</dc:title>
  <dc:subject>PptxGenJS Presentation</dc:subject>
  <dc:creator>Dr. Anantha Raman L.</dc:creator>
  <cp:lastModifiedBy>Dr. Anantha Raman L.</cp:lastModifiedBy>
  <cp:revision>1</cp:revision>
  <dcterms:created xsi:type="dcterms:W3CDTF">2026-09-07T05:55:04Z</dcterms:created>
  <dcterms:modified xsi:type="dcterms:W3CDTF">2026-09-07T05:55:04Z</dcterms:modified>
</cp:coreProperties>
</file>