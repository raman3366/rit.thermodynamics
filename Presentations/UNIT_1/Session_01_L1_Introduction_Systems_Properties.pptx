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324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95360" y="-2011680"/>
            <a:ext cx="5852160" cy="5852160"/>
          </a:xfrm>
          <a:prstGeom prst="ellipse">
            <a:avLst/>
          </a:prstGeom>
          <a:solidFill>
            <a:srgbClr val="1F4E79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645920" y="4937760"/>
            <a:ext cx="4206240" cy="4206240"/>
          </a:xfrm>
          <a:prstGeom prst="ellipse">
            <a:avLst/>
          </a:prstGeom>
          <a:solidFill>
            <a:srgbClr val="2E75B6">
              <a:alpha val="3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02920" y="457200"/>
            <a:ext cx="3977640" cy="10972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</p:spPr>
      </p:sp>
      <p:pic>
        <p:nvPicPr>
          <p:cNvPr id="5" name="Image 0" descr="/home/claude/RIT_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539534"/>
            <a:ext cx="3611880" cy="932613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800600" y="457200"/>
            <a:ext cx="6858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071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ME23312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 THERMODYNAMICS</a:t>
            </a:r>
            <a:endParaRPr lang="en-US" sz="1500" dirty="0"/>
          </a:p>
          <a:p>
            <a:pPr indent="0" marL="0">
              <a:buNone/>
            </a:pPr>
            <a:r>
              <a:rPr lang="en-US" sz="1250" dirty="0">
                <a:solidFill>
                  <a:srgbClr val="9DC3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I – Basics, Zeroth and First Law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548640" y="2148840"/>
            <a:ext cx="3246120" cy="457200"/>
          </a:xfrm>
          <a:prstGeom prst="roundRect">
            <a:avLst>
              <a:gd name="adj" fmla="val 50000"/>
            </a:avLst>
          </a:prstGeom>
          <a:solidFill>
            <a:srgbClr val="F0714B"/>
          </a:solidFill>
          <a:ln/>
        </p:spPr>
      </p:sp>
      <p:sp>
        <p:nvSpPr>
          <p:cNvPr id="8" name="Text 5"/>
          <p:cNvSpPr/>
          <p:nvPr/>
        </p:nvSpPr>
        <p:spPr>
          <a:xfrm>
            <a:off x="548640" y="2148840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1 • LECTURE 1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548640" y="2743200"/>
            <a:ext cx="11064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to Thermodynamics: Systems, Properties &amp; Processes</a:t>
            </a:r>
            <a:endParaRPr lang="en-US" sz="3400" dirty="0"/>
          </a:p>
        </p:txBody>
      </p:sp>
      <p:sp>
        <p:nvSpPr>
          <p:cNvPr id="10" name="Text 7"/>
          <p:cNvSpPr/>
          <p:nvPr/>
        </p:nvSpPr>
        <p:spPr>
          <a:xfrm>
            <a:off x="548640" y="406908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DC3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of basics — what thermodynamics studies, how we define a system, and the language of properties and processes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548640" y="5074920"/>
            <a:ext cx="7772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071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Anantha Raman L., M.E., Ph.D.</a:t>
            </a:r>
            <a:endParaRPr lang="en-US" sz="1400" dirty="0"/>
          </a:p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Associate Professor</a:t>
            </a:r>
            <a:endParaRPr lang="en-US" sz="1400" dirty="0"/>
          </a:p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of Mechanical Engineering</a:t>
            </a:r>
            <a:endParaRPr lang="en-US" sz="1400" dirty="0"/>
          </a:p>
          <a:p>
            <a:pPr indent="0" marL="0">
              <a:buNone/>
            </a:pPr>
            <a:r>
              <a:rPr lang="en-US" sz="1150" dirty="0">
                <a:solidFill>
                  <a:srgbClr val="9DC3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Rajalakshmi Institute of Technology, Chennai, Tamil Nadu.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071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1 • LECTURE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9326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16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Outline</a:t>
            </a:r>
            <a:endParaRPr lang="en-US" sz="2700" dirty="0"/>
          </a:p>
        </p:txBody>
      </p:sp>
      <p:pic>
        <p:nvPicPr>
          <p:cNvPr id="4" name="Image 0" descr="/home/claude/RIT_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22992" y="411480"/>
            <a:ext cx="1417320" cy="365962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40080" y="1938528"/>
            <a:ext cx="603504" cy="603504"/>
          </a:xfrm>
          <a:prstGeom prst="ellipse">
            <a:avLst/>
          </a:prstGeom>
          <a:solidFill>
            <a:srgbClr val="F0714B"/>
          </a:solidFill>
          <a:ln/>
        </p:spPr>
      </p:sp>
      <p:sp>
        <p:nvSpPr>
          <p:cNvPr id="6" name="Text 3"/>
          <p:cNvSpPr/>
          <p:nvPr/>
        </p:nvSpPr>
        <p:spPr>
          <a:xfrm>
            <a:off x="640080" y="1938528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1508760" y="182880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6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thermodynamics?</a:t>
            </a:r>
            <a:endParaRPr lang="en-US" sz="1550" dirty="0"/>
          </a:p>
          <a:p>
            <a:pPr indent="0" marL="0">
              <a:buNone/>
            </a:pPr>
            <a:r>
              <a:rPr lang="en-US" sz="12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 overview, real-life applications, CAT pattern for the course</a:t>
            </a:r>
            <a:endParaRPr lang="en-US" sz="1550" dirty="0"/>
          </a:p>
        </p:txBody>
      </p:sp>
      <p:sp>
        <p:nvSpPr>
          <p:cNvPr id="8" name="Shape 5"/>
          <p:cNvSpPr/>
          <p:nvPr/>
        </p:nvSpPr>
        <p:spPr>
          <a:xfrm>
            <a:off x="932688" y="2569464"/>
            <a:ext cx="0" cy="256032"/>
          </a:xfrm>
          <a:prstGeom prst="line">
            <a:avLst/>
          </a:prstGeom>
          <a:noFill/>
          <a:ln w="19050">
            <a:solidFill>
              <a:srgbClr val="9DC3E6"/>
            </a:solidFill>
            <a:prstDash val="dash"/>
          </a:ln>
        </p:spPr>
      </p:sp>
      <p:sp>
        <p:nvSpPr>
          <p:cNvPr id="9" name="Shape 6"/>
          <p:cNvSpPr/>
          <p:nvPr/>
        </p:nvSpPr>
        <p:spPr>
          <a:xfrm>
            <a:off x="640080" y="2852928"/>
            <a:ext cx="603504" cy="603504"/>
          </a:xfrm>
          <a:prstGeom prst="ellipse">
            <a:avLst/>
          </a:prstGeom>
          <a:solidFill>
            <a:srgbClr val="F0714B"/>
          </a:solidFill>
          <a:ln/>
        </p:spPr>
      </p:sp>
      <p:sp>
        <p:nvSpPr>
          <p:cNvPr id="10" name="Text 7"/>
          <p:cNvSpPr/>
          <p:nvPr/>
        </p:nvSpPr>
        <p:spPr>
          <a:xfrm>
            <a:off x="640080" y="2852928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1508760" y="274320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6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System, boundary, surroundings</a:t>
            </a:r>
            <a:endParaRPr lang="en-US" sz="1550" dirty="0"/>
          </a:p>
          <a:p>
            <a:pPr indent="0" marL="0">
              <a:buNone/>
            </a:pPr>
            <a:r>
              <a:rPr lang="en-US" sz="12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Definitions with everyday examples</a:t>
            </a:r>
            <a:endParaRPr lang="en-US" sz="1550" dirty="0"/>
          </a:p>
        </p:txBody>
      </p:sp>
      <p:sp>
        <p:nvSpPr>
          <p:cNvPr id="12" name="Shape 9"/>
          <p:cNvSpPr/>
          <p:nvPr/>
        </p:nvSpPr>
        <p:spPr>
          <a:xfrm>
            <a:off x="932688" y="3483864"/>
            <a:ext cx="0" cy="256032"/>
          </a:xfrm>
          <a:prstGeom prst="line">
            <a:avLst/>
          </a:prstGeom>
          <a:noFill/>
          <a:ln w="19050">
            <a:solidFill>
              <a:srgbClr val="9DC3E6"/>
            </a:solidFill>
            <a:prstDash val="dash"/>
          </a:ln>
        </p:spPr>
      </p:sp>
      <p:sp>
        <p:nvSpPr>
          <p:cNvPr id="13" name="Shape 10"/>
          <p:cNvSpPr/>
          <p:nvPr/>
        </p:nvSpPr>
        <p:spPr>
          <a:xfrm>
            <a:off x="640080" y="3767328"/>
            <a:ext cx="603504" cy="603504"/>
          </a:xfrm>
          <a:prstGeom prst="ellipse">
            <a:avLst/>
          </a:prstGeom>
          <a:solidFill>
            <a:srgbClr val="F0714B"/>
          </a:solidFill>
          <a:ln/>
        </p:spPr>
      </p:sp>
      <p:sp>
        <p:nvSpPr>
          <p:cNvPr id="14" name="Text 11"/>
          <p:cNvSpPr/>
          <p:nvPr/>
        </p:nvSpPr>
        <p:spPr>
          <a:xfrm>
            <a:off x="640080" y="3767328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1508760" y="365760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6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 of systems</a:t>
            </a:r>
            <a:endParaRPr lang="en-US" sz="1550" dirty="0"/>
          </a:p>
          <a:p>
            <a:pPr indent="0" marL="0">
              <a:buNone/>
            </a:pPr>
            <a:r>
              <a:rPr lang="en-US" sz="12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Closed, open and isolated systems with mass/energy interaction</a:t>
            </a:r>
            <a:endParaRPr lang="en-US" sz="1550" dirty="0"/>
          </a:p>
        </p:txBody>
      </p:sp>
      <p:sp>
        <p:nvSpPr>
          <p:cNvPr id="16" name="Shape 13"/>
          <p:cNvSpPr/>
          <p:nvPr/>
        </p:nvSpPr>
        <p:spPr>
          <a:xfrm>
            <a:off x="932688" y="4398264"/>
            <a:ext cx="0" cy="256032"/>
          </a:xfrm>
          <a:prstGeom prst="line">
            <a:avLst/>
          </a:prstGeom>
          <a:noFill/>
          <a:ln w="19050">
            <a:solidFill>
              <a:srgbClr val="9DC3E6"/>
            </a:solidFill>
            <a:prstDash val="dash"/>
          </a:ln>
        </p:spPr>
      </p:sp>
      <p:sp>
        <p:nvSpPr>
          <p:cNvPr id="17" name="Shape 14"/>
          <p:cNvSpPr/>
          <p:nvPr/>
        </p:nvSpPr>
        <p:spPr>
          <a:xfrm>
            <a:off x="640080" y="4681728"/>
            <a:ext cx="603504" cy="603504"/>
          </a:xfrm>
          <a:prstGeom prst="ellipse">
            <a:avLst/>
          </a:prstGeom>
          <a:solidFill>
            <a:srgbClr val="F0714B"/>
          </a:solidFill>
          <a:ln/>
        </p:spPr>
      </p:sp>
      <p:sp>
        <p:nvSpPr>
          <p:cNvPr id="18" name="Text 15"/>
          <p:cNvSpPr/>
          <p:nvPr/>
        </p:nvSpPr>
        <p:spPr>
          <a:xfrm>
            <a:off x="640080" y="4681728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19" name="Text 16"/>
          <p:cNvSpPr/>
          <p:nvPr/>
        </p:nvSpPr>
        <p:spPr>
          <a:xfrm>
            <a:off x="1508760" y="457200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6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Properties, state, process, cycle</a:t>
            </a:r>
            <a:endParaRPr lang="en-US" sz="1550" dirty="0"/>
          </a:p>
          <a:p>
            <a:pPr indent="0" marL="0">
              <a:buNone/>
            </a:pPr>
            <a:r>
              <a:rPr lang="en-US" sz="12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Intensive vs extensive; point vs path functions</a:t>
            </a:r>
            <a:endParaRPr lang="en-US" sz="1550" dirty="0"/>
          </a:p>
        </p:txBody>
      </p:sp>
      <p:sp>
        <p:nvSpPr>
          <p:cNvPr id="20" name="Shape 17"/>
          <p:cNvSpPr/>
          <p:nvPr/>
        </p:nvSpPr>
        <p:spPr>
          <a:xfrm>
            <a:off x="932688" y="5312664"/>
            <a:ext cx="0" cy="256032"/>
          </a:xfrm>
          <a:prstGeom prst="line">
            <a:avLst/>
          </a:prstGeom>
          <a:noFill/>
          <a:ln w="19050">
            <a:solidFill>
              <a:srgbClr val="9DC3E6"/>
            </a:solidFill>
            <a:prstDash val="dash"/>
          </a:ln>
        </p:spPr>
      </p:sp>
      <p:sp>
        <p:nvSpPr>
          <p:cNvPr id="21" name="Shape 18"/>
          <p:cNvSpPr/>
          <p:nvPr/>
        </p:nvSpPr>
        <p:spPr>
          <a:xfrm>
            <a:off x="640080" y="5596128"/>
            <a:ext cx="603504" cy="603504"/>
          </a:xfrm>
          <a:prstGeom prst="ellipse">
            <a:avLst/>
          </a:prstGeom>
          <a:solidFill>
            <a:srgbClr val="16324F"/>
          </a:solidFill>
          <a:ln/>
        </p:spPr>
      </p:sp>
      <p:sp>
        <p:nvSpPr>
          <p:cNvPr id="22" name="Text 19"/>
          <p:cNvSpPr/>
          <p:nvPr/>
        </p:nvSpPr>
        <p:spPr>
          <a:xfrm>
            <a:off x="640080" y="5596128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23" name="Text 20"/>
          <p:cNvSpPr/>
          <p:nvPr/>
        </p:nvSpPr>
        <p:spPr>
          <a:xfrm>
            <a:off x="1508760" y="548640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6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example + recap</a:t>
            </a:r>
            <a:endParaRPr lang="en-US" sz="1550" dirty="0"/>
          </a:p>
          <a:p>
            <a:pPr indent="0" marL="0">
              <a:buNone/>
            </a:pPr>
            <a:r>
              <a:rPr lang="en-US" sz="12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Numerical on absolute / gauge / vacuum pressure; oral questions</a:t>
            </a:r>
            <a:endParaRPr lang="en-US" sz="15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071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1 • MOTIVATION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9326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16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You Will Meet Thermodynamics</a:t>
            </a:r>
            <a:endParaRPr lang="en-US" sz="2700" dirty="0"/>
          </a:p>
        </p:txBody>
      </p:sp>
      <p:pic>
        <p:nvPicPr>
          <p:cNvPr id="4" name="Image 0" descr="/home/claude/RIT_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22992" y="411480"/>
            <a:ext cx="1417320" cy="365962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21792" y="1892808"/>
            <a:ext cx="530352" cy="530352"/>
          </a:xfrm>
          <a:prstGeom prst="ellipse">
            <a:avLst/>
          </a:prstGeom>
          <a:solidFill>
            <a:srgbClr val="F0714B"/>
          </a:solidFill>
          <a:ln/>
        </p:spPr>
      </p:sp>
      <p:sp>
        <p:nvSpPr>
          <p:cNvPr id="6" name="Text 3"/>
          <p:cNvSpPr/>
          <p:nvPr/>
        </p:nvSpPr>
        <p:spPr>
          <a:xfrm>
            <a:off x="621792" y="1892808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1417320" y="1728216"/>
            <a:ext cx="1019556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generation</a:t>
            </a:r>
            <a:endParaRPr lang="en-US" sz="1500" dirty="0"/>
          </a:p>
          <a:p>
            <a:pPr indent="0" marL="0"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Steam and gas turbine plants convert heat from fuel into electricity — sized entirely by thermodynamic analysis.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621792" y="2825496"/>
            <a:ext cx="530352" cy="530352"/>
          </a:xfrm>
          <a:prstGeom prst="ellipse">
            <a:avLst/>
          </a:prstGeom>
          <a:solidFill>
            <a:srgbClr val="F0714B"/>
          </a:solidFill>
          <a:ln/>
        </p:spPr>
      </p:sp>
      <p:sp>
        <p:nvSpPr>
          <p:cNvPr id="9" name="Text 6"/>
          <p:cNvSpPr/>
          <p:nvPr/>
        </p:nvSpPr>
        <p:spPr>
          <a:xfrm>
            <a:off x="621792" y="2825496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1417320" y="2660904"/>
            <a:ext cx="1019556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 engines &amp; vehicles</a:t>
            </a:r>
            <a:endParaRPr lang="en-US" sz="1500" dirty="0"/>
          </a:p>
          <a:p>
            <a:pPr indent="0" marL="0"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Petrol and diesel engine cycles, efficiency and fuel economy come from the laws you learn in this unit.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621792" y="3758184"/>
            <a:ext cx="530352" cy="530352"/>
          </a:xfrm>
          <a:prstGeom prst="ellipse">
            <a:avLst/>
          </a:prstGeom>
          <a:solidFill>
            <a:srgbClr val="F0714B"/>
          </a:solidFill>
          <a:ln/>
        </p:spPr>
      </p:sp>
      <p:sp>
        <p:nvSpPr>
          <p:cNvPr id="12" name="Text 9"/>
          <p:cNvSpPr/>
          <p:nvPr/>
        </p:nvSpPr>
        <p:spPr>
          <a:xfrm>
            <a:off x="621792" y="3758184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1417320" y="3593592"/>
            <a:ext cx="1019556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Refrigeration &amp; air-conditioning</a:t>
            </a:r>
            <a:endParaRPr lang="en-US" sz="1500" dirty="0"/>
          </a:p>
          <a:p>
            <a:pPr indent="0" marL="0"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fridge and AC pump heat from cold to hot — possible only within second-law limits (Unit II).</a:t>
            </a:r>
            <a:endParaRPr lang="en-US" sz="1500" dirty="0"/>
          </a:p>
        </p:txBody>
      </p:sp>
      <p:sp>
        <p:nvSpPr>
          <p:cNvPr id="14" name="Shape 11"/>
          <p:cNvSpPr/>
          <p:nvPr/>
        </p:nvSpPr>
        <p:spPr>
          <a:xfrm>
            <a:off x="621792" y="4690872"/>
            <a:ext cx="530352" cy="530352"/>
          </a:xfrm>
          <a:prstGeom prst="ellipse">
            <a:avLst/>
          </a:prstGeom>
          <a:solidFill>
            <a:srgbClr val="F0714B"/>
          </a:solidFill>
          <a:ln/>
        </p:spPr>
      </p:sp>
      <p:sp>
        <p:nvSpPr>
          <p:cNvPr id="15" name="Text 12"/>
          <p:cNvSpPr/>
          <p:nvPr/>
        </p:nvSpPr>
        <p:spPr>
          <a:xfrm>
            <a:off x="621792" y="4690872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1417320" y="4526280"/>
            <a:ext cx="1019556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Aerospace &amp; propulsion</a:t>
            </a:r>
            <a:endParaRPr lang="en-US" sz="1500" dirty="0"/>
          </a:p>
          <a:p>
            <a:pPr indent="0" marL="0"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Jet engines and rockets are open systems analysed with the steady flow energy equation (this unit!).</a:t>
            </a:r>
            <a:endParaRPr lang="en-US" sz="1500" dirty="0"/>
          </a:p>
        </p:txBody>
      </p:sp>
      <p:sp>
        <p:nvSpPr>
          <p:cNvPr id="17" name="Shape 14"/>
          <p:cNvSpPr/>
          <p:nvPr/>
        </p:nvSpPr>
        <p:spPr>
          <a:xfrm>
            <a:off x="621792" y="5623560"/>
            <a:ext cx="530352" cy="530352"/>
          </a:xfrm>
          <a:prstGeom prst="ellipse">
            <a:avLst/>
          </a:prstGeom>
          <a:solidFill>
            <a:srgbClr val="F0714B"/>
          </a:solidFill>
          <a:ln/>
        </p:spPr>
      </p:sp>
      <p:sp>
        <p:nvSpPr>
          <p:cNvPr id="18" name="Text 15"/>
          <p:cNvSpPr/>
          <p:nvPr/>
        </p:nvSpPr>
        <p:spPr>
          <a:xfrm>
            <a:off x="621792" y="5623560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1417320" y="5458968"/>
            <a:ext cx="1019556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Everyday life</a:t>
            </a:r>
            <a:endParaRPr lang="en-US" sz="1500" dirty="0"/>
          </a:p>
          <a:p>
            <a:pPr indent="0" marL="0"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Pressure cooker, geyser, bike pump getting warm — all are thermodynamics in action.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071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1 • BASIC VOCABULARY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9326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16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System, Boundary and Surroundings</a:t>
            </a:r>
            <a:endParaRPr lang="en-US" sz="2700" dirty="0"/>
          </a:p>
        </p:txBody>
      </p:sp>
      <p:pic>
        <p:nvPicPr>
          <p:cNvPr id="4" name="Image 0" descr="/home/claude/RIT_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22992" y="411480"/>
            <a:ext cx="1417320" cy="36596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1783080"/>
            <a:ext cx="557784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1000"/>
              </a:spcAft>
              <a:buSzPct val="100000"/>
              <a:buChar char="•"/>
            </a:pPr>
            <a:r>
              <a:rPr lang="en-US" sz="1350" b="1" dirty="0">
                <a:solidFill>
                  <a:srgbClr val="16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— the quantity of matter or region in space chosen for study.</a:t>
            </a:r>
            <a:endParaRPr lang="en-US" sz="1350" dirty="0"/>
          </a:p>
          <a:p>
            <a:pPr marL="152400" indent="-1524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Surroundings — everything external to the system.</a:t>
            </a:r>
            <a:endParaRPr lang="en-US" sz="1350" dirty="0"/>
          </a:p>
          <a:p>
            <a:pPr marL="152400" indent="-152400">
              <a:spcAft>
                <a:spcPts val="1000"/>
              </a:spcAft>
              <a:buSzPct val="100000"/>
              <a:buChar char="•"/>
            </a:pPr>
            <a:r>
              <a:rPr lang="en-US" sz="1350" b="1" dirty="0">
                <a:solidFill>
                  <a:srgbClr val="16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Boundary — the real or imaginary surface separating the two.</a:t>
            </a:r>
            <a:endParaRPr lang="en-US" sz="1350" dirty="0"/>
          </a:p>
          <a:p>
            <a:pPr lvl="1" marL="304800" indent="-152400">
              <a:spcAft>
                <a:spcPts val="1000"/>
              </a:spcAft>
              <a:buSzPct val="100000"/>
              <a:buChar char="–"/>
            </a:pPr>
            <a:r>
              <a:rPr lang="en-US" sz="13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boundary may be fixed (rigid tank) or movable (piston).</a:t>
            </a:r>
            <a:endParaRPr lang="en-US" sz="1350" dirty="0"/>
          </a:p>
          <a:p>
            <a:pPr lvl="1" marL="304800" indent="-152400">
              <a:spcAft>
                <a:spcPts val="1000"/>
              </a:spcAft>
              <a:buSzPct val="100000"/>
              <a:buChar char="–"/>
            </a:pPr>
            <a:r>
              <a:rPr lang="en-US" sz="13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boundary has zero thickness — it contains no mass.</a:t>
            </a:r>
            <a:endParaRPr lang="en-US" sz="1350" dirty="0"/>
          </a:p>
          <a:p>
            <a:pPr marL="152400" indent="-1524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Choosing the system wisely is the first step of every problem.</a:t>
            </a:r>
            <a:endParaRPr lang="en-US" sz="1350" dirty="0"/>
          </a:p>
        </p:txBody>
      </p:sp>
      <p:sp>
        <p:nvSpPr>
          <p:cNvPr id="6" name="Shape 3"/>
          <p:cNvSpPr/>
          <p:nvPr/>
        </p:nvSpPr>
        <p:spPr>
          <a:xfrm>
            <a:off x="6400800" y="1783080"/>
            <a:ext cx="5239512" cy="3840480"/>
          </a:xfrm>
          <a:prstGeom prst="roundRect">
            <a:avLst>
              <a:gd name="adj" fmla="val 2381"/>
            </a:avLst>
          </a:prstGeom>
          <a:solidFill>
            <a:srgbClr val="EAF2FA"/>
          </a:solidFill>
          <a:ln w="12700">
            <a:solidFill>
              <a:srgbClr val="9DC3E6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537960" y="1892808"/>
            <a:ext cx="4965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SURROUNDINGS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7648956" y="2560320"/>
            <a:ext cx="274320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28575">
            <a:solidFill>
              <a:srgbClr val="16324F"/>
            </a:solidFill>
            <a:prstDash val="dash"/>
          </a:ln>
        </p:spPr>
      </p:sp>
      <p:sp>
        <p:nvSpPr>
          <p:cNvPr id="9" name="Shape 6"/>
          <p:cNvSpPr/>
          <p:nvPr/>
        </p:nvSpPr>
        <p:spPr>
          <a:xfrm>
            <a:off x="8014716" y="2880360"/>
            <a:ext cx="2011680" cy="1097280"/>
          </a:xfrm>
          <a:prstGeom prst="roundRect">
            <a:avLst>
              <a:gd name="adj" fmla="val 6667"/>
            </a:avLst>
          </a:prstGeom>
          <a:solidFill>
            <a:srgbClr val="2E75B6"/>
          </a:solidFill>
          <a:ln/>
        </p:spPr>
      </p:sp>
      <p:sp>
        <p:nvSpPr>
          <p:cNvPr id="10" name="Text 7"/>
          <p:cNvSpPr/>
          <p:nvPr/>
        </p:nvSpPr>
        <p:spPr>
          <a:xfrm>
            <a:off x="8014716" y="2880360"/>
            <a:ext cx="2011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7557516" y="4361688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16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Boundary (dashed)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6675120" y="3108960"/>
            <a:ext cx="1051560" cy="365760"/>
          </a:xfrm>
          <a:prstGeom prst="rightArrow">
            <a:avLst/>
          </a:prstGeom>
          <a:solidFill>
            <a:srgbClr val="F0714B"/>
          </a:solidFill>
          <a:ln/>
        </p:spPr>
      </p:sp>
      <p:sp>
        <p:nvSpPr>
          <p:cNvPr id="13" name="Text 10"/>
          <p:cNvSpPr/>
          <p:nvPr/>
        </p:nvSpPr>
        <p:spPr>
          <a:xfrm>
            <a:off x="6510528" y="352044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05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Energy in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10268712" y="3108960"/>
            <a:ext cx="1051560" cy="365760"/>
          </a:xfrm>
          <a:prstGeom prst="rightArrow">
            <a:avLst/>
          </a:prstGeom>
          <a:solidFill>
            <a:srgbClr val="F0714B"/>
          </a:solidFill>
          <a:ln/>
        </p:spPr>
      </p:sp>
      <p:sp>
        <p:nvSpPr>
          <p:cNvPr id="15" name="Text 12"/>
          <p:cNvSpPr/>
          <p:nvPr/>
        </p:nvSpPr>
        <p:spPr>
          <a:xfrm>
            <a:off x="10085832" y="352044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05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Energy out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6675120" y="4937760"/>
            <a:ext cx="46908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Mass may or may not cross the boundary depending on the type of system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548640" y="5760720"/>
            <a:ext cx="11091672" cy="566928"/>
          </a:xfrm>
          <a:prstGeom prst="roundRect">
            <a:avLst>
              <a:gd name="adj" fmla="val 14516"/>
            </a:avLst>
          </a:prstGeom>
          <a:solidFill>
            <a:srgbClr val="FDEDE6"/>
          </a:solidFill>
          <a:ln w="12700">
            <a:solidFill>
              <a:srgbClr val="F0714B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731520" y="5760720"/>
            <a:ext cx="107259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C05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POINT   </a:t>
            </a:r>
            <a:pPr indent="0" marL="0"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draw the system and its boundary before writing any equation — it decides which energies cross.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071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1 • CLASSIFICATION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9326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16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Types of Thermodynamic Systems</a:t>
            </a:r>
            <a:endParaRPr lang="en-US" sz="2700" dirty="0"/>
          </a:p>
        </p:txBody>
      </p:sp>
      <p:pic>
        <p:nvPicPr>
          <p:cNvPr id="4" name="Image 0" descr="/home/claude/RIT_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22992" y="411480"/>
            <a:ext cx="1417320" cy="365962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48640" y="1783080"/>
            <a:ext cx="3483864" cy="4343400"/>
          </a:xfrm>
          <a:prstGeom prst="roundRect">
            <a:avLst>
              <a:gd name="adj" fmla="val 2625"/>
            </a:avLst>
          </a:prstGeom>
          <a:solidFill>
            <a:srgbClr val="EAF2FA"/>
          </a:solidFill>
          <a:ln w="12700">
            <a:solidFill>
              <a:srgbClr val="9DC3E6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777240" y="2011680"/>
            <a:ext cx="566928" cy="566928"/>
          </a:xfrm>
          <a:prstGeom prst="ellipse">
            <a:avLst/>
          </a:prstGeom>
          <a:solidFill>
            <a:srgbClr val="2E75B6"/>
          </a:solidFill>
          <a:ln/>
        </p:spPr>
      </p:sp>
      <p:sp>
        <p:nvSpPr>
          <p:cNvPr id="7" name="Text 4"/>
          <p:cNvSpPr/>
          <p:nvPr/>
        </p:nvSpPr>
        <p:spPr>
          <a:xfrm>
            <a:off x="777240" y="20116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777240" y="2697480"/>
            <a:ext cx="30266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Closed System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777240" y="3200400"/>
            <a:ext cx="3026664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mass — no mass crosses the boundary</a:t>
            </a:r>
            <a:endParaRPr lang="en-US" sz="1200" dirty="0"/>
          </a:p>
          <a:p>
            <a:pPr marL="127000" indent="-1270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Energy (heat / work) CAN cross</a:t>
            </a:r>
            <a:endParaRPr lang="en-US" sz="1200" dirty="0"/>
          </a:p>
          <a:p>
            <a:pPr marL="127000" indent="-1270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Boundary may move (piston–cylinder)</a:t>
            </a:r>
            <a:endParaRPr lang="en-US" sz="1200" dirty="0"/>
          </a:p>
          <a:p>
            <a:pPr marL="127000" indent="-1270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Also called a control mass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777240" y="5650992"/>
            <a:ext cx="3026664" cy="310896"/>
          </a:xfrm>
          <a:prstGeom prst="roundRect">
            <a:avLst>
              <a:gd name="adj" fmla="val 50000"/>
            </a:avLst>
          </a:prstGeom>
          <a:solidFill>
            <a:srgbClr val="FDEDE6"/>
          </a:solidFill>
          <a:ln/>
        </p:spPr>
      </p:sp>
      <p:sp>
        <p:nvSpPr>
          <p:cNvPr id="11" name="Text 8"/>
          <p:cNvSpPr/>
          <p:nvPr/>
        </p:nvSpPr>
        <p:spPr>
          <a:xfrm>
            <a:off x="777240" y="5650992"/>
            <a:ext cx="30266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C05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gas in a sealed piston–cylinder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4352544" y="1783080"/>
            <a:ext cx="3483864" cy="4343400"/>
          </a:xfrm>
          <a:prstGeom prst="roundRect">
            <a:avLst>
              <a:gd name="adj" fmla="val 2625"/>
            </a:avLst>
          </a:prstGeom>
          <a:solidFill>
            <a:srgbClr val="EAF2FA"/>
          </a:solidFill>
          <a:ln w="12700">
            <a:solidFill>
              <a:srgbClr val="9DC3E6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4581144" y="2011680"/>
            <a:ext cx="566928" cy="566928"/>
          </a:xfrm>
          <a:prstGeom prst="ellipse">
            <a:avLst/>
          </a:prstGeom>
          <a:solidFill>
            <a:srgbClr val="2E75B6"/>
          </a:solidFill>
          <a:ln/>
        </p:spPr>
      </p:sp>
      <p:sp>
        <p:nvSpPr>
          <p:cNvPr id="14" name="Text 11"/>
          <p:cNvSpPr/>
          <p:nvPr/>
        </p:nvSpPr>
        <p:spPr>
          <a:xfrm>
            <a:off x="4581144" y="20116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4581144" y="2697480"/>
            <a:ext cx="30266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System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4581144" y="3200400"/>
            <a:ext cx="3026664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mass AND energy cross the boundary</a:t>
            </a:r>
            <a:endParaRPr lang="en-US" sz="1200" dirty="0"/>
          </a:p>
          <a:p>
            <a:pPr marL="127000" indent="-1270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Analysed as a control volume with a control surface</a:t>
            </a:r>
            <a:endParaRPr lang="en-US" sz="1200" dirty="0"/>
          </a:p>
          <a:p>
            <a:pPr marL="127000" indent="-1270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engineering devices are open systems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4581144" y="5650992"/>
            <a:ext cx="3026664" cy="310896"/>
          </a:xfrm>
          <a:prstGeom prst="roundRect">
            <a:avLst>
              <a:gd name="adj" fmla="val 50000"/>
            </a:avLst>
          </a:prstGeom>
          <a:solidFill>
            <a:srgbClr val="FDEDE6"/>
          </a:solidFill>
          <a:ln/>
        </p:spPr>
      </p:sp>
      <p:sp>
        <p:nvSpPr>
          <p:cNvPr id="18" name="Text 15"/>
          <p:cNvSpPr/>
          <p:nvPr/>
        </p:nvSpPr>
        <p:spPr>
          <a:xfrm>
            <a:off x="4581144" y="5650992"/>
            <a:ext cx="30266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C05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turbine, compressor, boiler, nozzle</a:t>
            </a:r>
            <a:endParaRPr lang="en-US" sz="1050" dirty="0"/>
          </a:p>
        </p:txBody>
      </p:sp>
      <p:sp>
        <p:nvSpPr>
          <p:cNvPr id="19" name="Shape 16"/>
          <p:cNvSpPr/>
          <p:nvPr/>
        </p:nvSpPr>
        <p:spPr>
          <a:xfrm>
            <a:off x="8156448" y="1783080"/>
            <a:ext cx="3483864" cy="4343400"/>
          </a:xfrm>
          <a:prstGeom prst="roundRect">
            <a:avLst>
              <a:gd name="adj" fmla="val 2625"/>
            </a:avLst>
          </a:prstGeom>
          <a:solidFill>
            <a:srgbClr val="EAF2FA"/>
          </a:solidFill>
          <a:ln w="12700">
            <a:solidFill>
              <a:srgbClr val="9DC3E6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8385048" y="2011680"/>
            <a:ext cx="566928" cy="566928"/>
          </a:xfrm>
          <a:prstGeom prst="ellipse">
            <a:avLst/>
          </a:prstGeom>
          <a:solidFill>
            <a:srgbClr val="2E75B6"/>
          </a:solidFill>
          <a:ln/>
        </p:spPr>
      </p:sp>
      <p:sp>
        <p:nvSpPr>
          <p:cNvPr id="21" name="Text 18"/>
          <p:cNvSpPr/>
          <p:nvPr/>
        </p:nvSpPr>
        <p:spPr>
          <a:xfrm>
            <a:off x="8385048" y="20116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8385048" y="2697480"/>
            <a:ext cx="30266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Isolated System</a:t>
            </a:r>
            <a:endParaRPr lang="en-US" sz="1600" dirty="0"/>
          </a:p>
        </p:txBody>
      </p:sp>
      <p:sp>
        <p:nvSpPr>
          <p:cNvPr id="23" name="Text 20"/>
          <p:cNvSpPr/>
          <p:nvPr/>
        </p:nvSpPr>
        <p:spPr>
          <a:xfrm>
            <a:off x="8385048" y="3200400"/>
            <a:ext cx="3026664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Neither mass nor energy crosses</a:t>
            </a:r>
            <a:endParaRPr lang="en-US" sz="1200" dirty="0"/>
          </a:p>
          <a:p>
            <a:pPr marL="127000" indent="-1270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interaction with surroundings at all</a:t>
            </a:r>
            <a:endParaRPr lang="en-US" sz="1200" dirty="0"/>
          </a:p>
          <a:p>
            <a:pPr marL="127000" indent="-1270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+ surroundings together form an isolated universe</a:t>
            </a:r>
            <a:endParaRPr lang="en-US" sz="1200" dirty="0"/>
          </a:p>
        </p:txBody>
      </p:sp>
      <p:sp>
        <p:nvSpPr>
          <p:cNvPr id="24" name="Shape 21"/>
          <p:cNvSpPr/>
          <p:nvPr/>
        </p:nvSpPr>
        <p:spPr>
          <a:xfrm>
            <a:off x="8385048" y="5650992"/>
            <a:ext cx="3026664" cy="310896"/>
          </a:xfrm>
          <a:prstGeom prst="roundRect">
            <a:avLst>
              <a:gd name="adj" fmla="val 50000"/>
            </a:avLst>
          </a:prstGeom>
          <a:solidFill>
            <a:srgbClr val="FDEDE6"/>
          </a:solidFill>
          <a:ln/>
        </p:spPr>
      </p:sp>
      <p:sp>
        <p:nvSpPr>
          <p:cNvPr id="25" name="Text 22"/>
          <p:cNvSpPr/>
          <p:nvPr/>
        </p:nvSpPr>
        <p:spPr>
          <a:xfrm>
            <a:off x="8385048" y="5650992"/>
            <a:ext cx="30266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C05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ideal thermos flask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071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1 • PROPERTIES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9326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16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Intensive vs Extensive Properties</a:t>
            </a:r>
            <a:endParaRPr lang="en-US" sz="2700" dirty="0"/>
          </a:p>
        </p:txBody>
      </p:sp>
      <p:pic>
        <p:nvPicPr>
          <p:cNvPr id="4" name="Image 0" descr="/home/claude/RIT_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22992" y="411480"/>
            <a:ext cx="1417320" cy="365962"/>
          </a:xfrm>
          <a:prstGeom prst="rect">
            <a:avLst/>
          </a:prstGeom>
        </p:spPr>
      </p:pic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91672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4069080"/>
                <a:gridCol w="4096512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Basis of comparison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Intensive property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Extensive property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Depends on mass?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Independent of mass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Depends on (proportional to) mass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 dividing the system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Value remains the same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Value is halved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Examples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Pressure, Temperature, Density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Volume, Energy, Enthalpy, Entropy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Specific value (per kg)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 (already intensive)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Becomes intensive: v, u, h, 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Symbol convention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p, T, ρ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V, U, H, S (capital letters)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2"/>
          <p:cNvSpPr/>
          <p:nvPr/>
        </p:nvSpPr>
        <p:spPr>
          <a:xfrm>
            <a:off x="548640" y="5760720"/>
            <a:ext cx="11091672" cy="566928"/>
          </a:xfrm>
          <a:prstGeom prst="roundRect">
            <a:avLst>
              <a:gd name="adj" fmla="val 14516"/>
            </a:avLst>
          </a:prstGeom>
          <a:solidFill>
            <a:srgbClr val="FDEDE6"/>
          </a:solidFill>
          <a:ln w="12700">
            <a:solidFill>
              <a:srgbClr val="F0714B"/>
            </a:solidFill>
            <a:prstDash val="solid"/>
          </a:ln>
        </p:spPr>
      </p:sp>
      <p:sp>
        <p:nvSpPr>
          <p:cNvPr id="7" name="Text 3"/>
          <p:cNvSpPr/>
          <p:nvPr/>
        </p:nvSpPr>
        <p:spPr>
          <a:xfrm>
            <a:off x="731520" y="5760720"/>
            <a:ext cx="107259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C05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POINT   </a:t>
            </a:r>
            <a:pPr indent="0" marL="0"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test: mentally cut the system in half — if the value changes, the property is extensive.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071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1 • THE LANGUAGE OF CHANGE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9326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16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State, Process, Path and Cycle — and Two Kinds of Functions</a:t>
            </a:r>
            <a:endParaRPr lang="en-US" sz="2700" dirty="0"/>
          </a:p>
        </p:txBody>
      </p:sp>
      <p:pic>
        <p:nvPicPr>
          <p:cNvPr id="4" name="Image 0" descr="/home/claude/RIT_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22992" y="411480"/>
            <a:ext cx="1417320" cy="365962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21792" y="2009394"/>
            <a:ext cx="530352" cy="530352"/>
          </a:xfrm>
          <a:prstGeom prst="ellipse">
            <a:avLst/>
          </a:prstGeom>
          <a:solidFill>
            <a:srgbClr val="F0714B"/>
          </a:solidFill>
          <a:ln/>
        </p:spPr>
      </p:sp>
      <p:sp>
        <p:nvSpPr>
          <p:cNvPr id="6" name="Text 3"/>
          <p:cNvSpPr/>
          <p:nvPr/>
        </p:nvSpPr>
        <p:spPr>
          <a:xfrm>
            <a:off x="621792" y="2009394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1417320" y="1728216"/>
            <a:ext cx="10195560" cy="10927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&amp; process</a:t>
            </a:r>
            <a:endParaRPr lang="en-US" sz="1500" dirty="0"/>
          </a:p>
          <a:p>
            <a:pPr indent="0" marL="0"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State: the condition described by properties (p, V, T, ...). Process: change from one equilibrium state to another — isobaric, isochoric, isothermal, adiabatic.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621792" y="3175254"/>
            <a:ext cx="530352" cy="530352"/>
          </a:xfrm>
          <a:prstGeom prst="ellipse">
            <a:avLst/>
          </a:prstGeom>
          <a:solidFill>
            <a:srgbClr val="F0714B"/>
          </a:solidFill>
          <a:ln/>
        </p:spPr>
      </p:sp>
      <p:sp>
        <p:nvSpPr>
          <p:cNvPr id="9" name="Text 6"/>
          <p:cNvSpPr/>
          <p:nvPr/>
        </p:nvSpPr>
        <p:spPr>
          <a:xfrm>
            <a:off x="621792" y="3175254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1417320" y="2894076"/>
            <a:ext cx="10195560" cy="10927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 &amp; cycle</a:t>
            </a:r>
            <a:endParaRPr lang="en-US" sz="1500" dirty="0"/>
          </a:p>
          <a:p>
            <a:pPr indent="0" marL="0"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Path: the series of states passed through (the curve on the p-V diagram). Cycle: processes returning to the initial state — net change of every property = 0.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621792" y="4341114"/>
            <a:ext cx="530352" cy="530352"/>
          </a:xfrm>
          <a:prstGeom prst="ellipse">
            <a:avLst/>
          </a:prstGeom>
          <a:solidFill>
            <a:srgbClr val="F0714B"/>
          </a:solidFill>
          <a:ln/>
        </p:spPr>
      </p:sp>
      <p:sp>
        <p:nvSpPr>
          <p:cNvPr id="12" name="Text 9"/>
          <p:cNvSpPr/>
          <p:nvPr/>
        </p:nvSpPr>
        <p:spPr>
          <a:xfrm>
            <a:off x="621792" y="4341114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1417320" y="4059936"/>
            <a:ext cx="10195560" cy="10927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 functions</a:t>
            </a:r>
            <a:endParaRPr lang="en-US" sz="1500" dirty="0"/>
          </a:p>
          <a:p>
            <a:pPr indent="0" marL="0"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 on end states only; exact differentials (dp, dV, dT); ∮ d(property) = 0. All properties are point functions.</a:t>
            </a:r>
            <a:endParaRPr lang="en-US" sz="1500" dirty="0"/>
          </a:p>
        </p:txBody>
      </p:sp>
      <p:sp>
        <p:nvSpPr>
          <p:cNvPr id="14" name="Shape 11"/>
          <p:cNvSpPr/>
          <p:nvPr/>
        </p:nvSpPr>
        <p:spPr>
          <a:xfrm>
            <a:off x="621792" y="5506974"/>
            <a:ext cx="530352" cy="530352"/>
          </a:xfrm>
          <a:prstGeom prst="ellipse">
            <a:avLst/>
          </a:prstGeom>
          <a:solidFill>
            <a:srgbClr val="F0714B"/>
          </a:solidFill>
          <a:ln/>
        </p:spPr>
      </p:sp>
      <p:sp>
        <p:nvSpPr>
          <p:cNvPr id="15" name="Text 12"/>
          <p:cNvSpPr/>
          <p:nvPr/>
        </p:nvSpPr>
        <p:spPr>
          <a:xfrm>
            <a:off x="621792" y="5506974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1417320" y="5225796"/>
            <a:ext cx="10195560" cy="10927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 functions</a:t>
            </a:r>
            <a:endParaRPr lang="en-US" sz="1500" dirty="0"/>
          </a:p>
          <a:p>
            <a:pPr indent="0" marL="0"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 on the path followed; inexact differentials (δQ, δW). Heat and work are NOT properties — a system possesses energy, never "heat" or "work".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071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1 • BOARD EXAMPLE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9326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16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Absolute, Gauge and Vacuum Pressure</a:t>
            </a:r>
            <a:endParaRPr lang="en-US" sz="2700" dirty="0"/>
          </a:p>
        </p:txBody>
      </p:sp>
      <p:pic>
        <p:nvPicPr>
          <p:cNvPr id="4" name="Image 0" descr="/home/claude/RIT_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22992" y="411480"/>
            <a:ext cx="1417320" cy="365962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48640" y="1691640"/>
            <a:ext cx="11091672" cy="960120"/>
          </a:xfrm>
          <a:prstGeom prst="roundRect">
            <a:avLst>
              <a:gd name="adj" fmla="val 8571"/>
            </a:avLst>
          </a:prstGeom>
          <a:solidFill>
            <a:srgbClr val="EAF2FA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77240" y="1691640"/>
            <a:ext cx="10607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  </a:t>
            </a:r>
            <a:pPr indent="0" marL="0"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pressure gauge on a compressed-air tank reads 120 kPa, while a vacuum gauge on a condenser reads 66 kPa. The barometer reads 101.3 kPa. Find the absolute pressure in the tank and in the condenser.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548640" y="278892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548640" y="3154680"/>
            <a:ext cx="749808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thermodynamic relations need ABSOLUTE pressure.</a:t>
            </a:r>
            <a:endParaRPr lang="en-US" sz="125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Tank (above atmospheric): p_abs = p_atm + p_gauge = 101.3 + 120 = 221.3 kPa</a:t>
            </a:r>
            <a:endParaRPr lang="en-US" sz="125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Condenser (below atmospheric): p_abs = p_atm − p_vacuum = 101.3 − 66 = 35.3 kPa</a:t>
            </a:r>
            <a:endParaRPr lang="en-US" sz="125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Sanity check: a vacuum reading can never exceed the barometric pressure.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8321040" y="3154680"/>
            <a:ext cx="3319272" cy="1554480"/>
          </a:xfrm>
          <a:prstGeom prst="roundRect">
            <a:avLst>
              <a:gd name="adj" fmla="val 5882"/>
            </a:avLst>
          </a:prstGeom>
          <a:solidFill>
            <a:srgbClr val="16324F"/>
          </a:solidFill>
          <a:ln/>
        </p:spPr>
      </p:sp>
      <p:sp>
        <p:nvSpPr>
          <p:cNvPr id="10" name="Text 7"/>
          <p:cNvSpPr/>
          <p:nvPr/>
        </p:nvSpPr>
        <p:spPr>
          <a:xfrm>
            <a:off x="8503920" y="3154680"/>
            <a:ext cx="29718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071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</a:t>
            </a:r>
            <a:endParaRPr lang="en-US" sz="1100" dirty="0"/>
          </a:p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Tank: 221.3 kPa</a:t>
            </a:r>
            <a:endParaRPr lang="en-US" sz="1100" dirty="0"/>
          </a:p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Condenser: 35.3 kPa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548640" y="5806440"/>
            <a:ext cx="11091672" cy="530352"/>
          </a:xfrm>
          <a:prstGeom prst="roundRect">
            <a:avLst>
              <a:gd name="adj" fmla="val 15517"/>
            </a:avLst>
          </a:prstGeom>
          <a:solidFill>
            <a:srgbClr val="FDEDE6"/>
          </a:solidFill>
          <a:ln w="12700">
            <a:solidFill>
              <a:srgbClr val="F0714B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31520" y="5806440"/>
            <a:ext cx="1072591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C05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POINT   </a:t>
            </a:r>
            <a:pPr indent="0" marL="0"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pV = mRT and all property relations, always substitute absolute pressure — never the gauge reading.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071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1 • LECTURE 1 • WRAP-UP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9326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16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 &amp; What Comes Next</a:t>
            </a:r>
            <a:endParaRPr lang="en-US" sz="2700" dirty="0"/>
          </a:p>
        </p:txBody>
      </p:sp>
      <p:pic>
        <p:nvPicPr>
          <p:cNvPr id="4" name="Image 0" descr="/home/claude/RIT_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22992" y="411480"/>
            <a:ext cx="1417320" cy="36596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17373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 we covered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548640" y="2194560"/>
            <a:ext cx="640080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Thermodynamics = science of energy, heat and work interactions</a:t>
            </a:r>
            <a:endParaRPr lang="en-US" sz="1350" dirty="0"/>
          </a:p>
          <a:p>
            <a:pPr marL="152400" indent="-1524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/ boundary / surroundings vocabulary</a:t>
            </a:r>
            <a:endParaRPr lang="en-US" sz="1350" dirty="0"/>
          </a:p>
          <a:p>
            <a:pPr marL="152400" indent="-1524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Closed vs open vs isolated systems</a:t>
            </a:r>
            <a:endParaRPr lang="en-US" sz="1350" dirty="0"/>
          </a:p>
          <a:p>
            <a:pPr marL="152400" indent="-1524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Intensive vs extensive properties; state, process, path and cycle</a:t>
            </a:r>
            <a:endParaRPr lang="en-US" sz="1350" dirty="0"/>
          </a:p>
          <a:p>
            <a:pPr marL="152400" indent="-1524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p_abs = p_atm + p_gauge; p_abs = p_atm − p_vacuum</a:t>
            </a:r>
            <a:endParaRPr lang="en-US" sz="1350" dirty="0"/>
          </a:p>
        </p:txBody>
      </p:sp>
      <p:sp>
        <p:nvSpPr>
          <p:cNvPr id="7" name="Shape 4"/>
          <p:cNvSpPr/>
          <p:nvPr/>
        </p:nvSpPr>
        <p:spPr>
          <a:xfrm>
            <a:off x="7406640" y="1920240"/>
            <a:ext cx="4233672" cy="3657600"/>
          </a:xfrm>
          <a:prstGeom prst="roundRect">
            <a:avLst>
              <a:gd name="adj" fmla="val 2500"/>
            </a:avLst>
          </a:prstGeom>
          <a:solidFill>
            <a:srgbClr val="16324F"/>
          </a:solidFill>
          <a:ln/>
        </p:spPr>
      </p:sp>
      <p:sp>
        <p:nvSpPr>
          <p:cNvPr id="8" name="Text 5"/>
          <p:cNvSpPr/>
          <p:nvPr/>
        </p:nvSpPr>
        <p:spPr>
          <a:xfrm>
            <a:off x="7680960" y="2103120"/>
            <a:ext cx="370332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F071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CLASS</a:t>
            </a:r>
            <a:endParaRPr lang="en-US" sz="1150" dirty="0"/>
          </a:p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2 — Thermodynamic Equilibrium &amp; Quasi-static Process</a:t>
            </a:r>
            <a:endParaRPr lang="en-US" sz="1150" dirty="0"/>
          </a:p>
          <a:p>
            <a:pPr indent="0" marL="0">
              <a:buNone/>
            </a:pPr>
            <a:r>
              <a:rPr lang="en-US" sz="1250" dirty="0">
                <a:solidFill>
                  <a:srgbClr val="9DC3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Conditions of equilibrium, and why we idealise processes as infinitely slow.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548640" y="598932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Text: P.K. Nag, "Engineering Thermodynamics", 6th Edn., TMH — Ch. 1 (Introduction)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2026-08-19T04:07:30Z</dcterms:created>
  <dcterms:modified xsi:type="dcterms:W3CDTF">2026-08-19T04:07:30Z</dcterms:modified>
</cp:coreProperties>
</file>