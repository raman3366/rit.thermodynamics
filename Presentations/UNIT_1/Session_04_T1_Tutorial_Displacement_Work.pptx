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852160" cy="5852160"/>
          </a:xfrm>
          <a:prstGeom prst="ellipse">
            <a:avLst/>
          </a:prstGeom>
          <a:solidFill>
            <a:srgbClr val="1F4E7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937760"/>
            <a:ext cx="4206240" cy="4206240"/>
          </a:xfrm>
          <a:prstGeom prst="ellipse">
            <a:avLst/>
          </a:prstGeom>
          <a:solidFill>
            <a:srgbClr val="2E75B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57200"/>
            <a:ext cx="39776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pic>
        <p:nvPicPr>
          <p:cNvPr id="5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39534"/>
            <a:ext cx="3611880" cy="9326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0060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ME23312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THERMODYNAMICS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– Basics, Zeroth and First Law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F0714B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148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• TUTORIAL 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1: Problems on Displacement Work &amp; p-V Diagram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48640" y="4069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worked problems on the board + additional practice problems with answers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50749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Anantha Raman L., M.E., Ph.D.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Mechanical Engineering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Rajalakshmi Institute of Technology, Chennai, Tamil Nadu.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• TUTORIAL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Outline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9385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9385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08760" y="1828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recall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One-minute review of the five work formulas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32688" y="25694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640080" y="28529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8529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508760" y="2743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 — constant pressure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application of W = pΔV with unit conversion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932688" y="34838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640080" y="37673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673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508760" y="3657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— polytropic process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p₂ from pVⁿ = C, then work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932688" y="43982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640080" y="46817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6817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508760" y="4572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3 — isothermal process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Logarithmic work formula in mass form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932688" y="53126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640080" y="5596128"/>
            <a:ext cx="603504" cy="603504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55961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508760" y="5486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4 + recap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Two-step process (p = C then V = C); key takeaways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1 • WORKED PROBLEM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Pressure Expansion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EAF2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6916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gas expands at a constant pressure of 3 bar from a volume of 0.05 m³ to 0.20 m³. Determine the work done by the gas.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154680"/>
            <a:ext cx="7498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process: constant pressure → W = p (V₂ − V₁)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pressure to SI: p = 3 bar = 3 × 100 kPa = 300 kPa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ΔV = V₂ − V₁ = 0.20 − 0.05 = 0.15 m³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300 kPa × 0.15 m³ = 45 kJ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is positive → expansion; work is done BY the gas on the surroundings.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321040" y="3154680"/>
            <a:ext cx="3319272" cy="1554480"/>
          </a:xfrm>
          <a:prstGeom prst="roundRect">
            <a:avLst>
              <a:gd name="adj" fmla="val 5882"/>
            </a:avLst>
          </a:prstGeom>
          <a:solidFill>
            <a:srgbClr val="16324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3154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+ 45 kJ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5806440"/>
            <a:ext cx="11091672" cy="530352"/>
          </a:xfrm>
          <a:prstGeom prst="roundRect">
            <a:avLst>
              <a:gd name="adj" fmla="val 15517"/>
            </a:avLst>
          </a:prstGeom>
          <a:solidFill>
            <a:srgbClr val="FDEDE6"/>
          </a:solidFill>
          <a:ln w="12700">
            <a:solidFill>
              <a:srgbClr val="F071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5806440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bar = 100 kPa = 10⁵ Pa. kPa × m³ gives kJ directly — the cleanest unit set.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1 • WORKED PROBLEM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Polytropic Compression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EAF2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6916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(0.3 m³ at 1 bar) is compressed following pV¹·³ = constant to a final volume of 0.05 m³. Find the final pressure and the work done.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154680"/>
            <a:ext cx="7498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pressure: p₂ = p₁ (V₁/V₂)ⁿ = 1 × (0.3/0.05)¹·³ = 6¹·³ = 10.27 bar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Convert: p₁ = 100 kPa, p₂ = 1027 kPa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(p₁V₁ − p₂V₂)/(n − 1) = (100×0.3 − 1027×0.05)/(1.3 − 1)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(30 − 51.35)/0.3 = −21.35/0.3 = −71.2 kJ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sign → work is done ON the air (compression), as expected.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321040" y="3154680"/>
            <a:ext cx="3319272" cy="1554480"/>
          </a:xfrm>
          <a:prstGeom prst="roundRect">
            <a:avLst>
              <a:gd name="adj" fmla="val 5882"/>
            </a:avLst>
          </a:prstGeom>
          <a:solidFill>
            <a:srgbClr val="16324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3154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p₂ ≈ 10.27 bar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≈ − 71.2 kJ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5806440"/>
            <a:ext cx="11091672" cy="530352"/>
          </a:xfrm>
          <a:prstGeom prst="roundRect">
            <a:avLst>
              <a:gd name="adj" fmla="val 15517"/>
            </a:avLst>
          </a:prstGeom>
          <a:solidFill>
            <a:srgbClr val="FDEDE6"/>
          </a:solidFill>
          <a:ln w="12700">
            <a:solidFill>
              <a:srgbClr val="F071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5806440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compression V₂ &lt; V₁, the numerator turns negative automatically — never force the sign by hand.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1 • WORKED PROBLEM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Isothermal Expansion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EAF2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6916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kg of air (R = 0.287 kJ/kg·K) at 400 K expands isothermally until its volume doubles. Calculate the work done.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154680"/>
            <a:ext cx="7498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Isothermal ideal gas: W = mRT ln(V₂/V₁)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V₂/V₁ = 2 → ln 2 = 0.6931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0.5 × 0.287 × 400 × 0.6931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57.4 × 0.6931 = 39.79 kJ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expansion → W positive. For an ideal gas at constant T, Q = W (preview of the first law!).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321040" y="3154680"/>
            <a:ext cx="3319272" cy="1554480"/>
          </a:xfrm>
          <a:prstGeom prst="roundRect">
            <a:avLst>
              <a:gd name="adj" fmla="val 5882"/>
            </a:avLst>
          </a:prstGeom>
          <a:solidFill>
            <a:srgbClr val="16324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3154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≈ + 39.8 kJ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5806440"/>
            <a:ext cx="11091672" cy="530352"/>
          </a:xfrm>
          <a:prstGeom prst="roundRect">
            <a:avLst>
              <a:gd name="adj" fmla="val 15517"/>
            </a:avLst>
          </a:prstGeom>
          <a:solidFill>
            <a:srgbClr val="FDEDE6"/>
          </a:solidFill>
          <a:ln w="12700">
            <a:solidFill>
              <a:srgbClr val="F071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5806440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mRT has units kJ when R is in kJ/kg·K — keep R in kJ throughout this course.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1 • WORKED PROBLEM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a Two-step Process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EAF2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6916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gas at 1 bar, 0.10 m³ is (i) heated at constant pressure until its volume becomes 0.30 m³, then (ii) heated at constant volume until its pressure becomes 3 bar. Find the total work done and sketch the p-V diagram.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154680"/>
            <a:ext cx="7498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(i), constant p: W₁ = pΔV = 100 kPa × (0.30 − 0.10) = 20 kJ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(ii), constant V: W₂ = 0 (no volume change — vertical line on p-V)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W = W₁ + W₂ = 20 + 0 = 20 kJ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 sketch: horizontal line (1→2) then vertical line (2→3); area lies only under the horizontal part.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321040" y="3154680"/>
            <a:ext cx="3319272" cy="1554480"/>
          </a:xfrm>
          <a:prstGeom prst="roundRect">
            <a:avLst>
              <a:gd name="adj" fmla="val 5882"/>
            </a:avLst>
          </a:prstGeom>
          <a:solidFill>
            <a:srgbClr val="16324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3154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W_total = + 20 kJ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5806440"/>
            <a:ext cx="11091672" cy="530352"/>
          </a:xfrm>
          <a:prstGeom prst="roundRect">
            <a:avLst>
              <a:gd name="adj" fmla="val 15517"/>
            </a:avLst>
          </a:prstGeom>
          <a:solidFill>
            <a:srgbClr val="FDEDE6"/>
          </a:solidFill>
          <a:ln w="12700">
            <a:solidFill>
              <a:srgbClr val="F071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5806440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multi-step problems, work comes only from steps where the volume changes.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1 • MORE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Practice Problems — Answers Provided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" y="200939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6" name="Text 3"/>
          <p:cNvSpPr/>
          <p:nvPr/>
        </p:nvSpPr>
        <p:spPr>
          <a:xfrm>
            <a:off x="621792" y="200939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17320" y="1728216"/>
            <a:ext cx="1019556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pressure + piston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piston–cylinder holds 0.1 m³ of gas at 2 bar. Heat is added until the volume becomes 0.25 m³ at constant pressure. Find the work done. [Ans: 30 kJ]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792" y="317525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317525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17320" y="2894076"/>
            <a:ext cx="1019556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Polytropic expansion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gas at 8 bar, 0.02 m³ expands to 1 bar following pV¹·⁴ = C. Find V₂ and the work done. [Ans: V₂ ≈ 0.0885 m³, W ≈ +17.9 kJ]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1792" y="434111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" y="434111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17320" y="4059936"/>
            <a:ext cx="1019556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expansion (concept trap)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vessel is divided by a partition: gas on one side, vacuum on the other. The partition is removed. How much displacement work is done? Justify. [Ans: W = 0 — no resisting pressure]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" y="550697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550697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417320" y="5225796"/>
            <a:ext cx="1019556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checklist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p-V sketch → state the process law → list given data in SI → formula → substitute → box the answer with sign and unit.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• TUTORIAL 1 • 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What Comes Next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covered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219456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every quantity to SI before substituting (bar → kPa: ×100)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process first — the process picks the formula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Polytropic: get the unknown end state from p₁V₁ⁿ = p₂V₂ⁿ before computing W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processes: compute W for each step and add algebraically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the p-V diagram for every problem — it earns marks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406640" y="1920240"/>
            <a:ext cx="4233672" cy="3657600"/>
          </a:xfrm>
          <a:prstGeom prst="roundRect">
            <a:avLst>
              <a:gd name="adj" fmla="val 2500"/>
            </a:avLst>
          </a:prstGeom>
          <a:solidFill>
            <a:srgbClr val="16324F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0" y="2103120"/>
            <a:ext cx="3703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</a:t>
            </a:r>
            <a:endParaRPr lang="en-US" sz="115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 — Thermal Equilibrium, Zeroth Law &amp; Temperature</a:t>
            </a:r>
            <a:endParaRPr lang="en-US" sz="1150" dirty="0"/>
          </a:p>
          <a:p>
            <a:pPr indent="0" marL="0">
              <a:buNone/>
            </a:pPr>
            <a:r>
              <a:rPr lang="en-US" sz="12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thermometer works: the zeroth law and thermometric properties.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P.K. Nag, "Engineering Thermodynamics", 6th Edn., TMH — Ch. 3 (Work and Heat Transfer)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2026-08-19T04:07:30Z</dcterms:created>
  <dcterms:modified xsi:type="dcterms:W3CDTF">2026-08-19T04:07:30Z</dcterms:modified>
</cp:coreProperties>
</file>