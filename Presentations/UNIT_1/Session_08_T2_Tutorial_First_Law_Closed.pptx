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595360" y="-2011680"/>
            <a:ext cx="5852160" cy="5852160"/>
          </a:xfrm>
          <a:prstGeom prst="ellipse">
            <a:avLst/>
          </a:prstGeom>
          <a:solidFill>
            <a:srgbClr val="1F4E79">
              <a:alpha val="45000"/>
            </a:srgbClr>
          </a:solidFill>
          <a:ln/>
        </p:spPr>
      </p:sp>
      <p:sp>
        <p:nvSpPr>
          <p:cNvPr id="3" name="Shape 1"/>
          <p:cNvSpPr/>
          <p:nvPr/>
        </p:nvSpPr>
        <p:spPr>
          <a:xfrm>
            <a:off x="-1645920" y="4937760"/>
            <a:ext cx="4206240" cy="4206240"/>
          </a:xfrm>
          <a:prstGeom prst="ellipse">
            <a:avLst/>
          </a:prstGeom>
          <a:solidFill>
            <a:srgbClr val="2E75B6">
              <a:alpha val="30000"/>
            </a:srgbClr>
          </a:solidFill>
          <a:ln/>
        </p:spPr>
      </p:sp>
      <p:sp>
        <p:nvSpPr>
          <p:cNvPr id="4" name="Shape 2"/>
          <p:cNvSpPr/>
          <p:nvPr/>
        </p:nvSpPr>
        <p:spPr>
          <a:xfrm>
            <a:off x="502920" y="457200"/>
            <a:ext cx="3977640" cy="1097280"/>
          </a:xfrm>
          <a:prstGeom prst="roundRect">
            <a:avLst>
              <a:gd name="adj" fmla="val 10000"/>
            </a:avLst>
          </a:prstGeom>
          <a:solidFill>
            <a:srgbClr val="FFFFFF"/>
          </a:solidFill>
          <a:ln/>
        </p:spPr>
      </p:sp>
      <p:pic>
        <p:nvPicPr>
          <p:cNvPr id="5" name="Image 0" descr="/home/claude/RIT_LOGO.jpg">    </p:cNvPr>
          <p:cNvPicPr>
            <a:picLocks noChangeAspect="1"/>
          </p:cNvPicPr>
          <p:nvPr/>
        </p:nvPicPr>
        <p:blipFill>
          <a:blip r:embed="rId1"/>
          <a:stretch>
            <a:fillRect/>
          </a:stretch>
        </p:blipFill>
        <p:spPr>
          <a:xfrm>
            <a:off x="685800" y="539534"/>
            <a:ext cx="3611880" cy="932613"/>
          </a:xfrm>
          <a:prstGeom prst="rect">
            <a:avLst/>
          </a:prstGeom>
        </p:spPr>
      </p:pic>
      <p:sp>
        <p:nvSpPr>
          <p:cNvPr id="6" name="Text 3"/>
          <p:cNvSpPr/>
          <p:nvPr/>
        </p:nvSpPr>
        <p:spPr>
          <a:xfrm>
            <a:off x="4800600" y="457200"/>
            <a:ext cx="6858000" cy="1097280"/>
          </a:xfrm>
          <a:prstGeom prst="rect">
            <a:avLst/>
          </a:prstGeom>
          <a:noFill/>
          <a:ln/>
        </p:spPr>
        <p:txBody>
          <a:bodyPr wrap="square" lIns="0" tIns="0" rIns="0" bIns="0" rtlCol="0" anchor="ctr"/>
          <a:lstStyle/>
          <a:p>
            <a:pPr indent="0" marL="0">
              <a:buNone/>
            </a:pPr>
            <a:r>
              <a:rPr lang="en-US" sz="1500" b="1" dirty="0">
                <a:solidFill>
                  <a:srgbClr val="F0714B"/>
                </a:solidFill>
                <a:latin typeface="Calibri" pitchFamily="34" charset="0"/>
                <a:ea typeface="Calibri" pitchFamily="34" charset="-122"/>
                <a:cs typeface="Calibri" pitchFamily="34" charset="-120"/>
              </a:rPr>
              <a:t>ME23312</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ENGINEERING THERMODYNAMICS</a:t>
            </a:r>
            <a:endParaRPr lang="en-US" sz="1500" dirty="0"/>
          </a:p>
          <a:p>
            <a:pPr indent="0" marL="0">
              <a:buNone/>
            </a:pPr>
            <a:r>
              <a:rPr lang="en-US" sz="1250" dirty="0">
                <a:solidFill>
                  <a:srgbClr val="9DC3E6"/>
                </a:solidFill>
                <a:latin typeface="Calibri" pitchFamily="34" charset="0"/>
                <a:ea typeface="Calibri" pitchFamily="34" charset="-122"/>
                <a:cs typeface="Calibri" pitchFamily="34" charset="-120"/>
              </a:rPr>
              <a:t>UNIT I – Basics, Zeroth and First Law</a:t>
            </a:r>
            <a:endParaRPr lang="en-US" sz="1500" dirty="0"/>
          </a:p>
        </p:txBody>
      </p:sp>
      <p:sp>
        <p:nvSpPr>
          <p:cNvPr id="7" name="Shape 4"/>
          <p:cNvSpPr/>
          <p:nvPr/>
        </p:nvSpPr>
        <p:spPr>
          <a:xfrm>
            <a:off x="548640" y="2148840"/>
            <a:ext cx="3246120" cy="457200"/>
          </a:xfrm>
          <a:prstGeom prst="roundRect">
            <a:avLst>
              <a:gd name="adj" fmla="val 50000"/>
            </a:avLst>
          </a:prstGeom>
          <a:solidFill>
            <a:srgbClr val="F0714B"/>
          </a:solidFill>
          <a:ln/>
        </p:spPr>
      </p:sp>
      <p:sp>
        <p:nvSpPr>
          <p:cNvPr id="8" name="Text 5"/>
          <p:cNvSpPr/>
          <p:nvPr/>
        </p:nvSpPr>
        <p:spPr>
          <a:xfrm>
            <a:off x="548640" y="2148840"/>
            <a:ext cx="32461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SESSION 8 • TUTORIAL 2</a:t>
            </a:r>
            <a:endParaRPr lang="en-US" sz="1400" dirty="0"/>
          </a:p>
        </p:txBody>
      </p:sp>
      <p:sp>
        <p:nvSpPr>
          <p:cNvPr id="9" name="Text 6"/>
          <p:cNvSpPr/>
          <p:nvPr/>
        </p:nvSpPr>
        <p:spPr>
          <a:xfrm>
            <a:off x="548640" y="2743200"/>
            <a:ext cx="11064240" cy="13716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Tutorial 2: First Law Applied to Closed Systems</a:t>
            </a:r>
            <a:endParaRPr lang="en-US" sz="3400" dirty="0"/>
          </a:p>
        </p:txBody>
      </p:sp>
      <p:sp>
        <p:nvSpPr>
          <p:cNvPr id="10" name="Text 7"/>
          <p:cNvSpPr/>
          <p:nvPr/>
        </p:nvSpPr>
        <p:spPr>
          <a:xfrm>
            <a:off x="548640" y="4069080"/>
            <a:ext cx="10515600" cy="548640"/>
          </a:xfrm>
          <a:prstGeom prst="rect">
            <a:avLst/>
          </a:prstGeom>
          <a:noFill/>
          <a:ln/>
        </p:spPr>
        <p:txBody>
          <a:bodyPr wrap="square" lIns="0" tIns="0" rIns="0" bIns="0" rtlCol="0" anchor="ctr"/>
          <a:lstStyle/>
          <a:p>
            <a:pPr indent="0" marL="0">
              <a:buNone/>
            </a:pPr>
            <a:r>
              <a:rPr lang="en-US" sz="1500" dirty="0">
                <a:solidFill>
                  <a:srgbClr val="9DC3E6"/>
                </a:solidFill>
                <a:latin typeface="Calibri" pitchFamily="34" charset="0"/>
                <a:ea typeface="Calibri" pitchFamily="34" charset="-122"/>
                <a:cs typeface="Calibri" pitchFamily="34" charset="-120"/>
              </a:rPr>
              <a:t>Energy balances for single processes, cycles and paddle-wheel work</a:t>
            </a:r>
            <a:endParaRPr lang="en-US" sz="1500" dirty="0"/>
          </a:p>
        </p:txBody>
      </p:sp>
      <p:sp>
        <p:nvSpPr>
          <p:cNvPr id="11" name="Text 8"/>
          <p:cNvSpPr/>
          <p:nvPr/>
        </p:nvSpPr>
        <p:spPr>
          <a:xfrm>
            <a:off x="548640" y="5074920"/>
            <a:ext cx="7772400" cy="1371600"/>
          </a:xfrm>
          <a:prstGeom prst="rect">
            <a:avLst/>
          </a:prstGeom>
          <a:noFill/>
          <a:ln/>
        </p:spPr>
        <p:txBody>
          <a:bodyPr wrap="square" lIns="0" tIns="0" rIns="0" bIns="0" rtlCol="0" anchor="ctr"/>
          <a:lstStyle/>
          <a:p>
            <a:pPr indent="0" marL="0">
              <a:buNone/>
            </a:pPr>
            <a:r>
              <a:rPr lang="en-US" sz="1400" b="1" dirty="0">
                <a:solidFill>
                  <a:srgbClr val="F0714B"/>
                </a:solidFill>
                <a:latin typeface="Calibri" pitchFamily="34" charset="0"/>
                <a:ea typeface="Calibri" pitchFamily="34" charset="-122"/>
                <a:cs typeface="Calibri" pitchFamily="34" charset="-120"/>
              </a:rPr>
              <a:t>Dr. Anantha Raman L., M.E., Ph.D.</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Associate Professor</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Department of Mechanical Engineering</a:t>
            </a:r>
            <a:endParaRPr lang="en-US" sz="1400" dirty="0"/>
          </a:p>
          <a:p>
            <a:pPr indent="0" marL="0">
              <a:buNone/>
            </a:pPr>
            <a:r>
              <a:rPr lang="en-US" sz="1150" dirty="0">
                <a:solidFill>
                  <a:srgbClr val="9DC3E6"/>
                </a:solidFill>
                <a:latin typeface="Calibri" pitchFamily="34" charset="0"/>
                <a:ea typeface="Calibri" pitchFamily="34" charset="-122"/>
                <a:cs typeface="Calibri" pitchFamily="34" charset="-120"/>
              </a:rPr>
              <a:t>Rajalakshmi Institute of Technology, Chennai, Tamil Nadu.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SESSION 8 • TUTORIAL 2</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Session Outline</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640080" y="1938528"/>
            <a:ext cx="603504" cy="603504"/>
          </a:xfrm>
          <a:prstGeom prst="ellipse">
            <a:avLst/>
          </a:prstGeom>
          <a:solidFill>
            <a:srgbClr val="F0714B"/>
          </a:solidFill>
          <a:ln/>
        </p:spPr>
      </p:sp>
      <p:sp>
        <p:nvSpPr>
          <p:cNvPr id="6" name="Text 3"/>
          <p:cNvSpPr/>
          <p:nvPr/>
        </p:nvSpPr>
        <p:spPr>
          <a:xfrm>
            <a:off x="640080" y="19385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1508760" y="18288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Statement recall</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Q − W = ΔU and the cycle form, sign conventions</a:t>
            </a:r>
            <a:endParaRPr lang="en-US" sz="1550" dirty="0"/>
          </a:p>
        </p:txBody>
      </p:sp>
      <p:sp>
        <p:nvSpPr>
          <p:cNvPr id="8" name="Shape 5"/>
          <p:cNvSpPr/>
          <p:nvPr/>
        </p:nvSpPr>
        <p:spPr>
          <a:xfrm>
            <a:off x="932688" y="2569464"/>
            <a:ext cx="0" cy="256032"/>
          </a:xfrm>
          <a:prstGeom prst="line">
            <a:avLst/>
          </a:prstGeom>
          <a:noFill/>
          <a:ln w="19050">
            <a:solidFill>
              <a:srgbClr val="9DC3E6"/>
            </a:solidFill>
            <a:prstDash val="dash"/>
          </a:ln>
        </p:spPr>
      </p:sp>
      <p:sp>
        <p:nvSpPr>
          <p:cNvPr id="9" name="Shape 6"/>
          <p:cNvSpPr/>
          <p:nvPr/>
        </p:nvSpPr>
        <p:spPr>
          <a:xfrm>
            <a:off x="640080" y="2852928"/>
            <a:ext cx="603504" cy="603504"/>
          </a:xfrm>
          <a:prstGeom prst="ellipse">
            <a:avLst/>
          </a:prstGeom>
          <a:solidFill>
            <a:srgbClr val="F0714B"/>
          </a:solidFill>
          <a:ln/>
        </p:spPr>
      </p:sp>
      <p:sp>
        <p:nvSpPr>
          <p:cNvPr id="10" name="Text 7"/>
          <p:cNvSpPr/>
          <p:nvPr/>
        </p:nvSpPr>
        <p:spPr>
          <a:xfrm>
            <a:off x="640080" y="28529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08760" y="27432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Problem 1 — single process</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Direct energy balance with mixed signs</a:t>
            </a:r>
            <a:endParaRPr lang="en-US" sz="1550" dirty="0"/>
          </a:p>
        </p:txBody>
      </p:sp>
      <p:sp>
        <p:nvSpPr>
          <p:cNvPr id="12" name="Shape 9"/>
          <p:cNvSpPr/>
          <p:nvPr/>
        </p:nvSpPr>
        <p:spPr>
          <a:xfrm>
            <a:off x="932688" y="3483864"/>
            <a:ext cx="0" cy="256032"/>
          </a:xfrm>
          <a:prstGeom prst="line">
            <a:avLst/>
          </a:prstGeom>
          <a:noFill/>
          <a:ln w="19050">
            <a:solidFill>
              <a:srgbClr val="9DC3E6"/>
            </a:solidFill>
            <a:prstDash val="dash"/>
          </a:ln>
        </p:spPr>
      </p:sp>
      <p:sp>
        <p:nvSpPr>
          <p:cNvPr id="13" name="Shape 10"/>
          <p:cNvSpPr/>
          <p:nvPr/>
        </p:nvSpPr>
        <p:spPr>
          <a:xfrm>
            <a:off x="640080" y="3767328"/>
            <a:ext cx="603504" cy="603504"/>
          </a:xfrm>
          <a:prstGeom prst="ellipse">
            <a:avLst/>
          </a:prstGeom>
          <a:solidFill>
            <a:srgbClr val="F0714B"/>
          </a:solidFill>
          <a:ln/>
        </p:spPr>
      </p:sp>
      <p:sp>
        <p:nvSpPr>
          <p:cNvPr id="14" name="Text 11"/>
          <p:cNvSpPr/>
          <p:nvPr/>
        </p:nvSpPr>
        <p:spPr>
          <a:xfrm>
            <a:off x="640080" y="37673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1508760" y="36576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Problem 2 — cycle of three processes</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Completing the energy-balance table for a cycle</a:t>
            </a:r>
            <a:endParaRPr lang="en-US" sz="1550" dirty="0"/>
          </a:p>
        </p:txBody>
      </p:sp>
      <p:sp>
        <p:nvSpPr>
          <p:cNvPr id="16" name="Shape 13"/>
          <p:cNvSpPr/>
          <p:nvPr/>
        </p:nvSpPr>
        <p:spPr>
          <a:xfrm>
            <a:off x="932688" y="4398264"/>
            <a:ext cx="0" cy="256032"/>
          </a:xfrm>
          <a:prstGeom prst="line">
            <a:avLst/>
          </a:prstGeom>
          <a:noFill/>
          <a:ln w="19050">
            <a:solidFill>
              <a:srgbClr val="9DC3E6"/>
            </a:solidFill>
            <a:prstDash val="dash"/>
          </a:ln>
        </p:spPr>
      </p:sp>
      <p:sp>
        <p:nvSpPr>
          <p:cNvPr id="17" name="Shape 14"/>
          <p:cNvSpPr/>
          <p:nvPr/>
        </p:nvSpPr>
        <p:spPr>
          <a:xfrm>
            <a:off x="640080" y="4681728"/>
            <a:ext cx="603504" cy="603504"/>
          </a:xfrm>
          <a:prstGeom prst="ellipse">
            <a:avLst/>
          </a:prstGeom>
          <a:solidFill>
            <a:srgbClr val="F0714B"/>
          </a:solidFill>
          <a:ln/>
        </p:spPr>
      </p:sp>
      <p:sp>
        <p:nvSpPr>
          <p:cNvPr id="18" name="Text 15"/>
          <p:cNvSpPr/>
          <p:nvPr/>
        </p:nvSpPr>
        <p:spPr>
          <a:xfrm>
            <a:off x="640080" y="46817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p:nvPr/>
        </p:nvSpPr>
        <p:spPr>
          <a:xfrm>
            <a:off x="1508760" y="45720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Problem 3 — constant pressure with c_p</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Heat, work and ΔU in one problem</a:t>
            </a:r>
            <a:endParaRPr lang="en-US" sz="1550" dirty="0"/>
          </a:p>
        </p:txBody>
      </p:sp>
      <p:sp>
        <p:nvSpPr>
          <p:cNvPr id="20" name="Shape 17"/>
          <p:cNvSpPr/>
          <p:nvPr/>
        </p:nvSpPr>
        <p:spPr>
          <a:xfrm>
            <a:off x="932688" y="5312664"/>
            <a:ext cx="0" cy="256032"/>
          </a:xfrm>
          <a:prstGeom prst="line">
            <a:avLst/>
          </a:prstGeom>
          <a:noFill/>
          <a:ln w="19050">
            <a:solidFill>
              <a:srgbClr val="9DC3E6"/>
            </a:solidFill>
            <a:prstDash val="dash"/>
          </a:ln>
        </p:spPr>
      </p:sp>
      <p:sp>
        <p:nvSpPr>
          <p:cNvPr id="21" name="Shape 18"/>
          <p:cNvSpPr/>
          <p:nvPr/>
        </p:nvSpPr>
        <p:spPr>
          <a:xfrm>
            <a:off x="640080" y="5596128"/>
            <a:ext cx="603504" cy="603504"/>
          </a:xfrm>
          <a:prstGeom prst="ellipse">
            <a:avLst/>
          </a:prstGeom>
          <a:solidFill>
            <a:srgbClr val="16324F"/>
          </a:solidFill>
          <a:ln/>
        </p:spPr>
      </p:sp>
      <p:sp>
        <p:nvSpPr>
          <p:cNvPr id="22" name="Text 19"/>
          <p:cNvSpPr/>
          <p:nvPr/>
        </p:nvSpPr>
        <p:spPr>
          <a:xfrm>
            <a:off x="640080" y="55961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0"/>
          <p:cNvSpPr/>
          <p:nvPr/>
        </p:nvSpPr>
        <p:spPr>
          <a:xfrm>
            <a:off x="1508760" y="54864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Problem 4 + recap</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Paddle-wheel work in an insulated vessel; key takeaways</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TUTORIAL 2 • WORKED PROBLEM 1</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Energy Balance for a Single Process</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960120"/>
          </a:xfrm>
          <a:prstGeom prst="roundRect">
            <a:avLst>
              <a:gd name="adj" fmla="val 8571"/>
            </a:avLst>
          </a:prstGeom>
          <a:solidFill>
            <a:srgbClr val="EAF2FA"/>
          </a:solidFill>
          <a:ln w="12700">
            <a:solidFill>
              <a:srgbClr val="2E75B6"/>
            </a:solidFill>
            <a:prstDash val="solid"/>
          </a:ln>
        </p:spPr>
      </p:sp>
      <p:sp>
        <p:nvSpPr>
          <p:cNvPr id="6" name="Text 3"/>
          <p:cNvSpPr/>
          <p:nvPr/>
        </p:nvSpPr>
        <p:spPr>
          <a:xfrm>
            <a:off x="777240" y="1691640"/>
            <a:ext cx="10607040" cy="9601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A closed system receives 200 kJ of heat. During the process the system does 80 kJ of work on the surroundings, and 30 kJ of heat is lost to the casing. Determine the change in internal energy.</a:t>
            </a:r>
            <a:endParaRPr lang="en-US" sz="1200" dirty="0"/>
          </a:p>
        </p:txBody>
      </p:sp>
      <p:sp>
        <p:nvSpPr>
          <p:cNvPr id="7" name="Text 4"/>
          <p:cNvSpPr/>
          <p:nvPr/>
        </p:nvSpPr>
        <p:spPr>
          <a:xfrm>
            <a:off x="548640" y="2788920"/>
            <a:ext cx="2743200" cy="32004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Solution</a:t>
            </a:r>
            <a:endParaRPr lang="en-US" sz="1500" dirty="0"/>
          </a:p>
        </p:txBody>
      </p:sp>
      <p:sp>
        <p:nvSpPr>
          <p:cNvPr id="8" name="Text 5"/>
          <p:cNvSpPr/>
          <p:nvPr/>
        </p:nvSpPr>
        <p:spPr>
          <a:xfrm>
            <a:off x="548640" y="3154680"/>
            <a:ext cx="7498080" cy="31089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Net heat: Q = +200 − 30 = +170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Work by system: W = +80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First law: ΔU = Q − W = 170 − 80</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 = +90 kJ → internal energy increases by 90 kJ</a:t>
            </a:r>
            <a:endParaRPr lang="en-US" sz="1250" dirty="0"/>
          </a:p>
        </p:txBody>
      </p:sp>
      <p:sp>
        <p:nvSpPr>
          <p:cNvPr id="9" name="Shape 6"/>
          <p:cNvSpPr/>
          <p:nvPr/>
        </p:nvSpPr>
        <p:spPr>
          <a:xfrm>
            <a:off x="8321040" y="3154680"/>
            <a:ext cx="3319272" cy="1554480"/>
          </a:xfrm>
          <a:prstGeom prst="roundRect">
            <a:avLst>
              <a:gd name="adj" fmla="val 5882"/>
            </a:avLst>
          </a:prstGeom>
          <a:solidFill>
            <a:srgbClr val="16324F"/>
          </a:solidFill>
          <a:ln/>
        </p:spPr>
      </p:sp>
      <p:sp>
        <p:nvSpPr>
          <p:cNvPr id="10" name="Text 7"/>
          <p:cNvSpPr/>
          <p:nvPr/>
        </p:nvSpPr>
        <p:spPr>
          <a:xfrm>
            <a:off x="8503920" y="3154680"/>
            <a:ext cx="2971800" cy="1554480"/>
          </a:xfrm>
          <a:prstGeom prst="rect">
            <a:avLst/>
          </a:prstGeom>
          <a:noFill/>
          <a:ln/>
        </p:spPr>
        <p:txBody>
          <a:bodyPr wrap="square" lIns="0" tIns="0" rIns="0" bIns="0" rtlCol="0" anchor="ctr"/>
          <a:lstStyle/>
          <a:p>
            <a:pPr indent="0" marL="0">
              <a:buNone/>
            </a:pPr>
            <a:r>
              <a:rPr lang="en-US" sz="1100" b="1" spc="200" kern="0" dirty="0">
                <a:solidFill>
                  <a:srgbClr val="F0714B"/>
                </a:solidFill>
                <a:latin typeface="Calibri" pitchFamily="34" charset="0"/>
                <a:ea typeface="Calibri" pitchFamily="34" charset="-122"/>
                <a:cs typeface="Calibri" pitchFamily="34" charset="-120"/>
              </a:rPr>
              <a:t>ANSWER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ΔU = + 90 kJ</a:t>
            </a:r>
            <a:endParaRPr lang="en-US" sz="1100" dirty="0"/>
          </a:p>
        </p:txBody>
      </p:sp>
      <p:sp>
        <p:nvSpPr>
          <p:cNvPr id="11" name="Shape 8"/>
          <p:cNvSpPr/>
          <p:nvPr/>
        </p:nvSpPr>
        <p:spPr>
          <a:xfrm>
            <a:off x="548640" y="5806440"/>
            <a:ext cx="11091672" cy="530352"/>
          </a:xfrm>
          <a:prstGeom prst="roundRect">
            <a:avLst>
              <a:gd name="adj" fmla="val 15517"/>
            </a:avLst>
          </a:prstGeom>
          <a:solidFill>
            <a:srgbClr val="FDEDE6"/>
          </a:solidFill>
          <a:ln w="12700">
            <a:solidFill>
              <a:srgbClr val="F0714B"/>
            </a:solidFill>
            <a:prstDash val="solid"/>
          </a:ln>
        </p:spPr>
      </p:sp>
      <p:sp>
        <p:nvSpPr>
          <p:cNvPr id="12" name="Text 9"/>
          <p:cNvSpPr/>
          <p:nvPr/>
        </p:nvSpPr>
        <p:spPr>
          <a:xfrm>
            <a:off x="731520" y="5806440"/>
            <a:ext cx="10725912" cy="530352"/>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Sum ALL heat interactions (with signs) before applying the balance.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TUTORIAL 2 • WORKED PROBLEM 2</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A Complete Cycle — Fill the Energy Table</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868680"/>
          </a:xfrm>
          <a:prstGeom prst="roundRect">
            <a:avLst>
              <a:gd name="adj" fmla="val 9474"/>
            </a:avLst>
          </a:prstGeom>
          <a:solidFill>
            <a:srgbClr val="EAF2FA"/>
          </a:solidFill>
          <a:ln w="12700">
            <a:solidFill>
              <a:srgbClr val="2E75B6"/>
            </a:solidFill>
            <a:prstDash val="solid"/>
          </a:ln>
        </p:spPr>
      </p:sp>
      <p:sp>
        <p:nvSpPr>
          <p:cNvPr id="6" name="Text 3"/>
          <p:cNvSpPr/>
          <p:nvPr/>
        </p:nvSpPr>
        <p:spPr>
          <a:xfrm>
            <a:off x="777240" y="1691640"/>
            <a:ext cx="10607040" cy="86868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A closed system undergoes a cycle of three processes. Given: Q₁₂ = +40 kJ, W₁₂ = +15 kJ; Q₂₃ = −10 kJ, W₂₃ = 0; W₃₁ = −20 kJ. Find ΔU for each process and Q₃₁.</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914400"/>
        </p:xfrm>
        <a:graphic>
          <a:graphicData uri="http://schemas.openxmlformats.org/drawingml/2006/table">
            <a:tbl>
              <a:tblPr/>
              <a:tblGrid>
                <a:gridCol w="2377440"/>
                <a:gridCol w="2743200"/>
                <a:gridCol w="2743200"/>
                <a:gridCol w="3227832"/>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Q (kJ)</a:t>
                      </a:r>
                      <a:endParaRPr lang="en-US" sz="130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 (kJ)</a:t>
                      </a:r>
                      <a:endParaRPr lang="en-US" sz="130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ΔU = Q − W (kJ)</a:t>
                      </a:r>
                      <a:endParaRPr lang="en-US" sz="130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1F4E79"/>
                    </a:solidFill>
                  </a:tcPr>
                </a:tc>
              </a:tr>
              <a:tr h="457200">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1 → 2</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+15</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+25</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r>
              <a:tr h="457200">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2 → 3</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EAF2FA"/>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EAF2FA"/>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EAF2FA"/>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EAF2FA"/>
                    </a:solidFill>
                  </a:tcPr>
                </a:tc>
              </a:tr>
              <a:tr h="457200">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3 → 1</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Q₃₁ = −35</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−20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A1A2E"/>
                          </a:solidFill>
                          <a:latin typeface="Calibri" pitchFamily="34" charset="0"/>
                          <a:ea typeface="Calibri" pitchFamily="34" charset="-122"/>
                          <a:cs typeface="Calibri" pitchFamily="34" charset="-120"/>
                        </a:rPr>
                        <a:t>−15  (so that ΣΔU = 0)</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FFFFF"/>
                    </a:solidFill>
                  </a:tcPr>
                </a:tc>
              </a:tr>
              <a:tr h="457200">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Σ (cycle)</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DEDE6"/>
                    </a:solidFill>
                  </a:tcPr>
                </a:tc>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DEDE6"/>
                    </a:solidFill>
                  </a:tcPr>
                </a:tc>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DEDE6"/>
                    </a:solidFill>
                  </a:tcPr>
                </a:tc>
                <a:tc>
                  <a:txBody>
                    <a:bodyPr/>
                    <a:lstStyle/>
                    <a:p>
                      <a:pPr algn="ctr" indent="0" marL="0">
                        <a:buNone/>
                      </a:pPr>
                      <a:r>
                        <a:rPr lang="en-US" sz="1250" b="1" dirty="0">
                          <a:solidFill>
                            <a:srgbClr val="1A1A2E"/>
                          </a:solidFill>
                          <a:latin typeface="Calibri" pitchFamily="34" charset="0"/>
                          <a:ea typeface="Calibri" pitchFamily="34" charset="-122"/>
                          <a:cs typeface="Calibri" pitchFamily="34" charset="-120"/>
                        </a:rPr>
                        <a:t>0  ✓</a:t>
                      </a:r>
                      <a:endParaRPr lang="en-US" sz="1250" dirty="0">
                        <a:latin typeface="Calibri" charset="0"/>
                        <a:ea typeface="Calibri" charset="0"/>
                        <a:cs typeface="Calibri" charset="0"/>
                      </a:endParaRPr>
                    </a:p>
                  </a:txBody>
                  <a:tcPr marL="54864" marR="54864" marT="54864" marB="54864" anchor="ctr">
                    <a:lnL w="9525" cap="flat" cmpd="sng" algn="ctr">
                      <a:solidFill>
                        <a:srgbClr val="9DC3E6"/>
                      </a:solidFill>
                      <a:prstDash val="solid"/>
                      <a:round/>
                      <a:headEnd type="none" w="med" len="med"/>
                      <a:tailEnd type="none" w="med" len="med"/>
                    </a:lnL>
                    <a:lnR w="9525" cap="flat" cmpd="sng" algn="ctr">
                      <a:solidFill>
                        <a:srgbClr val="9DC3E6"/>
                      </a:solidFill>
                      <a:prstDash val="solid"/>
                      <a:round/>
                      <a:headEnd type="none" w="med" len="med"/>
                      <a:tailEnd type="none" w="med" len="med"/>
                    </a:lnR>
                    <a:lnT w="9525" cap="flat" cmpd="sng" algn="ctr">
                      <a:solidFill>
                        <a:srgbClr val="9DC3E6"/>
                      </a:solidFill>
                      <a:prstDash val="solid"/>
                      <a:round/>
                      <a:headEnd type="none" w="med" len="med"/>
                      <a:tailEnd type="none" w="med" len="med"/>
                    </a:lnT>
                    <a:lnB w="9525" cap="flat" cmpd="sng" algn="ctr">
                      <a:solidFill>
                        <a:srgbClr val="9DC3E6"/>
                      </a:solidFill>
                      <a:prstDash val="solid"/>
                      <a:round/>
                      <a:headEnd type="none" w="med" len="med"/>
                      <a:tailEnd type="none" w="med" len="med"/>
                    </a:lnB>
                    <a:solidFill>
                      <a:srgbClr val="FDEDE6"/>
                    </a:solidFill>
                  </a:tcPr>
                </a:tc>
              </a:tr>
            </a:tbl>
          </a:graphicData>
        </a:graphic>
      </p:graphicFrame>
      <p:sp>
        <p:nvSpPr>
          <p:cNvPr id="8" name="Text 4"/>
          <p:cNvSpPr/>
          <p:nvPr/>
        </p:nvSpPr>
        <p:spPr>
          <a:xfrm>
            <a:off x="548640" y="5349240"/>
            <a:ext cx="11064240" cy="914400"/>
          </a:xfrm>
          <a:prstGeom prst="rect">
            <a:avLst/>
          </a:prstGeom>
          <a:noFill/>
          <a:ln/>
        </p:spPr>
        <p:txBody>
          <a:bodyPr wrap="square" lIns="0" tIns="0" rIns="0" bIns="0" rtlCol="0" anchor="t"/>
          <a:lstStyle/>
          <a:p>
            <a:pPr indent="0" marL="0">
              <a:spcAft>
                <a:spcPts val="600"/>
              </a:spcAft>
              <a:buNone/>
            </a:pPr>
            <a:r>
              <a:rPr lang="en-US" sz="1300" dirty="0">
                <a:solidFill>
                  <a:srgbClr val="1A1A2E"/>
                </a:solidFill>
                <a:latin typeface="Calibri" pitchFamily="34" charset="0"/>
                <a:ea typeface="Calibri" pitchFamily="34" charset="-122"/>
                <a:cs typeface="Calibri" pitchFamily="34" charset="-120"/>
              </a:rPr>
              <a:t>Reasoning: over the cycle ΣΔU = 0 ⇒ ΔU₃₁ = −(25 − 10) = −15 kJ. Then Q₃₁ = ΔU₃₁ + W₃₁ = −15 + (−20) = −35 kJ.</a:t>
            </a:r>
            <a:endParaRPr lang="en-US" sz="1300" dirty="0"/>
          </a:p>
          <a:p>
            <a:pPr indent="0" marL="0">
              <a:buNone/>
            </a:pPr>
            <a:r>
              <a:rPr lang="en-US" sz="1300" b="1" dirty="0">
                <a:solidFill>
                  <a:srgbClr val="16324F"/>
                </a:solidFill>
                <a:latin typeface="Calibri" pitchFamily="34" charset="0"/>
                <a:ea typeface="Calibri" pitchFamily="34" charset="-122"/>
                <a:cs typeface="Calibri" pitchFamily="34" charset="-120"/>
              </a:rPr>
              <a:t>Verification: ΣQ = 40 − 10 − 35 = −5 kJ = ΣW = 15 + 0 − 20 = −5 kJ ✓ (net work-absorbing cycle).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TUTORIAL 2 • WORKED PROBLEM 3</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Constant-Pressure Heating of Air</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960120"/>
          </a:xfrm>
          <a:prstGeom prst="roundRect">
            <a:avLst>
              <a:gd name="adj" fmla="val 8571"/>
            </a:avLst>
          </a:prstGeom>
          <a:solidFill>
            <a:srgbClr val="EAF2FA"/>
          </a:solidFill>
          <a:ln w="12700">
            <a:solidFill>
              <a:srgbClr val="2E75B6"/>
            </a:solidFill>
            <a:prstDash val="solid"/>
          </a:ln>
        </p:spPr>
      </p:sp>
      <p:sp>
        <p:nvSpPr>
          <p:cNvPr id="6" name="Text 3"/>
          <p:cNvSpPr/>
          <p:nvPr/>
        </p:nvSpPr>
        <p:spPr>
          <a:xfrm>
            <a:off x="777240" y="1691640"/>
            <a:ext cx="10607040" cy="9601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2 kg of air (c_p = 1.005, c_v = 0.718 kJ/kg·K, R = 0.287 kJ/kg·K) is heated at constant pressure from 300 K to 450 K. Find Q, W and ΔU.</a:t>
            </a:r>
            <a:endParaRPr lang="en-US" sz="1200" dirty="0"/>
          </a:p>
        </p:txBody>
      </p:sp>
      <p:sp>
        <p:nvSpPr>
          <p:cNvPr id="7" name="Text 4"/>
          <p:cNvSpPr/>
          <p:nvPr/>
        </p:nvSpPr>
        <p:spPr>
          <a:xfrm>
            <a:off x="548640" y="2788920"/>
            <a:ext cx="2743200" cy="32004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Solution</a:t>
            </a:r>
            <a:endParaRPr lang="en-US" sz="1500" dirty="0"/>
          </a:p>
        </p:txBody>
      </p:sp>
      <p:sp>
        <p:nvSpPr>
          <p:cNvPr id="8" name="Text 5"/>
          <p:cNvSpPr/>
          <p:nvPr/>
        </p:nvSpPr>
        <p:spPr>
          <a:xfrm>
            <a:off x="548640" y="3154680"/>
            <a:ext cx="7498080" cy="31089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Q = m c_p ΔT = 2 × 1.005 × 150 = 301.5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 = m c_v ΔT = 2 × 0.718 × 150 = 215.4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W = Q − ΔU = 301.5 − 215.4 = 86.1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Check: W = mRΔT = 2 × 0.287 × 150 = 86.1 kJ ✓</a:t>
            </a:r>
            <a:endParaRPr lang="en-US" sz="1250" dirty="0"/>
          </a:p>
        </p:txBody>
      </p:sp>
      <p:sp>
        <p:nvSpPr>
          <p:cNvPr id="9" name="Shape 6"/>
          <p:cNvSpPr/>
          <p:nvPr/>
        </p:nvSpPr>
        <p:spPr>
          <a:xfrm>
            <a:off x="8321040" y="3154680"/>
            <a:ext cx="3319272" cy="1554480"/>
          </a:xfrm>
          <a:prstGeom prst="roundRect">
            <a:avLst>
              <a:gd name="adj" fmla="val 5882"/>
            </a:avLst>
          </a:prstGeom>
          <a:solidFill>
            <a:srgbClr val="16324F"/>
          </a:solidFill>
          <a:ln/>
        </p:spPr>
      </p:sp>
      <p:sp>
        <p:nvSpPr>
          <p:cNvPr id="10" name="Text 7"/>
          <p:cNvSpPr/>
          <p:nvPr/>
        </p:nvSpPr>
        <p:spPr>
          <a:xfrm>
            <a:off x="8503920" y="3154680"/>
            <a:ext cx="2971800" cy="1554480"/>
          </a:xfrm>
          <a:prstGeom prst="rect">
            <a:avLst/>
          </a:prstGeom>
          <a:noFill/>
          <a:ln/>
        </p:spPr>
        <p:txBody>
          <a:bodyPr wrap="square" lIns="0" tIns="0" rIns="0" bIns="0" rtlCol="0" anchor="ctr"/>
          <a:lstStyle/>
          <a:p>
            <a:pPr indent="0" marL="0">
              <a:buNone/>
            </a:pPr>
            <a:r>
              <a:rPr lang="en-US" sz="1100" b="1" spc="200" kern="0" dirty="0">
                <a:solidFill>
                  <a:srgbClr val="F0714B"/>
                </a:solidFill>
                <a:latin typeface="Calibri" pitchFamily="34" charset="0"/>
                <a:ea typeface="Calibri" pitchFamily="34" charset="-122"/>
                <a:cs typeface="Calibri" pitchFamily="34" charset="-120"/>
              </a:rPr>
              <a:t>ANSWER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Q = 301.5 kJ</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ΔU = 215.4 kJ</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W = 86.1 kJ</a:t>
            </a:r>
            <a:endParaRPr lang="en-US" sz="1100" dirty="0"/>
          </a:p>
        </p:txBody>
      </p:sp>
      <p:sp>
        <p:nvSpPr>
          <p:cNvPr id="11" name="Shape 8"/>
          <p:cNvSpPr/>
          <p:nvPr/>
        </p:nvSpPr>
        <p:spPr>
          <a:xfrm>
            <a:off x="548640" y="5806440"/>
            <a:ext cx="11091672" cy="530352"/>
          </a:xfrm>
          <a:prstGeom prst="roundRect">
            <a:avLst>
              <a:gd name="adj" fmla="val 15517"/>
            </a:avLst>
          </a:prstGeom>
          <a:solidFill>
            <a:srgbClr val="FDEDE6"/>
          </a:solidFill>
          <a:ln w="12700">
            <a:solidFill>
              <a:srgbClr val="F0714B"/>
            </a:solidFill>
            <a:prstDash val="solid"/>
          </a:ln>
        </p:spPr>
      </p:sp>
      <p:sp>
        <p:nvSpPr>
          <p:cNvPr id="12" name="Text 9"/>
          <p:cNvSpPr/>
          <p:nvPr/>
        </p:nvSpPr>
        <p:spPr>
          <a:xfrm>
            <a:off x="731520" y="5806440"/>
            <a:ext cx="10725912" cy="530352"/>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The consistency check W = mRΔT catches arithmetic slips instantly — use it in the CAT.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TUTORIAL 2 • WORKED PROBLEM 4</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Paddle-Wheel Work in an Insulated Vessel</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960120"/>
          </a:xfrm>
          <a:prstGeom prst="roundRect">
            <a:avLst>
              <a:gd name="adj" fmla="val 8571"/>
            </a:avLst>
          </a:prstGeom>
          <a:solidFill>
            <a:srgbClr val="EAF2FA"/>
          </a:solidFill>
          <a:ln w="12700">
            <a:solidFill>
              <a:srgbClr val="2E75B6"/>
            </a:solidFill>
            <a:prstDash val="solid"/>
          </a:ln>
        </p:spPr>
      </p:sp>
      <p:sp>
        <p:nvSpPr>
          <p:cNvPr id="6" name="Text 3"/>
          <p:cNvSpPr/>
          <p:nvPr/>
        </p:nvSpPr>
        <p:spPr>
          <a:xfrm>
            <a:off x="777240" y="1691640"/>
            <a:ext cx="10607040" cy="9601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A rigid, insulated vessel contains 2 kg of air (c_v = 0.718 kJ/kg·K). A paddle wheel driven by an external motor does 25 kJ of work on the air. Find the change in internal energy and the temperature rise.</a:t>
            </a:r>
            <a:endParaRPr lang="en-US" sz="1200" dirty="0"/>
          </a:p>
        </p:txBody>
      </p:sp>
      <p:sp>
        <p:nvSpPr>
          <p:cNvPr id="7" name="Text 4"/>
          <p:cNvSpPr/>
          <p:nvPr/>
        </p:nvSpPr>
        <p:spPr>
          <a:xfrm>
            <a:off x="548640" y="2788920"/>
            <a:ext cx="2743200" cy="32004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Solution</a:t>
            </a:r>
            <a:endParaRPr lang="en-US" sz="1500" dirty="0"/>
          </a:p>
        </p:txBody>
      </p:sp>
      <p:sp>
        <p:nvSpPr>
          <p:cNvPr id="8" name="Text 5"/>
          <p:cNvSpPr/>
          <p:nvPr/>
        </p:nvSpPr>
        <p:spPr>
          <a:xfrm>
            <a:off x="548640" y="3154680"/>
            <a:ext cx="7498080" cy="31089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Rigid → no displacement work; insulated → Q = 0</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Paddle work is done ON the system: W = −25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 = Q − W = 0 − (−25) = +25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ΔT = ΔU / (m c_v) = 25 / (2 × 0.718) = 17.4 K</a:t>
            </a:r>
            <a:endParaRPr lang="en-US" sz="1250" dirty="0"/>
          </a:p>
        </p:txBody>
      </p:sp>
      <p:sp>
        <p:nvSpPr>
          <p:cNvPr id="9" name="Shape 6"/>
          <p:cNvSpPr/>
          <p:nvPr/>
        </p:nvSpPr>
        <p:spPr>
          <a:xfrm>
            <a:off x="8321040" y="3154680"/>
            <a:ext cx="3319272" cy="1554480"/>
          </a:xfrm>
          <a:prstGeom prst="roundRect">
            <a:avLst>
              <a:gd name="adj" fmla="val 5882"/>
            </a:avLst>
          </a:prstGeom>
          <a:solidFill>
            <a:srgbClr val="16324F"/>
          </a:solidFill>
          <a:ln/>
        </p:spPr>
      </p:sp>
      <p:sp>
        <p:nvSpPr>
          <p:cNvPr id="10" name="Text 7"/>
          <p:cNvSpPr/>
          <p:nvPr/>
        </p:nvSpPr>
        <p:spPr>
          <a:xfrm>
            <a:off x="8503920" y="3154680"/>
            <a:ext cx="2971800" cy="1554480"/>
          </a:xfrm>
          <a:prstGeom prst="rect">
            <a:avLst/>
          </a:prstGeom>
          <a:noFill/>
          <a:ln/>
        </p:spPr>
        <p:txBody>
          <a:bodyPr wrap="square" lIns="0" tIns="0" rIns="0" bIns="0" rtlCol="0" anchor="ctr"/>
          <a:lstStyle/>
          <a:p>
            <a:pPr indent="0" marL="0">
              <a:buNone/>
            </a:pPr>
            <a:r>
              <a:rPr lang="en-US" sz="1100" b="1" spc="200" kern="0" dirty="0">
                <a:solidFill>
                  <a:srgbClr val="F0714B"/>
                </a:solidFill>
                <a:latin typeface="Calibri" pitchFamily="34" charset="0"/>
                <a:ea typeface="Calibri" pitchFamily="34" charset="-122"/>
                <a:cs typeface="Calibri" pitchFamily="34" charset="-120"/>
              </a:rPr>
              <a:t>ANSWER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ΔU = +25 kJ</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ΔT ≈ 17.4 K</a:t>
            </a:r>
            <a:endParaRPr lang="en-US" sz="1100" dirty="0"/>
          </a:p>
        </p:txBody>
      </p:sp>
      <p:sp>
        <p:nvSpPr>
          <p:cNvPr id="11" name="Shape 8"/>
          <p:cNvSpPr/>
          <p:nvPr/>
        </p:nvSpPr>
        <p:spPr>
          <a:xfrm>
            <a:off x="548640" y="5806440"/>
            <a:ext cx="11091672" cy="530352"/>
          </a:xfrm>
          <a:prstGeom prst="roundRect">
            <a:avLst>
              <a:gd name="adj" fmla="val 15517"/>
            </a:avLst>
          </a:prstGeom>
          <a:solidFill>
            <a:srgbClr val="FDEDE6"/>
          </a:solidFill>
          <a:ln w="12700">
            <a:solidFill>
              <a:srgbClr val="F0714B"/>
            </a:solidFill>
            <a:prstDash val="solid"/>
          </a:ln>
        </p:spPr>
      </p:sp>
      <p:sp>
        <p:nvSpPr>
          <p:cNvPr id="12" name="Text 9"/>
          <p:cNvSpPr/>
          <p:nvPr/>
        </p:nvSpPr>
        <p:spPr>
          <a:xfrm>
            <a:off x="731520" y="5806440"/>
            <a:ext cx="10725912" cy="530352"/>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Shaft/paddle work bypasses the boundary-work formula — it always enters the balance directly as W.</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TUTORIAL 2 • MORE PRACTICE</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Additional Practice Problems — Answers Provided</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621792" y="2009394"/>
            <a:ext cx="530352" cy="530352"/>
          </a:xfrm>
          <a:prstGeom prst="ellipse">
            <a:avLst/>
          </a:prstGeom>
          <a:solidFill>
            <a:srgbClr val="F0714B"/>
          </a:solidFill>
          <a:ln/>
        </p:spPr>
      </p:sp>
      <p:sp>
        <p:nvSpPr>
          <p:cNvPr id="6" name="Text 3"/>
          <p:cNvSpPr/>
          <p:nvPr/>
        </p:nvSpPr>
        <p:spPr>
          <a:xfrm>
            <a:off x="621792" y="200939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P1</a:t>
            </a:r>
            <a:endParaRPr lang="en-US" sz="1400" dirty="0"/>
          </a:p>
        </p:txBody>
      </p:sp>
      <p:sp>
        <p:nvSpPr>
          <p:cNvPr id="7" name="Text 4"/>
          <p:cNvSpPr/>
          <p:nvPr/>
        </p:nvSpPr>
        <p:spPr>
          <a:xfrm>
            <a:off x="1417320" y="1728216"/>
            <a:ext cx="10195560" cy="1092708"/>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Mixed interactions</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A system receives 120 kJ of heat and 40 kJ of paddle-wheel work while doing 65 kJ of expansion work. Find ΔU. [Ans: +95 kJ]</a:t>
            </a:r>
            <a:endParaRPr lang="en-US" sz="1500" dirty="0"/>
          </a:p>
        </p:txBody>
      </p:sp>
      <p:sp>
        <p:nvSpPr>
          <p:cNvPr id="8" name="Shape 5"/>
          <p:cNvSpPr/>
          <p:nvPr/>
        </p:nvSpPr>
        <p:spPr>
          <a:xfrm>
            <a:off x="621792" y="3175254"/>
            <a:ext cx="530352" cy="530352"/>
          </a:xfrm>
          <a:prstGeom prst="ellipse">
            <a:avLst/>
          </a:prstGeom>
          <a:solidFill>
            <a:srgbClr val="F0714B"/>
          </a:solidFill>
          <a:ln/>
        </p:spPr>
      </p:sp>
      <p:sp>
        <p:nvSpPr>
          <p:cNvPr id="9" name="Text 6"/>
          <p:cNvSpPr/>
          <p:nvPr/>
        </p:nvSpPr>
        <p:spPr>
          <a:xfrm>
            <a:off x="621792" y="317525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P2</a:t>
            </a:r>
            <a:endParaRPr lang="en-US" sz="1400" dirty="0"/>
          </a:p>
        </p:txBody>
      </p:sp>
      <p:sp>
        <p:nvSpPr>
          <p:cNvPr id="10" name="Text 7"/>
          <p:cNvSpPr/>
          <p:nvPr/>
        </p:nvSpPr>
        <p:spPr>
          <a:xfrm>
            <a:off x="1417320" y="2894076"/>
            <a:ext cx="10195560" cy="1092708"/>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Cycle completion</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A cycle has two processes: A (Q = +50 kJ, W = +20 kJ) and B (W = −15 kJ). Find Q for process B and the net work of the cycle. [Ans: Q_B = −45 kJ; W_net = +5 kJ]</a:t>
            </a:r>
            <a:endParaRPr lang="en-US" sz="1500" dirty="0"/>
          </a:p>
        </p:txBody>
      </p:sp>
      <p:sp>
        <p:nvSpPr>
          <p:cNvPr id="11" name="Shape 8"/>
          <p:cNvSpPr/>
          <p:nvPr/>
        </p:nvSpPr>
        <p:spPr>
          <a:xfrm>
            <a:off x="621792" y="4341114"/>
            <a:ext cx="530352" cy="530352"/>
          </a:xfrm>
          <a:prstGeom prst="ellipse">
            <a:avLst/>
          </a:prstGeom>
          <a:solidFill>
            <a:srgbClr val="F0714B"/>
          </a:solidFill>
          <a:ln/>
        </p:spPr>
      </p:sp>
      <p:sp>
        <p:nvSpPr>
          <p:cNvPr id="12" name="Text 9"/>
          <p:cNvSpPr/>
          <p:nvPr/>
        </p:nvSpPr>
        <p:spPr>
          <a:xfrm>
            <a:off x="621792" y="434111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417320" y="4059936"/>
            <a:ext cx="10195560" cy="1092708"/>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Concept check</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True or false: "In an adiabatic process the internal energy always remains constant." Justify in two lines. [False — ΔU = −W]</a:t>
            </a:r>
            <a:endParaRPr lang="en-US" sz="1500" dirty="0"/>
          </a:p>
        </p:txBody>
      </p:sp>
      <p:sp>
        <p:nvSpPr>
          <p:cNvPr id="14" name="Shape 11"/>
          <p:cNvSpPr/>
          <p:nvPr/>
        </p:nvSpPr>
        <p:spPr>
          <a:xfrm>
            <a:off x="621792" y="5506974"/>
            <a:ext cx="530352" cy="530352"/>
          </a:xfrm>
          <a:prstGeom prst="ellipse">
            <a:avLst/>
          </a:prstGeom>
          <a:solidFill>
            <a:srgbClr val="F0714B"/>
          </a:solidFill>
          <a:ln/>
        </p:spPr>
      </p:sp>
      <p:sp>
        <p:nvSpPr>
          <p:cNvPr id="15" name="Text 12"/>
          <p:cNvSpPr/>
          <p:nvPr/>
        </p:nvSpPr>
        <p:spPr>
          <a:xfrm>
            <a:off x="621792" y="550697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417320" y="5225796"/>
            <a:ext cx="10195560" cy="1092708"/>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CAT-I pointer</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CAT-I covers Units I &amp; II. A 13-mark question from first-law closed systems is a regular feature — practise the table method for cycles.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SESSION 8 • TUTORIAL 2 • WRAP-UP</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Summary &amp; What Comes Next</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Text 2"/>
          <p:cNvSpPr/>
          <p:nvPr/>
        </p:nvSpPr>
        <p:spPr>
          <a:xfrm>
            <a:off x="548640" y="1737360"/>
            <a:ext cx="5486400" cy="365760"/>
          </a:xfrm>
          <a:prstGeom prst="rect">
            <a:avLst/>
          </a:prstGeom>
          <a:noFill/>
          <a:ln/>
        </p:spPr>
        <p:txBody>
          <a:bodyPr wrap="square" lIns="0" tIns="0" rIns="0" bIns="0" rtlCol="0" anchor="ctr"/>
          <a:lstStyle/>
          <a:p>
            <a:pPr indent="0" marL="0">
              <a:buNone/>
            </a:pPr>
            <a:r>
              <a:rPr lang="en-US" sz="1600" b="1" dirty="0">
                <a:solidFill>
                  <a:srgbClr val="16324F"/>
                </a:solidFill>
                <a:latin typeface="Calibri" pitchFamily="34" charset="0"/>
                <a:ea typeface="Calibri" pitchFamily="34" charset="-122"/>
                <a:cs typeface="Calibri" pitchFamily="34" charset="-120"/>
              </a:rPr>
              <a:t>Today we covered</a:t>
            </a:r>
            <a:endParaRPr lang="en-US" sz="1600" dirty="0"/>
          </a:p>
        </p:txBody>
      </p:sp>
      <p:sp>
        <p:nvSpPr>
          <p:cNvPr id="6" name="Text 3"/>
          <p:cNvSpPr/>
          <p:nvPr/>
        </p:nvSpPr>
        <p:spPr>
          <a:xfrm>
            <a:off x="548640" y="2194560"/>
            <a:ext cx="6400800" cy="338328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Always write the balance Q − W = ΔU with algebraic signs, then substitute</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Over a complete cycle ΣΔU = 0, hence ΣQ = ΣW</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Constant pressure: Q = m c_p ΔT; W = pΔV = mRΔT; ΔU = m c_v ΔT</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Paddle work enters as negative W (work ON the system)</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Tabulate Q, W, ΔU per process for cycle problems — fastest and safest</a:t>
            </a:r>
            <a:endParaRPr lang="en-US" sz="1350" dirty="0"/>
          </a:p>
        </p:txBody>
      </p:sp>
      <p:sp>
        <p:nvSpPr>
          <p:cNvPr id="7" name="Shape 4"/>
          <p:cNvSpPr/>
          <p:nvPr/>
        </p:nvSpPr>
        <p:spPr>
          <a:xfrm>
            <a:off x="7406640" y="1920240"/>
            <a:ext cx="4233672" cy="3657600"/>
          </a:xfrm>
          <a:prstGeom prst="roundRect">
            <a:avLst>
              <a:gd name="adj" fmla="val 2500"/>
            </a:avLst>
          </a:prstGeom>
          <a:solidFill>
            <a:srgbClr val="16324F"/>
          </a:solidFill>
          <a:ln/>
        </p:spPr>
      </p:sp>
      <p:sp>
        <p:nvSpPr>
          <p:cNvPr id="8" name="Text 5"/>
          <p:cNvSpPr/>
          <p:nvPr/>
        </p:nvSpPr>
        <p:spPr>
          <a:xfrm>
            <a:off x="7680960" y="2103120"/>
            <a:ext cx="3703320" cy="3291840"/>
          </a:xfrm>
          <a:prstGeom prst="rect">
            <a:avLst/>
          </a:prstGeom>
          <a:noFill/>
          <a:ln/>
        </p:spPr>
        <p:txBody>
          <a:bodyPr wrap="square" lIns="0" tIns="0" rIns="0" bIns="0" rtlCol="0" anchor="ctr"/>
          <a:lstStyle/>
          <a:p>
            <a:pPr indent="0" marL="0">
              <a:buNone/>
            </a:pPr>
            <a:r>
              <a:rPr lang="en-US" sz="1150" b="1" spc="200" kern="0" dirty="0">
                <a:solidFill>
                  <a:srgbClr val="F0714B"/>
                </a:solidFill>
                <a:latin typeface="Calibri" pitchFamily="34" charset="0"/>
                <a:ea typeface="Calibri" pitchFamily="34" charset="-122"/>
                <a:cs typeface="Calibri" pitchFamily="34" charset="-120"/>
              </a:rPr>
              <a:t>NEXT CLASS</a:t>
            </a:r>
            <a:endParaRPr lang="en-US" sz="1150" dirty="0"/>
          </a:p>
          <a:p>
            <a:pPr indent="0" marL="0">
              <a:buNone/>
            </a:pPr>
            <a:r>
              <a:rPr lang="en-US" sz="1600" b="1" dirty="0">
                <a:solidFill>
                  <a:srgbClr val="FFFFFF"/>
                </a:solidFill>
                <a:latin typeface="Calibri" pitchFamily="34" charset="0"/>
                <a:ea typeface="Calibri" pitchFamily="34" charset="-122"/>
                <a:cs typeface="Calibri" pitchFamily="34" charset="-120"/>
              </a:rPr>
              <a:t>Lecture 7 — First Law for Open Systems: SFEE</a:t>
            </a:r>
            <a:endParaRPr lang="en-US" sz="1150" dirty="0"/>
          </a:p>
          <a:p>
            <a:pPr indent="0" marL="0">
              <a:buNone/>
            </a:pPr>
            <a:r>
              <a:rPr lang="en-US" sz="1250" dirty="0">
                <a:solidFill>
                  <a:srgbClr val="9DC3E6"/>
                </a:solidFill>
                <a:latin typeface="Calibri" pitchFamily="34" charset="0"/>
                <a:ea typeface="Calibri" pitchFamily="34" charset="-122"/>
                <a:cs typeface="Calibri" pitchFamily="34" charset="-120"/>
              </a:rPr>
              <a:t>Control volumes, flow work, enthalpy and the steady flow energy equation.</a:t>
            </a:r>
            <a:endParaRPr lang="en-US" sz="1150" dirty="0"/>
          </a:p>
        </p:txBody>
      </p:sp>
      <p:sp>
        <p:nvSpPr>
          <p:cNvPr id="9" name="Text 6"/>
          <p:cNvSpPr/>
          <p:nvPr/>
        </p:nvSpPr>
        <p:spPr>
          <a:xfrm>
            <a:off x="548640" y="5989320"/>
            <a:ext cx="11064240" cy="320040"/>
          </a:xfrm>
          <a:prstGeom prst="rect">
            <a:avLst/>
          </a:prstGeom>
          <a:noFill/>
          <a:ln/>
        </p:spPr>
        <p:txBody>
          <a:bodyPr wrap="square" lIns="0" tIns="0" rIns="0" bIns="0" rtlCol="0" anchor="ctr"/>
          <a:lstStyle/>
          <a:p>
            <a:pPr indent="0" marL="0">
              <a:buNone/>
            </a:pPr>
            <a:r>
              <a:rPr lang="en-US" sz="1050" i="1" dirty="0">
                <a:solidFill>
                  <a:srgbClr val="5A6B7B"/>
                </a:solidFill>
                <a:latin typeface="Calibri" pitchFamily="34" charset="0"/>
                <a:ea typeface="Calibri" pitchFamily="34" charset="-122"/>
                <a:cs typeface="Calibri" pitchFamily="34" charset="-120"/>
              </a:rPr>
              <a:t>Text: P.K. Nag, "Engineering Thermodynamics", 6th Edn., TMH — Ch. 4 (First Law of Thermodynamics)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2026-08-19T04:07:30Z</dcterms:created>
  <dcterms:modified xsi:type="dcterms:W3CDTF">2026-08-19T04:07:30Z</dcterms:modified>
</cp:coreProperties>
</file>