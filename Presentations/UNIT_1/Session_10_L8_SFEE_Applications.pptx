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852160" cy="5852160"/>
          </a:xfrm>
          <a:prstGeom prst="ellipse">
            <a:avLst/>
          </a:prstGeom>
          <a:solidFill>
            <a:srgbClr val="1F4E7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4206240" cy="4206240"/>
          </a:xfrm>
          <a:prstGeom prst="ellipse">
            <a:avLst/>
          </a:prstGeom>
          <a:solidFill>
            <a:srgbClr val="2E75B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39776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pic>
        <p:nvPicPr>
          <p:cNvPr id="5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39534"/>
            <a:ext cx="3611880" cy="9326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0060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ME23312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THERMODYNAMICS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Basics, Zeroth and First Law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F0714B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148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10 • LECTURE 8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Flow Processes — Applications of the SFEE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48640" y="4069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Nozzles, diffusers, turbines, compressors, heat exchangers and throttling devices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50749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Anantha Raman L., M.E., Ph.D.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Mechanical Engineering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Rajalakshmi Institute of Technology, Chennai, Tamil Nadu.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10 • LECTURE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Outline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385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08760" y="1828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&amp; connect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SFEE per-unit-mass form on the board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32688" y="25694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640080" y="28529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8529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508760" y="2743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Nozzle &amp; diffuser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Enthalpy ↔ kinetic energy; exit-velocity formula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932688" y="34838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640080" y="37673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673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508760" y="3657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 &amp; compressor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devices; which terms vanish and why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932688" y="43982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640080" y="46817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6817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508760" y="4572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Boiler, condenser, throttle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devices and the h₁ = h₂ throttling result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932688" y="53126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640080" y="5596128"/>
            <a:ext cx="603504" cy="603504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55961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508760" y="5486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board examples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turbine power; cooled air compressor with velocities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 • THE DEVICE CATALOGUE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SFEE for Common Devices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931920"/>
                <a:gridCol w="432511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assumptions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Simplified SFEE (per kg)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Nozzle / Diffuser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≈ 0, w = 0, ΔPE =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(V₂²−V₁²)/2 = h₁ − h₂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Turbine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≈ 0, ΔKE ≈ 0, ΔPE ≈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= h₁ − h₂  (&gt; 0, work output)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Compressor / Pump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≈ 0, ΔKE ≈ 0, ΔPE ≈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= h₁ − h₂  (&lt; 0, work input)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Boiler / Evaporator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= 0, ΔKE ≈ 0, ΔPE ≈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= h₂ − h₁  (&gt; 0, heat added)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Condenser / Cooler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= 0, ΔKE ≈ 0, ΔPE ≈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= h₂ − h₁  (&lt; 0, heat rejected)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Throttling valve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≈ 0, w = 0, ΔKE ≈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h₁ = h₂  (isenthalpic)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14516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31520" y="576072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memorise six equations — memorise ONE (the SFEE) and the art of cancelling terms.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 • VELOCITY DEVICES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Nozzle and Diffuser — Trading h for Kinetic Energy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83080"/>
            <a:ext cx="3483864" cy="4343400"/>
          </a:xfrm>
          <a:prstGeom prst="roundRect">
            <a:avLst>
              <a:gd name="adj" fmla="val 2625"/>
            </a:avLst>
          </a:prstGeom>
          <a:solidFill>
            <a:srgbClr val="EAF2FA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2011680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Nozzle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200400"/>
            <a:ext cx="30266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area decreases (subsonic)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&amp; enthalpy fall, velocity rises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V₂ = √(2000(h₁−h₂) + V₁²) m/s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in kJ/kg inside the root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5650992"/>
            <a:ext cx="3026664" cy="310896"/>
          </a:xfrm>
          <a:prstGeom prst="roundRect">
            <a:avLst>
              <a:gd name="adj" fmla="val 50000"/>
            </a:avLst>
          </a:prstGeom>
          <a:solidFill>
            <a:srgbClr val="FDEDE6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5650992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turbines, jet engines, rockets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52544" y="1783080"/>
            <a:ext cx="3483864" cy="4343400"/>
          </a:xfrm>
          <a:prstGeom prst="roundRect">
            <a:avLst>
              <a:gd name="adj" fmla="val 2625"/>
            </a:avLst>
          </a:prstGeom>
          <a:solidFill>
            <a:srgbClr val="EAF2FA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81144" y="2011680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4" name="Text 11"/>
          <p:cNvSpPr/>
          <p:nvPr/>
        </p:nvSpPr>
        <p:spPr>
          <a:xfrm>
            <a:off x="4581144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81144" y="269748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81144" y="3200400"/>
            <a:ext cx="30266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reverse of a nozzle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falls, pressure &amp; enthalpy rise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recover pressure from a fast stream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81144" y="5650992"/>
            <a:ext cx="3026664" cy="310896"/>
          </a:xfrm>
          <a:prstGeom prst="roundRect">
            <a:avLst>
              <a:gd name="adj" fmla="val 50000"/>
            </a:avLst>
          </a:prstGeom>
          <a:solidFill>
            <a:srgbClr val="FDEDE6"/>
          </a:solidFill>
          <a:ln/>
        </p:spPr>
      </p:sp>
      <p:sp>
        <p:nvSpPr>
          <p:cNvPr id="18" name="Text 15"/>
          <p:cNvSpPr/>
          <p:nvPr/>
        </p:nvSpPr>
        <p:spPr>
          <a:xfrm>
            <a:off x="4581144" y="5650992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Jet-engine intakes, centrifugal compressors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156448" y="1783080"/>
            <a:ext cx="3483864" cy="4343400"/>
          </a:xfrm>
          <a:prstGeom prst="roundRect">
            <a:avLst>
              <a:gd name="adj" fmla="val 2625"/>
            </a:avLst>
          </a:prstGeom>
          <a:solidFill>
            <a:srgbClr val="EAF2FA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85048" y="2011680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1" name="Text 18"/>
          <p:cNvSpPr/>
          <p:nvPr/>
        </p:nvSpPr>
        <p:spPr>
          <a:xfrm>
            <a:off x="8385048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∑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385048" y="269748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story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385048" y="3200400"/>
            <a:ext cx="30266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work, no heat, no elevation change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Enthalpy + KE = constant along the device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conversion between h and V²/2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385048" y="5650992"/>
            <a:ext cx="3026664" cy="310896"/>
          </a:xfrm>
          <a:prstGeom prst="roundRect">
            <a:avLst>
              <a:gd name="adj" fmla="val 50000"/>
            </a:avLst>
          </a:prstGeom>
          <a:solidFill>
            <a:srgbClr val="FDEDE6"/>
          </a:solidFill>
          <a:ln/>
        </p:spPr>
      </p:sp>
      <p:sp>
        <p:nvSpPr>
          <p:cNvPr id="25" name="Text 22"/>
          <p:cNvSpPr/>
          <p:nvPr/>
        </p:nvSpPr>
        <p:spPr>
          <a:xfrm>
            <a:off x="8385048" y="5650992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+ V²/2000 = constant (kJ/kg)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 • BOARD EXAMPLE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Turbine Power Output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EAF2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6916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enters a turbine at h₁ = 3230 kJ/kg, V₁ = 50 m/s and leaves at h₂ = 2675 kJ/kg, V₂ = 120 m/s. Heat loss to surroundings is 8 kJ/kg; elevation change is negligible. For ṁ = 2.5 kg/s, find the power developed.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154680"/>
            <a:ext cx="7498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SFEE: q − w = (h₂−h₁) + (V₂²−V₁²)/2000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ΔKE = (120² − 50²)/2000 = (14400 − 2500)/2000 = 5.95 kJ/kg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−8 kJ/kg (loss). So: −8 − w = (2675 − 3230) + 5.95 = −549.05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−8 + 549.05 = 541.05 kJ/kg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= ṁ w = 2.5 × 541.05 = 1352.6 kW ≈ 1.35 MW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321040" y="3154680"/>
            <a:ext cx="3319272" cy="1554480"/>
          </a:xfrm>
          <a:prstGeom prst="roundRect">
            <a:avLst>
              <a:gd name="adj" fmla="val 5882"/>
            </a:avLst>
          </a:prstGeom>
          <a:solidFill>
            <a:srgbClr val="16324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≈ 541 kJ/kg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≈ 1.35 MW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5806440"/>
            <a:ext cx="11091672" cy="530352"/>
          </a:xfrm>
          <a:prstGeom prst="roundRect">
            <a:avLst>
              <a:gd name="adj" fmla="val 15517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806440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Kinetic-energy change (5.95) is tiny beside Δh (555) — this is why turbines often neglect ΔKE.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 • BOARD EXAMPLE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Cooled Air Compressor with Velocity Change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EAF2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6916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flows steadily through a compressor at 0.5 kg/s. Enthalpy rises from 300 kJ/kg to 460 kJ/kg; velocity rises from 60 m/s to 120 m/s; heat rejected to cooling water is 25 kJ/kg. Find the power input.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154680"/>
            <a:ext cx="7498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ΔKE = (120² − 60²)/2000 = (14400 − 3600)/2000 = 5.4 kJ/kg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SFEE: q − w = Δh + ΔKE  ⇒  w = q − Δh − ΔKE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(−25) − 160 − 5.4 = −190.4 kJ/kg (work input)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input = ṁ |w| = 0.5 × 190.4 = 95.2 kW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321040" y="3154680"/>
            <a:ext cx="3319272" cy="1554480"/>
          </a:xfrm>
          <a:prstGeom prst="roundRect">
            <a:avLst>
              <a:gd name="adj" fmla="val 5882"/>
            </a:avLst>
          </a:prstGeom>
          <a:solidFill>
            <a:srgbClr val="16324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−190.4 kJ/kg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input ≈ 95.2 kW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5806440"/>
            <a:ext cx="11091672" cy="530352"/>
          </a:xfrm>
          <a:prstGeom prst="roundRect">
            <a:avLst>
              <a:gd name="adj" fmla="val 15517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806440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 w always comes out negative — quote the magnitude with the word "input".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 • HEAT &amp; THROTTLE DEVICES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Boiler, Condenser and the Throttling Valve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" y="191795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6" name="Text 3"/>
          <p:cNvSpPr/>
          <p:nvPr/>
        </p:nvSpPr>
        <p:spPr>
          <a:xfrm>
            <a:off x="621792" y="191795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17320" y="1728216"/>
            <a:ext cx="1019556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 / evaporator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tube bank, no shaft: q = h₂ − h₁ &gt; 0. All heat goes into raising enthalpy (water → steam).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" y="290093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290093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17320" y="2711196"/>
            <a:ext cx="1019556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Condenser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balance with q &lt; 0: steam surrenders its latent enthalpy to cooling water. ΔKE negligible in both.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1792" y="388391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" y="388391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17320" y="3694176"/>
            <a:ext cx="1019556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Throttling device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through a restriction (partially open valve, porous plug, capillary): q ≈ 0, w = 0, ΔKE ≈ 0 ⇒ h₁ = h₂.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" y="486689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486689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17320" y="4677156"/>
            <a:ext cx="1019556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throttling matters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drops at constant enthalpy; for real gases temperature usually drops too (Joule–Thomson effect, Unit IV) — the principle behind your refrigerator’s expansion valve.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14516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576072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Throttling is isenthalpic (h₁ = h₂) but NOT isothermal, and it is highly irreversible.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10 • LECTURE 8 • 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What Comes Next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covered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19456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device = SFEE with the right terms struck out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Nozzle: V₂ = √(2000(h₁−h₂)) m/s when V₁ is negligible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Turbine: w = h₁ − h₂ (positive); Compressor: w = h₁ − h₂ (negative → input)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Boiler/condenser: q = h₂ − h₁, no work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Throttling: h₁ = h₂ — isenthalpic, used in refrigerator expansion valves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406640" y="1920240"/>
            <a:ext cx="4233672" cy="3657600"/>
          </a:xfrm>
          <a:prstGeom prst="roundRect">
            <a:avLst>
              <a:gd name="adj" fmla="val 2500"/>
            </a:avLst>
          </a:prstGeom>
          <a:solidFill>
            <a:srgbClr val="16324F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0" y="2103120"/>
            <a:ext cx="3703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</a:t>
            </a:r>
            <a:endParaRPr lang="en-US" sz="115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 — Unsteady Flow Processes</a:t>
            </a:r>
            <a:endParaRPr lang="en-US" sz="1150" dirty="0"/>
          </a:p>
          <a:p>
            <a:pPr indent="0" marL="0">
              <a:buNone/>
            </a:pPr>
            <a:r>
              <a:rPr lang="en-US" sz="12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and emptying of tanks — when “steady” no longer holds.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P.K. Nag, "Engineering Thermodynamics", 6th Edn., TMH — Ch. 5 (First Law Applied to Flow Processes)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2026-08-19T04:07:30Z</dcterms:created>
  <dcterms:modified xsi:type="dcterms:W3CDTF">2026-08-19T04:07:30Z</dcterms:modified>
</cp:coreProperties>
</file>