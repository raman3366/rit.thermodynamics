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24F"/>
        </a:solidFill>
      </p:bgPr>
    </p:bg>
    <p:spTree>
      <p:nvGrpSpPr>
        <p:cNvPr id="1" name=""/>
        <p:cNvGrpSpPr/>
        <p:nvPr/>
      </p:nvGrpSpPr>
      <p:grpSpPr>
        <a:xfrm>
          <a:off x="0" y="0"/>
          <a:ext cx="0" cy="0"/>
          <a:chOff x="0" y="0"/>
          <a:chExt cx="0" cy="0"/>
        </a:xfrm>
      </p:grpSpPr>
      <p:sp>
        <p:nvSpPr>
          <p:cNvPr id="2" name="Shape 0"/>
          <p:cNvSpPr/>
          <p:nvPr/>
        </p:nvSpPr>
        <p:spPr>
          <a:xfrm>
            <a:off x="8595360" y="-2011680"/>
            <a:ext cx="5852160" cy="5852160"/>
          </a:xfrm>
          <a:prstGeom prst="ellipse">
            <a:avLst/>
          </a:prstGeom>
          <a:solidFill>
            <a:srgbClr val="1F4E79">
              <a:alpha val="45000"/>
            </a:srgbClr>
          </a:solidFill>
          <a:ln/>
        </p:spPr>
      </p:sp>
      <p:sp>
        <p:nvSpPr>
          <p:cNvPr id="3" name="Shape 1"/>
          <p:cNvSpPr/>
          <p:nvPr/>
        </p:nvSpPr>
        <p:spPr>
          <a:xfrm>
            <a:off x="-1645920" y="4937760"/>
            <a:ext cx="4206240" cy="4206240"/>
          </a:xfrm>
          <a:prstGeom prst="ellipse">
            <a:avLst/>
          </a:prstGeom>
          <a:solidFill>
            <a:srgbClr val="2E75B6">
              <a:alpha val="30000"/>
            </a:srgbClr>
          </a:solidFill>
          <a:ln/>
        </p:spPr>
      </p:sp>
      <p:sp>
        <p:nvSpPr>
          <p:cNvPr id="4" name="Shape 2"/>
          <p:cNvSpPr/>
          <p:nvPr/>
        </p:nvSpPr>
        <p:spPr>
          <a:xfrm>
            <a:off x="502920" y="457200"/>
            <a:ext cx="3977640" cy="1097280"/>
          </a:xfrm>
          <a:prstGeom prst="roundRect">
            <a:avLst>
              <a:gd name="adj" fmla="val 10000"/>
            </a:avLst>
          </a:prstGeom>
          <a:solidFill>
            <a:srgbClr val="FFFFFF"/>
          </a:solidFill>
          <a:ln/>
        </p:spPr>
      </p:sp>
      <p:pic>
        <p:nvPicPr>
          <p:cNvPr id="5" name="Image 0" descr="/home/claude/RIT_LOGO.jpg">    </p:cNvPr>
          <p:cNvPicPr>
            <a:picLocks noChangeAspect="1"/>
          </p:cNvPicPr>
          <p:nvPr/>
        </p:nvPicPr>
        <p:blipFill>
          <a:blip r:embed="rId1"/>
          <a:stretch>
            <a:fillRect/>
          </a:stretch>
        </p:blipFill>
        <p:spPr>
          <a:xfrm>
            <a:off x="685800" y="539534"/>
            <a:ext cx="3611880" cy="932613"/>
          </a:xfrm>
          <a:prstGeom prst="rect">
            <a:avLst/>
          </a:prstGeom>
        </p:spPr>
      </p:pic>
      <p:sp>
        <p:nvSpPr>
          <p:cNvPr id="6" name="Text 3"/>
          <p:cNvSpPr/>
          <p:nvPr/>
        </p:nvSpPr>
        <p:spPr>
          <a:xfrm>
            <a:off x="4800600" y="457200"/>
            <a:ext cx="6858000" cy="1097280"/>
          </a:xfrm>
          <a:prstGeom prst="rect">
            <a:avLst/>
          </a:prstGeom>
          <a:noFill/>
          <a:ln/>
        </p:spPr>
        <p:txBody>
          <a:bodyPr wrap="square" lIns="0" tIns="0" rIns="0" bIns="0" rtlCol="0" anchor="ctr"/>
          <a:lstStyle/>
          <a:p>
            <a:pPr indent="0" marL="0">
              <a:buNone/>
            </a:pPr>
            <a:r>
              <a:rPr lang="en-US" sz="1500" b="1" dirty="0">
                <a:solidFill>
                  <a:srgbClr val="F0714B"/>
                </a:solidFill>
                <a:latin typeface="Calibri" pitchFamily="34" charset="0"/>
                <a:ea typeface="Calibri" pitchFamily="34" charset="-122"/>
                <a:cs typeface="Calibri" pitchFamily="34" charset="-120"/>
              </a:rPr>
              <a:t>ME23312</a:t>
            </a:r>
            <a:endParaRPr lang="en-US" sz="1500" dirty="0"/>
          </a:p>
          <a:p>
            <a:pPr indent="0" marL="0">
              <a:buNone/>
            </a:pPr>
            <a:r>
              <a:rPr lang="en-US" sz="1500" b="1" dirty="0">
                <a:solidFill>
                  <a:srgbClr val="FFFFFF"/>
                </a:solidFill>
                <a:latin typeface="Calibri" pitchFamily="34" charset="0"/>
                <a:ea typeface="Calibri" pitchFamily="34" charset="-122"/>
                <a:cs typeface="Calibri" pitchFamily="34" charset="-120"/>
              </a:rPr>
              <a:t>ENGINEERING THERMODYNAMICS</a:t>
            </a:r>
            <a:endParaRPr lang="en-US" sz="1500" dirty="0"/>
          </a:p>
          <a:p>
            <a:pPr indent="0" marL="0">
              <a:buNone/>
            </a:pPr>
            <a:r>
              <a:rPr lang="en-US" sz="1250" dirty="0">
                <a:solidFill>
                  <a:srgbClr val="9DC3E6"/>
                </a:solidFill>
                <a:latin typeface="Calibri" pitchFamily="34" charset="0"/>
                <a:ea typeface="Calibri" pitchFamily="34" charset="-122"/>
                <a:cs typeface="Calibri" pitchFamily="34" charset="-120"/>
              </a:rPr>
              <a:t>UNIT I – Basics, Zeroth and First Law</a:t>
            </a:r>
            <a:endParaRPr lang="en-US" sz="1500" dirty="0"/>
          </a:p>
        </p:txBody>
      </p:sp>
      <p:sp>
        <p:nvSpPr>
          <p:cNvPr id="7" name="Shape 4"/>
          <p:cNvSpPr/>
          <p:nvPr/>
        </p:nvSpPr>
        <p:spPr>
          <a:xfrm>
            <a:off x="548640" y="2148840"/>
            <a:ext cx="3246120" cy="457200"/>
          </a:xfrm>
          <a:prstGeom prst="roundRect">
            <a:avLst>
              <a:gd name="adj" fmla="val 50000"/>
            </a:avLst>
          </a:prstGeom>
          <a:solidFill>
            <a:srgbClr val="F0714B"/>
          </a:solidFill>
          <a:ln/>
        </p:spPr>
      </p:sp>
      <p:sp>
        <p:nvSpPr>
          <p:cNvPr id="8" name="Text 5"/>
          <p:cNvSpPr/>
          <p:nvPr/>
        </p:nvSpPr>
        <p:spPr>
          <a:xfrm>
            <a:off x="548640" y="2148840"/>
            <a:ext cx="32461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SESSION 7 • LECTURE 6</a:t>
            </a:r>
            <a:endParaRPr lang="en-US" sz="1400" dirty="0"/>
          </a:p>
        </p:txBody>
      </p:sp>
      <p:sp>
        <p:nvSpPr>
          <p:cNvPr id="9" name="Text 6"/>
          <p:cNvSpPr/>
          <p:nvPr/>
        </p:nvSpPr>
        <p:spPr>
          <a:xfrm>
            <a:off x="548640" y="2743200"/>
            <a:ext cx="11064240" cy="137160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First Law of Thermodynamics — Closed Systems</a:t>
            </a:r>
            <a:endParaRPr lang="en-US" sz="3400" dirty="0"/>
          </a:p>
        </p:txBody>
      </p:sp>
      <p:sp>
        <p:nvSpPr>
          <p:cNvPr id="10" name="Text 7"/>
          <p:cNvSpPr/>
          <p:nvPr/>
        </p:nvSpPr>
        <p:spPr>
          <a:xfrm>
            <a:off x="548640" y="4069080"/>
            <a:ext cx="10515600" cy="548640"/>
          </a:xfrm>
          <a:prstGeom prst="rect">
            <a:avLst/>
          </a:prstGeom>
          <a:noFill/>
          <a:ln/>
        </p:spPr>
        <p:txBody>
          <a:bodyPr wrap="square" lIns="0" tIns="0" rIns="0" bIns="0" rtlCol="0" anchor="ctr"/>
          <a:lstStyle/>
          <a:p>
            <a:pPr indent="0" marL="0">
              <a:buNone/>
            </a:pPr>
            <a:r>
              <a:rPr lang="en-US" sz="1500" dirty="0">
                <a:solidFill>
                  <a:srgbClr val="9DC3E6"/>
                </a:solidFill>
                <a:latin typeface="Calibri" pitchFamily="34" charset="0"/>
                <a:ea typeface="Calibri" pitchFamily="34" charset="-122"/>
                <a:cs typeface="Calibri" pitchFamily="34" charset="-120"/>
              </a:rPr>
              <a:t>Joule’s experiment, the cyclic statement ∮δQ = ∮δW, internal energy, and Q − W = ΔE</a:t>
            </a:r>
            <a:endParaRPr lang="en-US" sz="1500" dirty="0"/>
          </a:p>
        </p:txBody>
      </p:sp>
      <p:sp>
        <p:nvSpPr>
          <p:cNvPr id="11" name="Text 8"/>
          <p:cNvSpPr/>
          <p:nvPr/>
        </p:nvSpPr>
        <p:spPr>
          <a:xfrm>
            <a:off x="548640" y="5074920"/>
            <a:ext cx="7772400" cy="1371600"/>
          </a:xfrm>
          <a:prstGeom prst="rect">
            <a:avLst/>
          </a:prstGeom>
          <a:noFill/>
          <a:ln/>
        </p:spPr>
        <p:txBody>
          <a:bodyPr wrap="square" lIns="0" tIns="0" rIns="0" bIns="0" rtlCol="0" anchor="ctr"/>
          <a:lstStyle/>
          <a:p>
            <a:pPr indent="0" marL="0">
              <a:buNone/>
            </a:pPr>
            <a:r>
              <a:rPr lang="en-US" sz="1400" b="1" dirty="0">
                <a:solidFill>
                  <a:srgbClr val="F0714B"/>
                </a:solidFill>
                <a:latin typeface="Calibri" pitchFamily="34" charset="0"/>
                <a:ea typeface="Calibri" pitchFamily="34" charset="-122"/>
                <a:cs typeface="Calibri" pitchFamily="34" charset="-120"/>
              </a:rPr>
              <a:t>Dr. Anantha Raman L., M.E., Ph.D.</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Associate Professor</a:t>
            </a:r>
            <a:endParaRPr lang="en-US" sz="1400" dirty="0"/>
          </a:p>
          <a:p>
            <a:pPr indent="0" marL="0">
              <a:buNone/>
            </a:pPr>
            <a:r>
              <a:rPr lang="en-US" sz="1150" dirty="0">
                <a:solidFill>
                  <a:srgbClr val="FFFFFF"/>
                </a:solidFill>
                <a:latin typeface="Calibri" pitchFamily="34" charset="0"/>
                <a:ea typeface="Calibri" pitchFamily="34" charset="-122"/>
                <a:cs typeface="Calibri" pitchFamily="34" charset="-120"/>
              </a:rPr>
              <a:t>Department of Mechanical Engineering</a:t>
            </a:r>
            <a:endParaRPr lang="en-US" sz="1400" dirty="0"/>
          </a:p>
          <a:p>
            <a:pPr indent="0" marL="0">
              <a:buNone/>
            </a:pPr>
            <a:r>
              <a:rPr lang="en-US" sz="1150" dirty="0">
                <a:solidFill>
                  <a:srgbClr val="9DC3E6"/>
                </a:solidFill>
                <a:latin typeface="Calibri" pitchFamily="34" charset="0"/>
                <a:ea typeface="Calibri" pitchFamily="34" charset="-122"/>
                <a:cs typeface="Calibri" pitchFamily="34" charset="-120"/>
              </a:rPr>
              <a:t>Rajalakshmi Institute of Technology, Chennai, Tamil Nadu.</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SESSION 7 • LECTURE 6</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Session Outline</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640080" y="1938528"/>
            <a:ext cx="603504" cy="603504"/>
          </a:xfrm>
          <a:prstGeom prst="ellipse">
            <a:avLst/>
          </a:prstGeom>
          <a:solidFill>
            <a:srgbClr val="F0714B"/>
          </a:solidFill>
          <a:ln/>
        </p:spPr>
      </p:sp>
      <p:sp>
        <p:nvSpPr>
          <p:cNvPr id="6" name="Text 3"/>
          <p:cNvSpPr/>
          <p:nvPr/>
        </p:nvSpPr>
        <p:spPr>
          <a:xfrm>
            <a:off x="640080" y="19385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1508760" y="18288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Recall &amp; connect</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Heat and work as boundary interactions; path functions</a:t>
            </a:r>
            <a:endParaRPr lang="en-US" sz="1550" dirty="0"/>
          </a:p>
        </p:txBody>
      </p:sp>
      <p:sp>
        <p:nvSpPr>
          <p:cNvPr id="8" name="Shape 5"/>
          <p:cNvSpPr/>
          <p:nvPr/>
        </p:nvSpPr>
        <p:spPr>
          <a:xfrm>
            <a:off x="932688" y="2569464"/>
            <a:ext cx="0" cy="256032"/>
          </a:xfrm>
          <a:prstGeom prst="line">
            <a:avLst/>
          </a:prstGeom>
          <a:noFill/>
          <a:ln w="19050">
            <a:solidFill>
              <a:srgbClr val="9DC3E6"/>
            </a:solidFill>
            <a:prstDash val="dash"/>
          </a:ln>
        </p:spPr>
      </p:sp>
      <p:sp>
        <p:nvSpPr>
          <p:cNvPr id="9" name="Shape 6"/>
          <p:cNvSpPr/>
          <p:nvPr/>
        </p:nvSpPr>
        <p:spPr>
          <a:xfrm>
            <a:off x="640080" y="2852928"/>
            <a:ext cx="603504" cy="603504"/>
          </a:xfrm>
          <a:prstGeom prst="ellipse">
            <a:avLst/>
          </a:prstGeom>
          <a:solidFill>
            <a:srgbClr val="F0714B"/>
          </a:solidFill>
          <a:ln/>
        </p:spPr>
      </p:sp>
      <p:sp>
        <p:nvSpPr>
          <p:cNvPr id="10" name="Text 7"/>
          <p:cNvSpPr/>
          <p:nvPr/>
        </p:nvSpPr>
        <p:spPr>
          <a:xfrm>
            <a:off x="640080" y="28529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1508760" y="27432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Joule’s paddle-wheel experiment</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Work in, heat out — the fixed ratio that founded the first law</a:t>
            </a:r>
            <a:endParaRPr lang="en-US" sz="1550" dirty="0"/>
          </a:p>
        </p:txBody>
      </p:sp>
      <p:sp>
        <p:nvSpPr>
          <p:cNvPr id="12" name="Shape 9"/>
          <p:cNvSpPr/>
          <p:nvPr/>
        </p:nvSpPr>
        <p:spPr>
          <a:xfrm>
            <a:off x="932688" y="3483864"/>
            <a:ext cx="0" cy="256032"/>
          </a:xfrm>
          <a:prstGeom prst="line">
            <a:avLst/>
          </a:prstGeom>
          <a:noFill/>
          <a:ln w="19050">
            <a:solidFill>
              <a:srgbClr val="9DC3E6"/>
            </a:solidFill>
            <a:prstDash val="dash"/>
          </a:ln>
        </p:spPr>
      </p:sp>
      <p:sp>
        <p:nvSpPr>
          <p:cNvPr id="13" name="Shape 10"/>
          <p:cNvSpPr/>
          <p:nvPr/>
        </p:nvSpPr>
        <p:spPr>
          <a:xfrm>
            <a:off x="640080" y="3767328"/>
            <a:ext cx="603504" cy="603504"/>
          </a:xfrm>
          <a:prstGeom prst="ellipse">
            <a:avLst/>
          </a:prstGeom>
          <a:solidFill>
            <a:srgbClr val="F0714B"/>
          </a:solidFill>
          <a:ln/>
        </p:spPr>
      </p:sp>
      <p:sp>
        <p:nvSpPr>
          <p:cNvPr id="14" name="Text 11"/>
          <p:cNvSpPr/>
          <p:nvPr/>
        </p:nvSpPr>
        <p:spPr>
          <a:xfrm>
            <a:off x="640080" y="37673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1508760" y="36576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First law statements</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For a cycle: ∮δQ = ∮δW. For a process: Q − W = ΔE</a:t>
            </a:r>
            <a:endParaRPr lang="en-US" sz="1550" dirty="0"/>
          </a:p>
        </p:txBody>
      </p:sp>
      <p:sp>
        <p:nvSpPr>
          <p:cNvPr id="16" name="Shape 13"/>
          <p:cNvSpPr/>
          <p:nvPr/>
        </p:nvSpPr>
        <p:spPr>
          <a:xfrm>
            <a:off x="932688" y="4398264"/>
            <a:ext cx="0" cy="256032"/>
          </a:xfrm>
          <a:prstGeom prst="line">
            <a:avLst/>
          </a:prstGeom>
          <a:noFill/>
          <a:ln w="19050">
            <a:solidFill>
              <a:srgbClr val="9DC3E6"/>
            </a:solidFill>
            <a:prstDash val="dash"/>
          </a:ln>
        </p:spPr>
      </p:sp>
      <p:sp>
        <p:nvSpPr>
          <p:cNvPr id="17" name="Shape 14"/>
          <p:cNvSpPr/>
          <p:nvPr/>
        </p:nvSpPr>
        <p:spPr>
          <a:xfrm>
            <a:off x="640080" y="4681728"/>
            <a:ext cx="603504" cy="603504"/>
          </a:xfrm>
          <a:prstGeom prst="ellipse">
            <a:avLst/>
          </a:prstGeom>
          <a:solidFill>
            <a:srgbClr val="F0714B"/>
          </a:solidFill>
          <a:ln/>
        </p:spPr>
      </p:sp>
      <p:sp>
        <p:nvSpPr>
          <p:cNvPr id="18" name="Text 15"/>
          <p:cNvSpPr/>
          <p:nvPr/>
        </p:nvSpPr>
        <p:spPr>
          <a:xfrm>
            <a:off x="640080" y="46817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p:nvPr/>
        </p:nvSpPr>
        <p:spPr>
          <a:xfrm>
            <a:off x="1508760" y="45720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Internal energy &amp; PMM1</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Why E is a property; specific heats c_v, c_p</a:t>
            </a:r>
            <a:endParaRPr lang="en-US" sz="1550" dirty="0"/>
          </a:p>
        </p:txBody>
      </p:sp>
      <p:sp>
        <p:nvSpPr>
          <p:cNvPr id="20" name="Shape 17"/>
          <p:cNvSpPr/>
          <p:nvPr/>
        </p:nvSpPr>
        <p:spPr>
          <a:xfrm>
            <a:off x="932688" y="5312664"/>
            <a:ext cx="0" cy="256032"/>
          </a:xfrm>
          <a:prstGeom prst="line">
            <a:avLst/>
          </a:prstGeom>
          <a:noFill/>
          <a:ln w="19050">
            <a:solidFill>
              <a:srgbClr val="9DC3E6"/>
            </a:solidFill>
            <a:prstDash val="dash"/>
          </a:ln>
        </p:spPr>
      </p:sp>
      <p:sp>
        <p:nvSpPr>
          <p:cNvPr id="21" name="Shape 18"/>
          <p:cNvSpPr/>
          <p:nvPr/>
        </p:nvSpPr>
        <p:spPr>
          <a:xfrm>
            <a:off x="640080" y="5596128"/>
            <a:ext cx="603504" cy="603504"/>
          </a:xfrm>
          <a:prstGeom prst="ellipse">
            <a:avLst/>
          </a:prstGeom>
          <a:solidFill>
            <a:srgbClr val="16324F"/>
          </a:solidFill>
          <a:ln/>
        </p:spPr>
      </p:sp>
      <p:sp>
        <p:nvSpPr>
          <p:cNvPr id="22" name="Text 19"/>
          <p:cNvSpPr/>
          <p:nvPr/>
        </p:nvSpPr>
        <p:spPr>
          <a:xfrm>
            <a:off x="640080" y="5596128"/>
            <a:ext cx="603504" cy="60350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0"/>
          <p:cNvSpPr/>
          <p:nvPr/>
        </p:nvSpPr>
        <p:spPr>
          <a:xfrm>
            <a:off x="1508760" y="5486400"/>
            <a:ext cx="10058400" cy="822960"/>
          </a:xfrm>
          <a:prstGeom prst="rect">
            <a:avLst/>
          </a:prstGeom>
          <a:noFill/>
          <a:ln/>
        </p:spPr>
        <p:txBody>
          <a:bodyPr wrap="square" lIns="0" tIns="0" rIns="0" bIns="0" rtlCol="0" anchor="ctr"/>
          <a:lstStyle/>
          <a:p>
            <a:pPr indent="0" marL="0">
              <a:buNone/>
            </a:pPr>
            <a:r>
              <a:rPr lang="en-US" sz="1550" b="1" dirty="0">
                <a:solidFill>
                  <a:srgbClr val="16324F"/>
                </a:solidFill>
                <a:latin typeface="Calibri" pitchFamily="34" charset="0"/>
                <a:ea typeface="Calibri" pitchFamily="34" charset="-122"/>
                <a:cs typeface="Calibri" pitchFamily="34" charset="-120"/>
              </a:rPr>
              <a:t>Two board examples</a:t>
            </a:r>
            <a:endParaRPr lang="en-US" sz="1550" dirty="0"/>
          </a:p>
          <a:p>
            <a:pPr indent="0" marL="0">
              <a:buNone/>
            </a:pPr>
            <a:r>
              <a:rPr lang="en-US" sz="1250" dirty="0">
                <a:solidFill>
                  <a:srgbClr val="5A6B7B"/>
                </a:solidFill>
                <a:latin typeface="Calibri" pitchFamily="34" charset="0"/>
                <a:ea typeface="Calibri" pitchFamily="34" charset="-122"/>
                <a:cs typeface="Calibri" pitchFamily="34" charset="-120"/>
              </a:rPr>
              <a:t>Energy balance for expansion and for compression</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LECTURE 6 • THE FOUNDING EXPERIMENT</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Joule’s Paddle-Wheel Experiment (1843–48)</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Text 2"/>
          <p:cNvSpPr/>
          <p:nvPr/>
        </p:nvSpPr>
        <p:spPr>
          <a:xfrm>
            <a:off x="548640" y="1783080"/>
            <a:ext cx="5577840" cy="3840480"/>
          </a:xfrm>
          <a:prstGeom prst="rect">
            <a:avLst/>
          </a:prstGeom>
          <a:noFill/>
          <a:ln/>
        </p:spPr>
        <p:txBody>
          <a:bodyPr wrap="square" lIns="0" tIns="0" rIns="0" bIns="0" rtlCol="0" anchor="t"/>
          <a:lstStyle/>
          <a:p>
            <a:pPr marL="152400" indent="-152400">
              <a:spcAft>
                <a:spcPts val="1000"/>
              </a:spcAft>
              <a:buSzPct val="100000"/>
              <a:buChar char="•"/>
            </a:pPr>
            <a:r>
              <a:rPr lang="en-US" sz="1350" b="1" dirty="0">
                <a:solidFill>
                  <a:srgbClr val="16324F"/>
                </a:solidFill>
                <a:latin typeface="Calibri" pitchFamily="34" charset="0"/>
                <a:ea typeface="Calibri" pitchFamily="34" charset="-122"/>
                <a:cs typeface="Calibri" pitchFamily="34" charset="-120"/>
              </a:rPr>
              <a:t>Insulated water tank; falling weight spins a paddle wheel, stirring the water.</a:t>
            </a:r>
            <a:endParaRPr lang="en-US" sz="1350" dirty="0"/>
          </a:p>
          <a:p>
            <a:pPr lvl="1" marL="3048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Measured work input W (weight × drop height) raises water temperature.</a:t>
            </a:r>
            <a:endParaRPr lang="en-US" sz="1350" dirty="0"/>
          </a:p>
          <a:p>
            <a:pPr lvl="1" marL="3048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System then cooled back to initial state by heat transfer Q to surroundings.</a:t>
            </a:r>
            <a:endParaRPr lang="en-US" sz="1350" dirty="0"/>
          </a:p>
          <a:p>
            <a:pPr marL="152400" indent="-152400">
              <a:spcAft>
                <a:spcPts val="1000"/>
              </a:spcAft>
              <a:buSzPct val="100000"/>
              <a:buChar char="•"/>
            </a:pPr>
            <a:r>
              <a:rPr lang="en-US" sz="1350" b="1" dirty="0">
                <a:solidFill>
                  <a:srgbClr val="16324F"/>
                </a:solidFill>
                <a:latin typeface="Calibri" pitchFamily="34" charset="0"/>
                <a:ea typeface="Calibri" pitchFamily="34" charset="-122"/>
                <a:cs typeface="Calibri" pitchFamily="34" charset="-120"/>
              </a:rPr>
              <a:t>Finding: W/Q is always the SAME constant, whatever the amounts.</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In SI both are in joules: net work in = net heat out for the cycle.</a:t>
            </a:r>
            <a:endParaRPr lang="en-US" sz="1350" dirty="0"/>
          </a:p>
          <a:p>
            <a:pPr marL="152400" indent="-152400">
              <a:spcAft>
                <a:spcPts val="1000"/>
              </a:spcAft>
              <a:buSzPct val="100000"/>
              <a:buChar char="•"/>
            </a:pPr>
            <a:r>
              <a:rPr lang="en-US" sz="1350" b="1" dirty="0">
                <a:solidFill>
                  <a:srgbClr val="16324F"/>
                </a:solidFill>
                <a:latin typeface="Calibri" pitchFamily="34" charset="0"/>
                <a:ea typeface="Calibri" pitchFamily="34" charset="-122"/>
                <a:cs typeface="Calibri" pitchFamily="34" charset="-120"/>
              </a:rPr>
              <a:t>Conclusion: heat and work are interchangeable forms of energy.</a:t>
            </a:r>
            <a:endParaRPr lang="en-US" sz="1350" dirty="0"/>
          </a:p>
        </p:txBody>
      </p:sp>
      <p:sp>
        <p:nvSpPr>
          <p:cNvPr id="6" name="Shape 3"/>
          <p:cNvSpPr/>
          <p:nvPr/>
        </p:nvSpPr>
        <p:spPr>
          <a:xfrm>
            <a:off x="6400800" y="1783080"/>
            <a:ext cx="5239512" cy="3840480"/>
          </a:xfrm>
          <a:prstGeom prst="roundRect">
            <a:avLst>
              <a:gd name="adj" fmla="val 2381"/>
            </a:avLst>
          </a:prstGeom>
          <a:solidFill>
            <a:srgbClr val="EAF2FA"/>
          </a:solidFill>
          <a:ln w="12700">
            <a:solidFill>
              <a:srgbClr val="9DC3E6"/>
            </a:solidFill>
            <a:prstDash val="solid"/>
          </a:ln>
        </p:spPr>
      </p:sp>
      <p:sp>
        <p:nvSpPr>
          <p:cNvPr id="7" name="Text 4"/>
          <p:cNvSpPr/>
          <p:nvPr/>
        </p:nvSpPr>
        <p:spPr>
          <a:xfrm>
            <a:off x="6537960" y="1892808"/>
            <a:ext cx="4965192" cy="274320"/>
          </a:xfrm>
          <a:prstGeom prst="rect">
            <a:avLst/>
          </a:prstGeom>
          <a:noFill/>
          <a:ln/>
        </p:spPr>
        <p:txBody>
          <a:bodyPr wrap="square" lIns="0" tIns="0" rIns="0" bIns="0" rtlCol="0" anchor="ctr"/>
          <a:lstStyle/>
          <a:p>
            <a:pPr algn="ctr" indent="0" marL="0">
              <a:buNone/>
            </a:pPr>
            <a:r>
              <a:rPr lang="en-US" sz="1100" b="1" dirty="0">
                <a:solidFill>
                  <a:srgbClr val="5A6B7B"/>
                </a:solidFill>
                <a:latin typeface="Calibri" pitchFamily="34" charset="0"/>
                <a:ea typeface="Calibri" pitchFamily="34" charset="-122"/>
                <a:cs typeface="Calibri" pitchFamily="34" charset="-120"/>
              </a:rPr>
              <a:t>SURROUNDINGS</a:t>
            </a:r>
            <a:endParaRPr lang="en-US" sz="1100" dirty="0"/>
          </a:p>
        </p:txBody>
      </p:sp>
      <p:sp>
        <p:nvSpPr>
          <p:cNvPr id="8" name="Shape 5"/>
          <p:cNvSpPr/>
          <p:nvPr/>
        </p:nvSpPr>
        <p:spPr>
          <a:xfrm>
            <a:off x="7648956" y="2560320"/>
            <a:ext cx="2743200" cy="1737360"/>
          </a:xfrm>
          <a:prstGeom prst="roundRect">
            <a:avLst>
              <a:gd name="adj" fmla="val 4211"/>
            </a:avLst>
          </a:prstGeom>
          <a:solidFill>
            <a:srgbClr val="FFFFFF"/>
          </a:solidFill>
          <a:ln w="28575">
            <a:solidFill>
              <a:srgbClr val="16324F"/>
            </a:solidFill>
            <a:prstDash val="dash"/>
          </a:ln>
        </p:spPr>
      </p:sp>
      <p:sp>
        <p:nvSpPr>
          <p:cNvPr id="9" name="Shape 6"/>
          <p:cNvSpPr/>
          <p:nvPr/>
        </p:nvSpPr>
        <p:spPr>
          <a:xfrm>
            <a:off x="8014716" y="2880360"/>
            <a:ext cx="2011680" cy="1097280"/>
          </a:xfrm>
          <a:prstGeom prst="roundRect">
            <a:avLst>
              <a:gd name="adj" fmla="val 6667"/>
            </a:avLst>
          </a:prstGeom>
          <a:solidFill>
            <a:srgbClr val="2E75B6"/>
          </a:solidFill>
          <a:ln/>
        </p:spPr>
      </p:sp>
      <p:sp>
        <p:nvSpPr>
          <p:cNvPr id="10" name="Text 7"/>
          <p:cNvSpPr/>
          <p:nvPr/>
        </p:nvSpPr>
        <p:spPr>
          <a:xfrm>
            <a:off x="8014716" y="2880360"/>
            <a:ext cx="2011680" cy="10972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SYSTEM</a:t>
            </a:r>
            <a:endParaRPr lang="en-US" sz="1400" dirty="0"/>
          </a:p>
        </p:txBody>
      </p:sp>
      <p:sp>
        <p:nvSpPr>
          <p:cNvPr id="11" name="Text 8"/>
          <p:cNvSpPr/>
          <p:nvPr/>
        </p:nvSpPr>
        <p:spPr>
          <a:xfrm>
            <a:off x="7557516" y="4361688"/>
            <a:ext cx="2926080" cy="274320"/>
          </a:xfrm>
          <a:prstGeom prst="rect">
            <a:avLst/>
          </a:prstGeom>
          <a:noFill/>
          <a:ln/>
        </p:spPr>
        <p:txBody>
          <a:bodyPr wrap="square" lIns="0" tIns="0" rIns="0" bIns="0" rtlCol="0" anchor="ctr"/>
          <a:lstStyle/>
          <a:p>
            <a:pPr algn="ctr" indent="0" marL="0">
              <a:buNone/>
            </a:pPr>
            <a:r>
              <a:rPr lang="en-US" sz="1050" i="1" dirty="0">
                <a:solidFill>
                  <a:srgbClr val="16324F"/>
                </a:solidFill>
                <a:latin typeface="Calibri" pitchFamily="34" charset="0"/>
                <a:ea typeface="Calibri" pitchFamily="34" charset="-122"/>
                <a:cs typeface="Calibri" pitchFamily="34" charset="-120"/>
              </a:rPr>
              <a:t>Boundary (dashed)</a:t>
            </a:r>
            <a:endParaRPr lang="en-US" sz="1050" dirty="0"/>
          </a:p>
        </p:txBody>
      </p:sp>
      <p:sp>
        <p:nvSpPr>
          <p:cNvPr id="12" name="Shape 9"/>
          <p:cNvSpPr/>
          <p:nvPr/>
        </p:nvSpPr>
        <p:spPr>
          <a:xfrm>
            <a:off x="6675120" y="3108960"/>
            <a:ext cx="1051560" cy="365760"/>
          </a:xfrm>
          <a:prstGeom prst="rightArrow">
            <a:avLst/>
          </a:prstGeom>
          <a:solidFill>
            <a:srgbClr val="F0714B"/>
          </a:solidFill>
          <a:ln/>
        </p:spPr>
      </p:sp>
      <p:sp>
        <p:nvSpPr>
          <p:cNvPr id="13" name="Text 10"/>
          <p:cNvSpPr/>
          <p:nvPr/>
        </p:nvSpPr>
        <p:spPr>
          <a:xfrm>
            <a:off x="6510528" y="3520440"/>
            <a:ext cx="1371600" cy="274320"/>
          </a:xfrm>
          <a:prstGeom prst="rect">
            <a:avLst/>
          </a:prstGeom>
          <a:noFill/>
          <a:ln/>
        </p:spPr>
        <p:txBody>
          <a:bodyPr wrap="square" lIns="0" tIns="0" rIns="0" bIns="0" rtlCol="0" anchor="ctr"/>
          <a:lstStyle/>
          <a:p>
            <a:pPr algn="ctr" indent="0" marL="0">
              <a:buNone/>
            </a:pPr>
            <a:r>
              <a:rPr lang="en-US" sz="1000" b="1" dirty="0">
                <a:solidFill>
                  <a:srgbClr val="C0532F"/>
                </a:solidFill>
                <a:latin typeface="Calibri" pitchFamily="34" charset="0"/>
                <a:ea typeface="Calibri" pitchFamily="34" charset="-122"/>
                <a:cs typeface="Calibri" pitchFamily="34" charset="-120"/>
              </a:rPr>
              <a:t>Energy in</a:t>
            </a:r>
            <a:endParaRPr lang="en-US" sz="1000" dirty="0"/>
          </a:p>
        </p:txBody>
      </p:sp>
      <p:sp>
        <p:nvSpPr>
          <p:cNvPr id="14" name="Shape 11"/>
          <p:cNvSpPr/>
          <p:nvPr/>
        </p:nvSpPr>
        <p:spPr>
          <a:xfrm>
            <a:off x="10268712" y="3108960"/>
            <a:ext cx="1051560" cy="365760"/>
          </a:xfrm>
          <a:prstGeom prst="rightArrow">
            <a:avLst/>
          </a:prstGeom>
          <a:solidFill>
            <a:srgbClr val="F0714B"/>
          </a:solidFill>
          <a:ln/>
        </p:spPr>
      </p:sp>
      <p:sp>
        <p:nvSpPr>
          <p:cNvPr id="15" name="Text 12"/>
          <p:cNvSpPr/>
          <p:nvPr/>
        </p:nvSpPr>
        <p:spPr>
          <a:xfrm>
            <a:off x="10085832" y="3520440"/>
            <a:ext cx="1463040" cy="274320"/>
          </a:xfrm>
          <a:prstGeom prst="rect">
            <a:avLst/>
          </a:prstGeom>
          <a:noFill/>
          <a:ln/>
        </p:spPr>
        <p:txBody>
          <a:bodyPr wrap="square" lIns="0" tIns="0" rIns="0" bIns="0" rtlCol="0" anchor="ctr"/>
          <a:lstStyle/>
          <a:p>
            <a:pPr algn="ctr" indent="0" marL="0">
              <a:buNone/>
            </a:pPr>
            <a:r>
              <a:rPr lang="en-US" sz="1000" b="1" dirty="0">
                <a:solidFill>
                  <a:srgbClr val="C0532F"/>
                </a:solidFill>
                <a:latin typeface="Calibri" pitchFamily="34" charset="0"/>
                <a:ea typeface="Calibri" pitchFamily="34" charset="-122"/>
                <a:cs typeface="Calibri" pitchFamily="34" charset="-120"/>
              </a:rPr>
              <a:t>Energy out</a:t>
            </a:r>
            <a:endParaRPr lang="en-US" sz="1000" dirty="0"/>
          </a:p>
        </p:txBody>
      </p:sp>
      <p:sp>
        <p:nvSpPr>
          <p:cNvPr id="16" name="Text 13"/>
          <p:cNvSpPr/>
          <p:nvPr/>
        </p:nvSpPr>
        <p:spPr>
          <a:xfrm>
            <a:off x="6675120" y="4937760"/>
            <a:ext cx="4690872" cy="548640"/>
          </a:xfrm>
          <a:prstGeom prst="rect">
            <a:avLst/>
          </a:prstGeom>
          <a:noFill/>
          <a:ln/>
        </p:spPr>
        <p:txBody>
          <a:bodyPr wrap="square" lIns="0" tIns="0" rIns="0" bIns="0" rtlCol="0" anchor="ctr"/>
          <a:lstStyle/>
          <a:p>
            <a:pPr algn="ctr" indent="0" marL="0">
              <a:buNone/>
            </a:pPr>
            <a:r>
              <a:rPr lang="en-US" sz="1050" dirty="0">
                <a:solidFill>
                  <a:srgbClr val="5A6B7B"/>
                </a:solidFill>
                <a:latin typeface="Calibri" pitchFamily="34" charset="0"/>
                <a:ea typeface="Calibri" pitchFamily="34" charset="-122"/>
                <a:cs typeface="Calibri" pitchFamily="34" charset="-120"/>
              </a:rPr>
              <a:t>Mass may or may not cross the boundary depending on the type of system</a:t>
            </a:r>
            <a:endParaRPr lang="en-US" sz="1050" dirty="0"/>
          </a:p>
        </p:txBody>
      </p:sp>
      <p:sp>
        <p:nvSpPr>
          <p:cNvPr id="17" name="Shape 14"/>
          <p:cNvSpPr/>
          <p:nvPr/>
        </p:nvSpPr>
        <p:spPr>
          <a:xfrm>
            <a:off x="548640" y="5760720"/>
            <a:ext cx="11091672" cy="566928"/>
          </a:xfrm>
          <a:prstGeom prst="roundRect">
            <a:avLst>
              <a:gd name="adj" fmla="val 14516"/>
            </a:avLst>
          </a:prstGeom>
          <a:solidFill>
            <a:srgbClr val="FDEDE6"/>
          </a:solidFill>
          <a:ln w="12700">
            <a:solidFill>
              <a:srgbClr val="F0714B"/>
            </a:solidFill>
            <a:prstDash val="solid"/>
          </a:ln>
        </p:spPr>
      </p:sp>
      <p:sp>
        <p:nvSpPr>
          <p:cNvPr id="18" name="Text 15"/>
          <p:cNvSpPr/>
          <p:nvPr/>
        </p:nvSpPr>
        <p:spPr>
          <a:xfrm>
            <a:off x="731520" y="5760720"/>
            <a:ext cx="10725912" cy="566928"/>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Joule’s constant (4.186 kJ/kcal) unified heat and work into one currency: energy.</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LECTURE 6 • THE LAW</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First Law — Cycle Form and Process Form</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828800"/>
            <a:ext cx="5394960" cy="1051560"/>
          </a:xfrm>
          <a:prstGeom prst="roundRect">
            <a:avLst>
              <a:gd name="adj" fmla="val 8696"/>
            </a:avLst>
          </a:prstGeom>
          <a:solidFill>
            <a:srgbClr val="16324F"/>
          </a:solidFill>
          <a:ln/>
        </p:spPr>
      </p:sp>
      <p:sp>
        <p:nvSpPr>
          <p:cNvPr id="6" name="Text 3"/>
          <p:cNvSpPr/>
          <p:nvPr/>
        </p:nvSpPr>
        <p:spPr>
          <a:xfrm>
            <a:off x="548640" y="1828800"/>
            <a:ext cx="5394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 δQ  =  ∮ δW</a:t>
            </a:r>
            <a:endParaRPr lang="en-US" sz="1700" dirty="0"/>
          </a:p>
        </p:txBody>
      </p:sp>
      <p:sp>
        <p:nvSpPr>
          <p:cNvPr id="7" name="Text 4"/>
          <p:cNvSpPr/>
          <p:nvPr/>
        </p:nvSpPr>
        <p:spPr>
          <a:xfrm>
            <a:off x="548640" y="2569464"/>
            <a:ext cx="5394960" cy="274320"/>
          </a:xfrm>
          <a:prstGeom prst="rect">
            <a:avLst/>
          </a:prstGeom>
          <a:noFill/>
          <a:ln/>
        </p:spPr>
        <p:txBody>
          <a:bodyPr wrap="square" lIns="0" tIns="0" rIns="0" bIns="0" rtlCol="0" anchor="ctr"/>
          <a:lstStyle/>
          <a:p>
            <a:pPr algn="ctr" indent="0" marL="0">
              <a:buNone/>
            </a:pPr>
            <a:r>
              <a:rPr lang="en-US" sz="1050" dirty="0">
                <a:solidFill>
                  <a:srgbClr val="9DC3E6"/>
                </a:solidFill>
                <a:latin typeface="Calibri" pitchFamily="34" charset="0"/>
                <a:ea typeface="Calibri" pitchFamily="34" charset="-122"/>
                <a:cs typeface="Calibri" pitchFamily="34" charset="-120"/>
              </a:rPr>
              <a:t>For a closed system undergoing a CYCLE: net heat transfer = net work transfer</a:t>
            </a:r>
            <a:endParaRPr lang="en-US" sz="1050" dirty="0"/>
          </a:p>
        </p:txBody>
      </p:sp>
      <p:sp>
        <p:nvSpPr>
          <p:cNvPr id="8" name="Shape 5"/>
          <p:cNvSpPr/>
          <p:nvPr/>
        </p:nvSpPr>
        <p:spPr>
          <a:xfrm>
            <a:off x="6263640" y="1828800"/>
            <a:ext cx="5394960" cy="1051560"/>
          </a:xfrm>
          <a:prstGeom prst="roundRect">
            <a:avLst>
              <a:gd name="adj" fmla="val 8696"/>
            </a:avLst>
          </a:prstGeom>
          <a:solidFill>
            <a:srgbClr val="16324F"/>
          </a:solidFill>
          <a:ln/>
        </p:spPr>
      </p:sp>
      <p:sp>
        <p:nvSpPr>
          <p:cNvPr id="9" name="Text 6"/>
          <p:cNvSpPr/>
          <p:nvPr/>
        </p:nvSpPr>
        <p:spPr>
          <a:xfrm>
            <a:off x="6263640" y="1828800"/>
            <a:ext cx="5394960" cy="7772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Q₁₂ − W₁₂ = ΔE = E₂ − E₁</a:t>
            </a:r>
            <a:endParaRPr lang="en-US" sz="1700" dirty="0"/>
          </a:p>
        </p:txBody>
      </p:sp>
      <p:sp>
        <p:nvSpPr>
          <p:cNvPr id="10" name="Text 7"/>
          <p:cNvSpPr/>
          <p:nvPr/>
        </p:nvSpPr>
        <p:spPr>
          <a:xfrm>
            <a:off x="6263640" y="2569464"/>
            <a:ext cx="5394960" cy="274320"/>
          </a:xfrm>
          <a:prstGeom prst="rect">
            <a:avLst/>
          </a:prstGeom>
          <a:noFill/>
          <a:ln/>
        </p:spPr>
        <p:txBody>
          <a:bodyPr wrap="square" lIns="0" tIns="0" rIns="0" bIns="0" rtlCol="0" anchor="ctr"/>
          <a:lstStyle/>
          <a:p>
            <a:pPr algn="ctr" indent="0" marL="0">
              <a:buNone/>
            </a:pPr>
            <a:r>
              <a:rPr lang="en-US" sz="1050" dirty="0">
                <a:solidFill>
                  <a:srgbClr val="9DC3E6"/>
                </a:solidFill>
                <a:latin typeface="Calibri" pitchFamily="34" charset="0"/>
                <a:ea typeface="Calibri" pitchFamily="34" charset="-122"/>
                <a:cs typeface="Calibri" pitchFamily="34" charset="-120"/>
              </a:rPr>
              <a:t>For a PROCESS 1→2: energy is conserved; the difference is stored</a:t>
            </a:r>
            <a:endParaRPr lang="en-US" sz="1050" dirty="0"/>
          </a:p>
        </p:txBody>
      </p:sp>
      <p:sp>
        <p:nvSpPr>
          <p:cNvPr id="11" name="Text 8"/>
          <p:cNvSpPr/>
          <p:nvPr/>
        </p:nvSpPr>
        <p:spPr>
          <a:xfrm>
            <a:off x="548640" y="3200400"/>
            <a:ext cx="11064240" cy="2468880"/>
          </a:xfrm>
          <a:prstGeom prst="rect">
            <a:avLst/>
          </a:prstGeom>
          <a:noFill/>
          <a:ln/>
        </p:spPr>
        <p:txBody>
          <a:bodyPr wrap="square" lIns="0" tIns="0" rIns="0" bIns="0" rtlCol="0" anchor="t"/>
          <a:lstStyle/>
          <a:p>
            <a:pPr indent="0" marL="0">
              <a:spcAft>
                <a:spcPts val="800"/>
              </a:spcAft>
              <a:buNone/>
            </a:pPr>
            <a:r>
              <a:rPr lang="en-US" sz="1500" b="1" dirty="0">
                <a:solidFill>
                  <a:srgbClr val="16324F"/>
                </a:solidFill>
                <a:latin typeface="Calibri" pitchFamily="34" charset="0"/>
                <a:ea typeface="Calibri" pitchFamily="34" charset="-122"/>
                <a:cs typeface="Calibri" pitchFamily="34" charset="-120"/>
              </a:rPr>
              <a:t>From cycle form to process form</a:t>
            </a:r>
            <a:endParaRPr lang="en-US" sz="1500" dirty="0"/>
          </a:p>
          <a:p>
            <a:pPr marL="152400" indent="-1524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Consider two processes A and B between states 1 and 2 forming a cycle: (Q − W) along A equals (Q − W) along B.</a:t>
            </a:r>
            <a:endParaRPr lang="en-US" sz="1500" dirty="0"/>
          </a:p>
          <a:p>
            <a:pPr marL="152400" indent="-1524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(Q − W) is therefore path-independent → it defines a property: the total energy E.</a:t>
            </a:r>
            <a:endParaRPr lang="en-US" sz="1500" dirty="0"/>
          </a:p>
          <a:p>
            <a:pPr marL="152400" indent="-152400">
              <a:spcAft>
                <a:spcPts val="800"/>
              </a:spcAft>
              <a:buSzPct val="100000"/>
              <a:buChar char="•"/>
            </a:pPr>
            <a:r>
              <a:rPr lang="en-US" sz="1300" dirty="0">
                <a:solidFill>
                  <a:srgbClr val="1A1A2E"/>
                </a:solidFill>
                <a:latin typeface="Calibri" pitchFamily="34" charset="0"/>
                <a:ea typeface="Calibri" pitchFamily="34" charset="-122"/>
                <a:cs typeface="Calibri" pitchFamily="34" charset="-120"/>
              </a:rPr>
              <a:t>E = U + KE + PE.  In most stationary closed systems ΔKE = ΔPE = 0, so:</a:t>
            </a:r>
            <a:endParaRPr lang="en-US" sz="1500" dirty="0"/>
          </a:p>
          <a:p>
            <a:pPr marL="152400" indent="-152400">
              <a:buSzPct val="100000"/>
              <a:buChar char="•"/>
            </a:pPr>
            <a:r>
              <a:rPr lang="en-US" sz="1400" b="1" dirty="0">
                <a:solidFill>
                  <a:srgbClr val="16324F"/>
                </a:solidFill>
                <a:latin typeface="Calibri" pitchFamily="34" charset="0"/>
                <a:ea typeface="Calibri" pitchFamily="34" charset="-122"/>
                <a:cs typeface="Calibri" pitchFamily="34" charset="-120"/>
              </a:rPr>
              <a:t>Q − W = ΔU   (working form for closed-system problems)</a:t>
            </a:r>
            <a:endParaRPr lang="en-US" sz="1500" dirty="0"/>
          </a:p>
        </p:txBody>
      </p:sp>
      <p:sp>
        <p:nvSpPr>
          <p:cNvPr id="12" name="Shape 9"/>
          <p:cNvSpPr/>
          <p:nvPr/>
        </p:nvSpPr>
        <p:spPr>
          <a:xfrm>
            <a:off x="548640" y="5897880"/>
            <a:ext cx="11091672" cy="566928"/>
          </a:xfrm>
          <a:prstGeom prst="roundRect">
            <a:avLst>
              <a:gd name="adj" fmla="val 14516"/>
            </a:avLst>
          </a:prstGeom>
          <a:solidFill>
            <a:srgbClr val="FDEDE6"/>
          </a:solidFill>
          <a:ln w="12700">
            <a:solidFill>
              <a:srgbClr val="F0714B"/>
            </a:solidFill>
            <a:prstDash val="solid"/>
          </a:ln>
        </p:spPr>
      </p:sp>
      <p:sp>
        <p:nvSpPr>
          <p:cNvPr id="13" name="Text 10"/>
          <p:cNvSpPr/>
          <p:nvPr/>
        </p:nvSpPr>
        <p:spPr>
          <a:xfrm>
            <a:off x="731520" y="5897880"/>
            <a:ext cx="10725912" cy="566928"/>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Energy can be neither created nor destroyed during a process; it can only change forms.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LECTURE 6 • THE NEW PROPERTY</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Internal Energy U — and the Specific Heats</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621792" y="1892808"/>
            <a:ext cx="530352" cy="530352"/>
          </a:xfrm>
          <a:prstGeom prst="ellipse">
            <a:avLst/>
          </a:prstGeom>
          <a:solidFill>
            <a:srgbClr val="F0714B"/>
          </a:solidFill>
          <a:ln/>
        </p:spPr>
      </p:sp>
      <p:sp>
        <p:nvSpPr>
          <p:cNvPr id="6" name="Text 3"/>
          <p:cNvSpPr/>
          <p:nvPr/>
        </p:nvSpPr>
        <p:spPr>
          <a:xfrm>
            <a:off x="621792" y="1892808"/>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4"/>
          <p:cNvSpPr/>
          <p:nvPr/>
        </p:nvSpPr>
        <p:spPr>
          <a:xfrm>
            <a:off x="1417320" y="1728216"/>
            <a:ext cx="10195560" cy="85953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What is U?</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The sum of all microscopic energies — molecular translation, rotation, vibration, and intermolecular potential energy. An extensive property; u = U/m.</a:t>
            </a:r>
            <a:endParaRPr lang="en-US" sz="1500" dirty="0"/>
          </a:p>
        </p:txBody>
      </p:sp>
      <p:sp>
        <p:nvSpPr>
          <p:cNvPr id="8" name="Shape 5"/>
          <p:cNvSpPr/>
          <p:nvPr/>
        </p:nvSpPr>
        <p:spPr>
          <a:xfrm>
            <a:off x="621792" y="2825496"/>
            <a:ext cx="530352" cy="530352"/>
          </a:xfrm>
          <a:prstGeom prst="ellipse">
            <a:avLst/>
          </a:prstGeom>
          <a:solidFill>
            <a:srgbClr val="F0714B"/>
          </a:solidFill>
          <a:ln/>
        </p:spPr>
      </p:sp>
      <p:sp>
        <p:nvSpPr>
          <p:cNvPr id="9" name="Text 6"/>
          <p:cNvSpPr/>
          <p:nvPr/>
        </p:nvSpPr>
        <p:spPr>
          <a:xfrm>
            <a:off x="621792" y="2825496"/>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7"/>
          <p:cNvSpPr/>
          <p:nvPr/>
        </p:nvSpPr>
        <p:spPr>
          <a:xfrm>
            <a:off x="1417320" y="2660904"/>
            <a:ext cx="10195560" cy="85953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U is a point function</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ΔU between two states is the same for every path — unlike Q and W individually. Only their difference is fixed.</a:t>
            </a:r>
            <a:endParaRPr lang="en-US" sz="1500" dirty="0"/>
          </a:p>
        </p:txBody>
      </p:sp>
      <p:sp>
        <p:nvSpPr>
          <p:cNvPr id="11" name="Shape 8"/>
          <p:cNvSpPr/>
          <p:nvPr/>
        </p:nvSpPr>
        <p:spPr>
          <a:xfrm>
            <a:off x="621792" y="3758184"/>
            <a:ext cx="530352" cy="530352"/>
          </a:xfrm>
          <a:prstGeom prst="ellipse">
            <a:avLst/>
          </a:prstGeom>
          <a:solidFill>
            <a:srgbClr val="F0714B"/>
          </a:solidFill>
          <a:ln/>
        </p:spPr>
      </p:sp>
      <p:sp>
        <p:nvSpPr>
          <p:cNvPr id="12" name="Text 9"/>
          <p:cNvSpPr/>
          <p:nvPr/>
        </p:nvSpPr>
        <p:spPr>
          <a:xfrm>
            <a:off x="621792" y="3758184"/>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0"/>
          <p:cNvSpPr/>
          <p:nvPr/>
        </p:nvSpPr>
        <p:spPr>
          <a:xfrm>
            <a:off x="1417320" y="3593592"/>
            <a:ext cx="10195560" cy="85953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Specific heat at constant volume</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c_v = (∂u/∂T)_v. For a constant-volume process of an ideal gas: Q = ΔU = m c_v ΔT (since W = 0).</a:t>
            </a:r>
            <a:endParaRPr lang="en-US" sz="1500" dirty="0"/>
          </a:p>
        </p:txBody>
      </p:sp>
      <p:sp>
        <p:nvSpPr>
          <p:cNvPr id="14" name="Shape 11"/>
          <p:cNvSpPr/>
          <p:nvPr/>
        </p:nvSpPr>
        <p:spPr>
          <a:xfrm>
            <a:off x="621792" y="4690872"/>
            <a:ext cx="530352" cy="530352"/>
          </a:xfrm>
          <a:prstGeom prst="ellipse">
            <a:avLst/>
          </a:prstGeom>
          <a:solidFill>
            <a:srgbClr val="F0714B"/>
          </a:solidFill>
          <a:ln/>
        </p:spPr>
      </p:sp>
      <p:sp>
        <p:nvSpPr>
          <p:cNvPr id="15" name="Text 12"/>
          <p:cNvSpPr/>
          <p:nvPr/>
        </p:nvSpPr>
        <p:spPr>
          <a:xfrm>
            <a:off x="621792" y="4690872"/>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3"/>
          <p:cNvSpPr/>
          <p:nvPr/>
        </p:nvSpPr>
        <p:spPr>
          <a:xfrm>
            <a:off x="1417320" y="4526280"/>
            <a:ext cx="10195560" cy="85953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Specific heat at constant pressure</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c_p = (∂h/∂T)_p. For constant pressure: Q = m c_p ΔT; the extra (c_p − c_v) supplies the boundary work. c_p − c_v = R for an ideal gas.</a:t>
            </a:r>
            <a:endParaRPr lang="en-US" sz="1500" dirty="0"/>
          </a:p>
        </p:txBody>
      </p:sp>
      <p:sp>
        <p:nvSpPr>
          <p:cNvPr id="17" name="Shape 14"/>
          <p:cNvSpPr/>
          <p:nvPr/>
        </p:nvSpPr>
        <p:spPr>
          <a:xfrm>
            <a:off x="621792" y="5623560"/>
            <a:ext cx="530352" cy="530352"/>
          </a:xfrm>
          <a:prstGeom prst="ellipse">
            <a:avLst/>
          </a:prstGeom>
          <a:solidFill>
            <a:srgbClr val="F0714B"/>
          </a:solidFill>
          <a:ln/>
        </p:spPr>
      </p:sp>
      <p:sp>
        <p:nvSpPr>
          <p:cNvPr id="18" name="Text 15"/>
          <p:cNvSpPr/>
          <p:nvPr/>
        </p:nvSpPr>
        <p:spPr>
          <a:xfrm>
            <a:off x="621792" y="5623560"/>
            <a:ext cx="5303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6"/>
          <p:cNvSpPr/>
          <p:nvPr/>
        </p:nvSpPr>
        <p:spPr>
          <a:xfrm>
            <a:off x="1417320" y="5458968"/>
            <a:ext cx="10195560" cy="859536"/>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Ideal-gas shortcut</a:t>
            </a:r>
            <a:endParaRPr lang="en-US" sz="1500" dirty="0"/>
          </a:p>
          <a:p>
            <a:pPr indent="0" marL="0">
              <a:buNone/>
            </a:pPr>
            <a:r>
              <a:rPr lang="en-US" sz="1250" dirty="0">
                <a:solidFill>
                  <a:srgbClr val="1A1A2E"/>
                </a:solidFill>
                <a:latin typeface="Calibri" pitchFamily="34" charset="0"/>
                <a:ea typeface="Calibri" pitchFamily="34" charset="-122"/>
                <a:cs typeface="Calibri" pitchFamily="34" charset="-120"/>
              </a:rPr>
              <a:t>For an ideal gas u = u(T) only (Joule’s law) → ΔU = m c_v ΔT for ANY process, not just constant volume.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LECTURE 6 • BOARD EXAMPLE 1</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Applying Q − W = ΔU</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960120"/>
          </a:xfrm>
          <a:prstGeom prst="roundRect">
            <a:avLst>
              <a:gd name="adj" fmla="val 8571"/>
            </a:avLst>
          </a:prstGeom>
          <a:solidFill>
            <a:srgbClr val="EAF2FA"/>
          </a:solidFill>
          <a:ln w="12700">
            <a:solidFill>
              <a:srgbClr val="2E75B6"/>
            </a:solidFill>
            <a:prstDash val="solid"/>
          </a:ln>
        </p:spPr>
      </p:sp>
      <p:sp>
        <p:nvSpPr>
          <p:cNvPr id="6" name="Text 3"/>
          <p:cNvSpPr/>
          <p:nvPr/>
        </p:nvSpPr>
        <p:spPr>
          <a:xfrm>
            <a:off x="777240" y="1691640"/>
            <a:ext cx="10607040" cy="9601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During a process, 80 kJ of heat is supplied to a closed system while the system does 30 kJ of work on the surroundings. Find the change in internal energy. If the system is then restored to its initial state adiabatically, how much work is involved?</a:t>
            </a:r>
            <a:endParaRPr lang="en-US" sz="1200" dirty="0"/>
          </a:p>
        </p:txBody>
      </p:sp>
      <p:sp>
        <p:nvSpPr>
          <p:cNvPr id="7" name="Text 4"/>
          <p:cNvSpPr/>
          <p:nvPr/>
        </p:nvSpPr>
        <p:spPr>
          <a:xfrm>
            <a:off x="548640" y="2788920"/>
            <a:ext cx="2743200" cy="32004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Solution</a:t>
            </a:r>
            <a:endParaRPr lang="en-US" sz="1500" dirty="0"/>
          </a:p>
        </p:txBody>
      </p:sp>
      <p:sp>
        <p:nvSpPr>
          <p:cNvPr id="8" name="Text 5"/>
          <p:cNvSpPr/>
          <p:nvPr/>
        </p:nvSpPr>
        <p:spPr>
          <a:xfrm>
            <a:off x="548640" y="3154680"/>
            <a:ext cx="7498080" cy="31089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Process 1→2: Q = +80 kJ (supplied), W = +30 kJ (done by system)</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ΔU₁₂ = Q − W = 80 − 30 = +50 kJ → internal energy rises by 50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Return process 2→1 (adiabatic): Q = 0, and ΔU₂₁ = U₁ − U₂ = −50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First law: 0 − W₂₁ = ΔU₂₁ = −50  ⇒  W₂₁ = +50 kJ</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Interpretation: the 50 kJ stored in process 1→2 leaves entirely as work output during the adiabatic return.</a:t>
            </a:r>
            <a:endParaRPr lang="en-US" sz="1250" dirty="0"/>
          </a:p>
        </p:txBody>
      </p:sp>
      <p:sp>
        <p:nvSpPr>
          <p:cNvPr id="9" name="Shape 6"/>
          <p:cNvSpPr/>
          <p:nvPr/>
        </p:nvSpPr>
        <p:spPr>
          <a:xfrm>
            <a:off x="8321040" y="3154680"/>
            <a:ext cx="3319272" cy="1554480"/>
          </a:xfrm>
          <a:prstGeom prst="roundRect">
            <a:avLst>
              <a:gd name="adj" fmla="val 5882"/>
            </a:avLst>
          </a:prstGeom>
          <a:solidFill>
            <a:srgbClr val="16324F"/>
          </a:solidFill>
          <a:ln/>
        </p:spPr>
      </p:sp>
      <p:sp>
        <p:nvSpPr>
          <p:cNvPr id="10" name="Text 7"/>
          <p:cNvSpPr/>
          <p:nvPr/>
        </p:nvSpPr>
        <p:spPr>
          <a:xfrm>
            <a:off x="8503920" y="3154680"/>
            <a:ext cx="2971800" cy="1554480"/>
          </a:xfrm>
          <a:prstGeom prst="rect">
            <a:avLst/>
          </a:prstGeom>
          <a:noFill/>
          <a:ln/>
        </p:spPr>
        <p:txBody>
          <a:bodyPr wrap="square" lIns="0" tIns="0" rIns="0" bIns="0" rtlCol="0" anchor="ctr"/>
          <a:lstStyle/>
          <a:p>
            <a:pPr indent="0" marL="0">
              <a:buNone/>
            </a:pPr>
            <a:r>
              <a:rPr lang="en-US" sz="1100" b="1" spc="200" kern="0" dirty="0">
                <a:solidFill>
                  <a:srgbClr val="F0714B"/>
                </a:solidFill>
                <a:latin typeface="Calibri" pitchFamily="34" charset="0"/>
                <a:ea typeface="Calibri" pitchFamily="34" charset="-122"/>
                <a:cs typeface="Calibri" pitchFamily="34" charset="-120"/>
              </a:rPr>
              <a:t>ANSWER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ΔU₁₂ = +50 kJ</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W₂₁ = +50 kJ (by system)</a:t>
            </a:r>
            <a:endParaRPr lang="en-US" sz="1100" dirty="0"/>
          </a:p>
        </p:txBody>
      </p:sp>
      <p:sp>
        <p:nvSpPr>
          <p:cNvPr id="11" name="Shape 8"/>
          <p:cNvSpPr/>
          <p:nvPr/>
        </p:nvSpPr>
        <p:spPr>
          <a:xfrm>
            <a:off x="548640" y="5806440"/>
            <a:ext cx="11091672" cy="530352"/>
          </a:xfrm>
          <a:prstGeom prst="roundRect">
            <a:avLst>
              <a:gd name="adj" fmla="val 15517"/>
            </a:avLst>
          </a:prstGeom>
          <a:solidFill>
            <a:srgbClr val="FDEDE6"/>
          </a:solidFill>
          <a:ln w="12700">
            <a:solidFill>
              <a:srgbClr val="F0714B"/>
            </a:solidFill>
            <a:prstDash val="solid"/>
          </a:ln>
        </p:spPr>
      </p:sp>
      <p:sp>
        <p:nvSpPr>
          <p:cNvPr id="12" name="Text 9"/>
          <p:cNvSpPr/>
          <p:nvPr/>
        </p:nvSpPr>
        <p:spPr>
          <a:xfrm>
            <a:off x="731520" y="5806440"/>
            <a:ext cx="10725912" cy="530352"/>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Write Q − W = ΔU, substitute with signs, and let the algebra decide the direction.</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LECTURE 6 • BOARD EXAMPLE 2</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Compression with Heat Rejection</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Shape 2"/>
          <p:cNvSpPr/>
          <p:nvPr/>
        </p:nvSpPr>
        <p:spPr>
          <a:xfrm>
            <a:off x="548640" y="1691640"/>
            <a:ext cx="11091672" cy="960120"/>
          </a:xfrm>
          <a:prstGeom prst="roundRect">
            <a:avLst>
              <a:gd name="adj" fmla="val 8571"/>
            </a:avLst>
          </a:prstGeom>
          <a:solidFill>
            <a:srgbClr val="EAF2FA"/>
          </a:solidFill>
          <a:ln w="12700">
            <a:solidFill>
              <a:srgbClr val="2E75B6"/>
            </a:solidFill>
            <a:prstDash val="solid"/>
          </a:ln>
        </p:spPr>
      </p:sp>
      <p:sp>
        <p:nvSpPr>
          <p:cNvPr id="6" name="Text 3"/>
          <p:cNvSpPr/>
          <p:nvPr/>
        </p:nvSpPr>
        <p:spPr>
          <a:xfrm>
            <a:off x="777240" y="1691640"/>
            <a:ext cx="10607040" cy="960120"/>
          </a:xfrm>
          <a:prstGeom prst="rect">
            <a:avLst/>
          </a:prstGeom>
          <a:noFill/>
          <a:ln/>
        </p:spPr>
        <p:txBody>
          <a:bodyPr wrap="square" lIns="0" tIns="0" rIns="0" bIns="0" rtlCol="0" anchor="ctr"/>
          <a:lstStyle/>
          <a:p>
            <a:pPr indent="0" marL="0">
              <a:buNone/>
            </a:pPr>
            <a:r>
              <a:rPr lang="en-US" sz="1200" b="1" dirty="0">
                <a:solidFill>
                  <a:srgbClr val="1F4E79"/>
                </a:solidFill>
                <a:latin typeface="Calibri" pitchFamily="34" charset="0"/>
                <a:ea typeface="Calibri" pitchFamily="34" charset="-122"/>
                <a:cs typeface="Calibri" pitchFamily="34" charset="-120"/>
              </a:rPr>
              <a:t>PROBLEM   </a:t>
            </a:r>
            <a:pPr indent="0" marL="0">
              <a:buNone/>
            </a:pPr>
            <a:r>
              <a:rPr lang="en-US" sz="1250" dirty="0">
                <a:solidFill>
                  <a:srgbClr val="1A1A2E"/>
                </a:solidFill>
                <a:latin typeface="Calibri" pitchFamily="34" charset="0"/>
                <a:ea typeface="Calibri" pitchFamily="34" charset="-122"/>
                <a:cs typeface="Calibri" pitchFamily="34" charset="-120"/>
              </a:rPr>
              <a:t>A gas is compressed in a piston–cylinder: the work done ON the gas is 95 kJ, and 43 kJ of heat is rejected to the surroundings during the process. Determine the change in internal energy of the gas.</a:t>
            </a:r>
            <a:endParaRPr lang="en-US" sz="1200" dirty="0"/>
          </a:p>
        </p:txBody>
      </p:sp>
      <p:sp>
        <p:nvSpPr>
          <p:cNvPr id="7" name="Text 4"/>
          <p:cNvSpPr/>
          <p:nvPr/>
        </p:nvSpPr>
        <p:spPr>
          <a:xfrm>
            <a:off x="548640" y="2788920"/>
            <a:ext cx="2743200" cy="320040"/>
          </a:xfrm>
          <a:prstGeom prst="rect">
            <a:avLst/>
          </a:prstGeom>
          <a:noFill/>
          <a:ln/>
        </p:spPr>
        <p:txBody>
          <a:bodyPr wrap="square" lIns="0" tIns="0" rIns="0" bIns="0" rtlCol="0" anchor="ctr"/>
          <a:lstStyle/>
          <a:p>
            <a:pPr indent="0" marL="0">
              <a:buNone/>
            </a:pPr>
            <a:r>
              <a:rPr lang="en-US" sz="1500" b="1" dirty="0">
                <a:solidFill>
                  <a:srgbClr val="16324F"/>
                </a:solidFill>
                <a:latin typeface="Calibri" pitchFamily="34" charset="0"/>
                <a:ea typeface="Calibri" pitchFamily="34" charset="-122"/>
                <a:cs typeface="Calibri" pitchFamily="34" charset="-120"/>
              </a:rPr>
              <a:t>Solution</a:t>
            </a:r>
            <a:endParaRPr lang="en-US" sz="1500" dirty="0"/>
          </a:p>
        </p:txBody>
      </p:sp>
      <p:sp>
        <p:nvSpPr>
          <p:cNvPr id="8" name="Text 5"/>
          <p:cNvSpPr/>
          <p:nvPr/>
        </p:nvSpPr>
        <p:spPr>
          <a:xfrm>
            <a:off x="548640" y="3154680"/>
            <a:ext cx="7498080" cy="3108960"/>
          </a:xfrm>
          <a:prstGeom prst="rect">
            <a:avLst/>
          </a:prstGeom>
          <a:noFill/>
          <a:ln/>
        </p:spPr>
        <p:txBody>
          <a:bodyPr wrap="square" lIns="0" tIns="0" rIns="0" bIns="0" rtlCol="0" anchor="t"/>
          <a:lstStyle/>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Assign signs: W = −95 kJ (done ON the system), Q = −43 kJ (rejected)</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First law: ΔU = Q − W</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 = (−43) − (−95) = −43 + 95</a:t>
            </a:r>
            <a:endParaRPr lang="en-US" sz="1250" dirty="0"/>
          </a:p>
          <a:p>
            <a:pPr marL="152400" indent="-152400">
              <a:spcAft>
                <a:spcPts val="800"/>
              </a:spcAft>
              <a:buSzPct val="100000"/>
              <a:buChar char="•"/>
            </a:pPr>
            <a:r>
              <a:rPr lang="en-US" sz="1250" dirty="0">
                <a:solidFill>
                  <a:srgbClr val="1A1A2E"/>
                </a:solidFill>
                <a:latin typeface="Calibri" pitchFamily="34" charset="0"/>
                <a:ea typeface="Calibri" pitchFamily="34" charset="-122"/>
                <a:cs typeface="Calibri" pitchFamily="34" charset="-120"/>
              </a:rPr>
              <a:t>ΔU = +52 kJ → internal energy increases (compression heats the gas more than cooling removes).</a:t>
            </a:r>
            <a:endParaRPr lang="en-US" sz="1250" dirty="0"/>
          </a:p>
        </p:txBody>
      </p:sp>
      <p:sp>
        <p:nvSpPr>
          <p:cNvPr id="9" name="Shape 6"/>
          <p:cNvSpPr/>
          <p:nvPr/>
        </p:nvSpPr>
        <p:spPr>
          <a:xfrm>
            <a:off x="8321040" y="3154680"/>
            <a:ext cx="3319272" cy="1554480"/>
          </a:xfrm>
          <a:prstGeom prst="roundRect">
            <a:avLst>
              <a:gd name="adj" fmla="val 5882"/>
            </a:avLst>
          </a:prstGeom>
          <a:solidFill>
            <a:srgbClr val="16324F"/>
          </a:solidFill>
          <a:ln/>
        </p:spPr>
      </p:sp>
      <p:sp>
        <p:nvSpPr>
          <p:cNvPr id="10" name="Text 7"/>
          <p:cNvSpPr/>
          <p:nvPr/>
        </p:nvSpPr>
        <p:spPr>
          <a:xfrm>
            <a:off x="8503920" y="3154680"/>
            <a:ext cx="2971800" cy="1554480"/>
          </a:xfrm>
          <a:prstGeom prst="rect">
            <a:avLst/>
          </a:prstGeom>
          <a:noFill/>
          <a:ln/>
        </p:spPr>
        <p:txBody>
          <a:bodyPr wrap="square" lIns="0" tIns="0" rIns="0" bIns="0" rtlCol="0" anchor="ctr"/>
          <a:lstStyle/>
          <a:p>
            <a:pPr indent="0" marL="0">
              <a:buNone/>
            </a:pPr>
            <a:r>
              <a:rPr lang="en-US" sz="1100" b="1" spc="200" kern="0" dirty="0">
                <a:solidFill>
                  <a:srgbClr val="F0714B"/>
                </a:solidFill>
                <a:latin typeface="Calibri" pitchFamily="34" charset="0"/>
                <a:ea typeface="Calibri" pitchFamily="34" charset="-122"/>
                <a:cs typeface="Calibri" pitchFamily="34" charset="-120"/>
              </a:rPr>
              <a:t>ANSWER</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ΔU = + 52 kJ</a:t>
            </a:r>
            <a:endParaRPr lang="en-US" sz="1100" dirty="0"/>
          </a:p>
        </p:txBody>
      </p:sp>
      <p:sp>
        <p:nvSpPr>
          <p:cNvPr id="11" name="Shape 8"/>
          <p:cNvSpPr/>
          <p:nvPr/>
        </p:nvSpPr>
        <p:spPr>
          <a:xfrm>
            <a:off x="548640" y="5806440"/>
            <a:ext cx="11091672" cy="530352"/>
          </a:xfrm>
          <a:prstGeom prst="roundRect">
            <a:avLst>
              <a:gd name="adj" fmla="val 15517"/>
            </a:avLst>
          </a:prstGeom>
          <a:solidFill>
            <a:srgbClr val="FDEDE6"/>
          </a:solidFill>
          <a:ln w="12700">
            <a:solidFill>
              <a:srgbClr val="F0714B"/>
            </a:solidFill>
            <a:prstDash val="solid"/>
          </a:ln>
        </p:spPr>
      </p:sp>
      <p:sp>
        <p:nvSpPr>
          <p:cNvPr id="12" name="Text 9"/>
          <p:cNvSpPr/>
          <p:nvPr/>
        </p:nvSpPr>
        <p:spPr>
          <a:xfrm>
            <a:off x="731520" y="5806440"/>
            <a:ext cx="10725912" cy="530352"/>
          </a:xfrm>
          <a:prstGeom prst="rect">
            <a:avLst/>
          </a:prstGeom>
          <a:noFill/>
          <a:ln/>
        </p:spPr>
        <p:txBody>
          <a:bodyPr wrap="square" lIns="0" tIns="0" rIns="0" bIns="0" rtlCol="0" anchor="ctr"/>
          <a:lstStyle/>
          <a:p>
            <a:pPr indent="0" marL="0">
              <a:buNone/>
            </a:pPr>
            <a:r>
              <a:rPr lang="en-US" sz="1150" b="1" dirty="0">
                <a:solidFill>
                  <a:srgbClr val="C0532F"/>
                </a:solidFill>
                <a:latin typeface="Calibri" pitchFamily="34" charset="0"/>
                <a:ea typeface="Calibri" pitchFamily="34" charset="-122"/>
                <a:cs typeface="Calibri" pitchFamily="34" charset="-120"/>
              </a:rPr>
              <a:t>KEY POINT   </a:t>
            </a:r>
            <a:pPr indent="0" marL="0">
              <a:buNone/>
            </a:pPr>
            <a:r>
              <a:rPr lang="en-US" sz="1250" dirty="0">
                <a:solidFill>
                  <a:srgbClr val="1A1A2E"/>
                </a:solidFill>
                <a:latin typeface="Calibri" pitchFamily="34" charset="0"/>
                <a:ea typeface="Calibri" pitchFamily="34" charset="-122"/>
                <a:cs typeface="Calibri" pitchFamily="34" charset="-120"/>
              </a:rPr>
              <a:t>Two negatives are common in compression problems — substitute mechanically and trust the signs.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778240" cy="292608"/>
          </a:xfrm>
          <a:prstGeom prst="rect">
            <a:avLst/>
          </a:prstGeom>
          <a:noFill/>
          <a:ln/>
        </p:spPr>
        <p:txBody>
          <a:bodyPr wrap="square" lIns="0" tIns="0" rIns="0" bIns="0" rtlCol="0" anchor="ctr"/>
          <a:lstStyle/>
          <a:p>
            <a:pPr indent="0" marL="0">
              <a:buNone/>
            </a:pPr>
            <a:r>
              <a:rPr lang="en-US" sz="1200" b="1" spc="200" kern="0" dirty="0">
                <a:solidFill>
                  <a:srgbClr val="F0714B"/>
                </a:solidFill>
                <a:latin typeface="Calibri" pitchFamily="34" charset="0"/>
                <a:ea typeface="Calibri" pitchFamily="34" charset="-122"/>
                <a:cs typeface="Calibri" pitchFamily="34" charset="-120"/>
              </a:rPr>
              <a:t>SESSION 7 • LECTURE 6 • WRAP-UP</a:t>
            </a:r>
            <a:endParaRPr lang="en-US" sz="1200" dirty="0"/>
          </a:p>
        </p:txBody>
      </p:sp>
      <p:sp>
        <p:nvSpPr>
          <p:cNvPr id="3" name="Text 1"/>
          <p:cNvSpPr/>
          <p:nvPr/>
        </p:nvSpPr>
        <p:spPr>
          <a:xfrm>
            <a:off x="548640" y="676656"/>
            <a:ext cx="9326880" cy="685800"/>
          </a:xfrm>
          <a:prstGeom prst="rect">
            <a:avLst/>
          </a:prstGeom>
          <a:noFill/>
          <a:ln/>
        </p:spPr>
        <p:txBody>
          <a:bodyPr wrap="square" lIns="0" tIns="0" rIns="0" bIns="0" rtlCol="0" anchor="t"/>
          <a:lstStyle/>
          <a:p>
            <a:pPr indent="0" marL="0">
              <a:buNone/>
            </a:pPr>
            <a:r>
              <a:rPr lang="en-US" sz="2700" b="1" dirty="0">
                <a:solidFill>
                  <a:srgbClr val="16324F"/>
                </a:solidFill>
                <a:latin typeface="Calibri" pitchFamily="34" charset="0"/>
                <a:ea typeface="Calibri" pitchFamily="34" charset="-122"/>
                <a:cs typeface="Calibri" pitchFamily="34" charset="-120"/>
              </a:rPr>
              <a:t>Summary &amp; What Comes Next</a:t>
            </a:r>
            <a:endParaRPr lang="en-US" sz="2700" dirty="0"/>
          </a:p>
        </p:txBody>
      </p:sp>
      <p:pic>
        <p:nvPicPr>
          <p:cNvPr id="4" name="Image 0" descr="/home/claude/RIT_LOGO.jpg">    </p:cNvPr>
          <p:cNvPicPr>
            <a:picLocks noChangeAspect="1"/>
          </p:cNvPicPr>
          <p:nvPr/>
        </p:nvPicPr>
        <p:blipFill>
          <a:blip r:embed="rId1"/>
          <a:stretch>
            <a:fillRect/>
          </a:stretch>
        </p:blipFill>
        <p:spPr>
          <a:xfrm>
            <a:off x="10222992" y="411480"/>
            <a:ext cx="1417320" cy="365962"/>
          </a:xfrm>
          <a:prstGeom prst="rect">
            <a:avLst/>
          </a:prstGeom>
        </p:spPr>
      </p:pic>
      <p:sp>
        <p:nvSpPr>
          <p:cNvPr id="5" name="Text 2"/>
          <p:cNvSpPr/>
          <p:nvPr/>
        </p:nvSpPr>
        <p:spPr>
          <a:xfrm>
            <a:off x="548640" y="1737360"/>
            <a:ext cx="5486400" cy="365760"/>
          </a:xfrm>
          <a:prstGeom prst="rect">
            <a:avLst/>
          </a:prstGeom>
          <a:noFill/>
          <a:ln/>
        </p:spPr>
        <p:txBody>
          <a:bodyPr wrap="square" lIns="0" tIns="0" rIns="0" bIns="0" rtlCol="0" anchor="ctr"/>
          <a:lstStyle/>
          <a:p>
            <a:pPr indent="0" marL="0">
              <a:buNone/>
            </a:pPr>
            <a:r>
              <a:rPr lang="en-US" sz="1600" b="1" dirty="0">
                <a:solidFill>
                  <a:srgbClr val="16324F"/>
                </a:solidFill>
                <a:latin typeface="Calibri" pitchFamily="34" charset="0"/>
                <a:ea typeface="Calibri" pitchFamily="34" charset="-122"/>
                <a:cs typeface="Calibri" pitchFamily="34" charset="-120"/>
              </a:rPr>
              <a:t>Today we covered</a:t>
            </a:r>
            <a:endParaRPr lang="en-US" sz="1600" dirty="0"/>
          </a:p>
        </p:txBody>
      </p:sp>
      <p:sp>
        <p:nvSpPr>
          <p:cNvPr id="6" name="Text 3"/>
          <p:cNvSpPr/>
          <p:nvPr/>
        </p:nvSpPr>
        <p:spPr>
          <a:xfrm>
            <a:off x="548640" y="2194560"/>
            <a:ext cx="6400800" cy="3383280"/>
          </a:xfrm>
          <a:prstGeom prst="rect">
            <a:avLst/>
          </a:prstGeom>
          <a:noFill/>
          <a:ln/>
        </p:spPr>
        <p:txBody>
          <a:bodyPr wrap="square" lIns="0" tIns="0" rIns="0" bIns="0" rtlCol="0" anchor="t"/>
          <a:lstStyle/>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First law = principle of conservation of energy for thermodynamic systems</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For a cycle: ∮δQ = ∮δW (net heat = net work)</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For a process: Q − W = ΔE; with KE, PE negligible, Q − W = ΔU</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Internal energy U is a property (point function); Q and W are not</a:t>
            </a:r>
            <a:endParaRPr lang="en-US" sz="1350" dirty="0"/>
          </a:p>
          <a:p>
            <a:pPr marL="152400" indent="-152400">
              <a:spcAft>
                <a:spcPts val="1000"/>
              </a:spcAft>
              <a:buSzPct val="100000"/>
              <a:buChar char="•"/>
            </a:pPr>
            <a:r>
              <a:rPr lang="en-US" sz="1350" dirty="0">
                <a:solidFill>
                  <a:srgbClr val="1A1A2E"/>
                </a:solidFill>
                <a:latin typeface="Calibri" pitchFamily="34" charset="0"/>
                <a:ea typeface="Calibri" pitchFamily="34" charset="-122"/>
                <a:cs typeface="Calibri" pitchFamily="34" charset="-120"/>
              </a:rPr>
              <a:t>For an ideal gas: ΔU = m c_v ΔT for ANY process; PMM1 is impossible</a:t>
            </a:r>
            <a:endParaRPr lang="en-US" sz="1350" dirty="0"/>
          </a:p>
        </p:txBody>
      </p:sp>
      <p:sp>
        <p:nvSpPr>
          <p:cNvPr id="7" name="Shape 4"/>
          <p:cNvSpPr/>
          <p:nvPr/>
        </p:nvSpPr>
        <p:spPr>
          <a:xfrm>
            <a:off x="7406640" y="1920240"/>
            <a:ext cx="4233672" cy="3657600"/>
          </a:xfrm>
          <a:prstGeom prst="roundRect">
            <a:avLst>
              <a:gd name="adj" fmla="val 2500"/>
            </a:avLst>
          </a:prstGeom>
          <a:solidFill>
            <a:srgbClr val="16324F"/>
          </a:solidFill>
          <a:ln/>
        </p:spPr>
      </p:sp>
      <p:sp>
        <p:nvSpPr>
          <p:cNvPr id="8" name="Text 5"/>
          <p:cNvSpPr/>
          <p:nvPr/>
        </p:nvSpPr>
        <p:spPr>
          <a:xfrm>
            <a:off x="7680960" y="2103120"/>
            <a:ext cx="3703320" cy="3291840"/>
          </a:xfrm>
          <a:prstGeom prst="rect">
            <a:avLst/>
          </a:prstGeom>
          <a:noFill/>
          <a:ln/>
        </p:spPr>
        <p:txBody>
          <a:bodyPr wrap="square" lIns="0" tIns="0" rIns="0" bIns="0" rtlCol="0" anchor="ctr"/>
          <a:lstStyle/>
          <a:p>
            <a:pPr indent="0" marL="0">
              <a:buNone/>
            </a:pPr>
            <a:r>
              <a:rPr lang="en-US" sz="1150" b="1" spc="200" kern="0" dirty="0">
                <a:solidFill>
                  <a:srgbClr val="F0714B"/>
                </a:solidFill>
                <a:latin typeface="Calibri" pitchFamily="34" charset="0"/>
                <a:ea typeface="Calibri" pitchFamily="34" charset="-122"/>
                <a:cs typeface="Calibri" pitchFamily="34" charset="-120"/>
              </a:rPr>
              <a:t>NEXT CLASS</a:t>
            </a:r>
            <a:endParaRPr lang="en-US" sz="1150" dirty="0"/>
          </a:p>
          <a:p>
            <a:pPr indent="0" marL="0">
              <a:buNone/>
            </a:pPr>
            <a:r>
              <a:rPr lang="en-US" sz="1600" b="1" dirty="0">
                <a:solidFill>
                  <a:srgbClr val="FFFFFF"/>
                </a:solidFill>
                <a:latin typeface="Calibri" pitchFamily="34" charset="0"/>
                <a:ea typeface="Calibri" pitchFamily="34" charset="-122"/>
                <a:cs typeface="Calibri" pitchFamily="34" charset="-120"/>
              </a:rPr>
              <a:t>Tutorial 2 — First Law: Closed System Problems</a:t>
            </a:r>
            <a:endParaRPr lang="en-US" sz="1150" dirty="0"/>
          </a:p>
          <a:p>
            <a:pPr indent="0" marL="0">
              <a:buNone/>
            </a:pPr>
            <a:r>
              <a:rPr lang="en-US" sz="1250" dirty="0">
                <a:solidFill>
                  <a:srgbClr val="9DC3E6"/>
                </a:solidFill>
                <a:latin typeface="Calibri" pitchFamily="34" charset="0"/>
                <a:ea typeface="Calibri" pitchFamily="34" charset="-122"/>
                <a:cs typeface="Calibri" pitchFamily="34" charset="-120"/>
              </a:rPr>
              <a:t>Energy-balance numericals for processes and complete cycles.</a:t>
            </a:r>
            <a:endParaRPr lang="en-US" sz="1150" dirty="0"/>
          </a:p>
        </p:txBody>
      </p:sp>
      <p:sp>
        <p:nvSpPr>
          <p:cNvPr id="9" name="Text 6"/>
          <p:cNvSpPr/>
          <p:nvPr/>
        </p:nvSpPr>
        <p:spPr>
          <a:xfrm>
            <a:off x="548640" y="5989320"/>
            <a:ext cx="11064240" cy="320040"/>
          </a:xfrm>
          <a:prstGeom prst="rect">
            <a:avLst/>
          </a:prstGeom>
          <a:noFill/>
          <a:ln/>
        </p:spPr>
        <p:txBody>
          <a:bodyPr wrap="square" lIns="0" tIns="0" rIns="0" bIns="0" rtlCol="0" anchor="ctr"/>
          <a:lstStyle/>
          <a:p>
            <a:pPr indent="0" marL="0">
              <a:buNone/>
            </a:pPr>
            <a:r>
              <a:rPr lang="en-US" sz="1050" i="1" dirty="0">
                <a:solidFill>
                  <a:srgbClr val="5A6B7B"/>
                </a:solidFill>
                <a:latin typeface="Calibri" pitchFamily="34" charset="0"/>
                <a:ea typeface="Calibri" pitchFamily="34" charset="-122"/>
                <a:cs typeface="Calibri" pitchFamily="34" charset="-120"/>
              </a:rPr>
              <a:t>Text: P.K. Nag, "Engineering Thermodynamics", 6th Edn., TMH — Ch. 4 (First Law of Thermodynamics)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2026-08-19T04:07:30Z</dcterms:created>
  <dcterms:modified xsi:type="dcterms:W3CDTF">2026-08-19T04:07:30Z</dcterms:modified>
</cp:coreProperties>
</file>