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LECTURE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Equilibrium &amp; the Quasi-static Process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state truly defined — and how do we idealise real processes so that they can be drawn and integrated?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LECTURE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questions on systems and properties from Lecture 1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faces of equilibrium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Thermal, mechanical and chemical equilibrium with examples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Quasi-static process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Weight-by-weight compression thought experiment; why infinite slowness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piston force balance (mechanical equilibrium)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summaries + preview of displacement work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CONDITIONS FOR EQUILIBRIUM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Requirements of Thermodynamic Equilibrium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483864" cy="374904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equilibrium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temperature difference within the system or with surroundings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heat flow anywhere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temperature throughout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505663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05663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potential removed: ΔT = 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52544" y="1783080"/>
            <a:ext cx="3483864" cy="374904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58114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equilibrium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81144" y="320040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unbalanced force inside or at the boundary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is uniform (neglecting gravity gradients)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macroscopic movement of the boundary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81144" y="505663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8" name="Text 15"/>
          <p:cNvSpPr/>
          <p:nvPr/>
        </p:nvSpPr>
        <p:spPr>
          <a:xfrm>
            <a:off x="4581144" y="505663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potential removed: Δp = 0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56448" y="1783080"/>
            <a:ext cx="3483864" cy="374904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85048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8"/>
          <p:cNvSpPr/>
          <p:nvPr/>
        </p:nvSpPr>
        <p:spPr>
          <a:xfrm>
            <a:off x="83850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5048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equilibrium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5048" y="320040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chemical reaction in progress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transfer of matter between phases (no diffusion)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is uniform and constant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85048" y="505663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25" name="Text 22"/>
          <p:cNvSpPr/>
          <p:nvPr/>
        </p:nvSpPr>
        <p:spPr>
          <a:xfrm>
            <a:off x="8385048" y="505663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potential removed: Δμ = 0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in THERMODYNAMIC equilibrium only when all three are satisfied simultaneously.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WHY EQUILIBRIUM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Insist on Equilibrium States?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need uniformity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value of T or p can describe the system only when it is the same everywhere — i.e., at equilibrium.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are points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equilibrium states can be plotted as points on p-V, T-s or any property diagram.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Non-equilibrium is indescribable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fast expansion, pressure differs from place to place — no single point can represent the system.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out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process so slowly that the system is always infinitesimally close to equilibrium — the quasi-static idealisation.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THE CENTRAL IDEALISATION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Quasi-static (Quasi-equilibrium) Process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process carried out in such a way that the system passes through a continuous series of equilibrium states.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thought experiment: gas compressed by removing sand grain-by-grain instead of lifting the whole weight at once.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grain causes an infinitesimal disturbance → system re-equilibrates instantly.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infinitely slow — "quasi" means "almost".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intermediate state has well-defined p, V, T.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 the full path can be drawn and ∫p dV can be evaluated.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3840480"/>
          </a:xfrm>
          <a:prstGeom prst="roundRect">
            <a:avLst>
              <a:gd name="adj" fmla="val 238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77556" y="2286000"/>
            <a:ext cx="146304" cy="237744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8" name="Shape 5"/>
          <p:cNvSpPr/>
          <p:nvPr/>
        </p:nvSpPr>
        <p:spPr>
          <a:xfrm>
            <a:off x="10017252" y="2286000"/>
            <a:ext cx="146304" cy="237744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9" name="Shape 6"/>
          <p:cNvSpPr/>
          <p:nvPr/>
        </p:nvSpPr>
        <p:spPr>
          <a:xfrm>
            <a:off x="7877556" y="4517136"/>
            <a:ext cx="2286000" cy="146304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0" name="Shape 7"/>
          <p:cNvSpPr/>
          <p:nvPr/>
        </p:nvSpPr>
        <p:spPr>
          <a:xfrm>
            <a:off x="8023860" y="3200400"/>
            <a:ext cx="1993392" cy="1316736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1" name="Text 8"/>
          <p:cNvSpPr/>
          <p:nvPr/>
        </p:nvSpPr>
        <p:spPr>
          <a:xfrm>
            <a:off x="8023860" y="324612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V, 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23860" y="2834640"/>
            <a:ext cx="1993392" cy="365760"/>
          </a:xfrm>
          <a:prstGeom prst="rect">
            <a:avLst/>
          </a:prstGeom>
          <a:solidFill>
            <a:srgbClr val="F0714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54996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56548" y="1965960"/>
            <a:ext cx="128016" cy="86868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" name="Shape 12"/>
          <p:cNvSpPr/>
          <p:nvPr/>
        </p:nvSpPr>
        <p:spPr>
          <a:xfrm>
            <a:off x="8846820" y="1417320"/>
            <a:ext cx="347472" cy="502920"/>
          </a:xfrm>
          <a:prstGeom prst="upArrow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9276588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48006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δW = p·A·dL = p·dV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Quasi-static is an idealisation — no real process is truly quasi-static, but slow processes come very close.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CONSEQUENCES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Quasi-static vs Non-quasi-static Processes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336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Quasi-static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Non-quasi-static (rapid)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states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are equilibrium states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defined — system is non-uniform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on p-V diagram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solid curve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end points; path shown dashed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∫p dV is valid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∫p dV cannot be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 condition for a reversible 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irreversible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compression, grain by grain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Bursting of a balloon, free expansion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Equilibrium of a Loaded Piston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piston–cylinder contains gas. The frictionless piston has a mass of 40 kg and an area of 0.01 m². Atmospheric pressure is 100 kPa and g = 9.81 m/s². Find the gas pressure that holds the piston in equilibrium.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balance on the piston (equilibrium): p_gas A = p_atm A + m g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term as pressure: m g / A = (40 × 9.81) / 0.01 = 39 240 Pa = 39.24 kPa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p_gas = p_atm + mg/A = 100 + 39.24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p_gas = 139.24 kPa — constant as long as the load does not change.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p_gas ≈ 139.2 kPa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piston fixes the gas pressure — heating such a gas gives a CONSTANT-PRESSURE process. This links directly to tomorrow’s W = pΔV.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• 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Process — a First Look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that can be reversed leaving no trace on the surroundings — both system and surroundings return to their initial states.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1: quasi-static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always be in equilibrium so that each step can be exactly retraced.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2: no dissipative effects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friction, no unrestrained expansion, no heat transfer across a finite temperature difference.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care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processes give the maximum work output / minimum work input — the benchmark used throughout Units II–V.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LECTURE 2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equilibrium = thermal + mechanical + chemical equilibrium together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defined only at equilibrium states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quasi-static process is a succession of equilibrium states (infinitely slow)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quasi-static paths can be drawn as continuous curves on a p-V diagram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equilibrium: p_gas = p_atm + weight/(A) — force balance sets the gas pressure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— Displacement Work &amp; the p-V Diagram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derive W = ∫p dV and learn to read work as area under the curve.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1 (Introduction)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