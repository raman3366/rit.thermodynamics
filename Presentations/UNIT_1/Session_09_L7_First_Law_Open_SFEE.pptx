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• LECTURE 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Law for Open Systems — The Steady Flow Energy Equation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volumes, flow work, enthalpy, and the derivation of the SFEE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• LECTURE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vs open systems — quick recap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volume &amp; flow work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pushing mass across a boundary costs pv per kg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u + pv — the natural energy currency of flowing fluids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 derivation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bookkeeping across the control surface, term by term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example + 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computing h and flow work for steam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• NEW SYSTEM 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Volume and Control Surface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devices — turbines, pumps, boilers — have mass flowing through them: closed-system analysis cannot apply.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volume (CV): a fixed region in space chosen for study.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surface (CS): its boundary — mass, heat and work may all cross it.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flow: no property inside the CV changes with time.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balance (steady): ṁ₁ = ṁ₂ = ṁ = ρAV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the CV is constant → energy in = energy out.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39512" cy="4480560"/>
          </a:xfrm>
          <a:prstGeom prst="roundRect">
            <a:avLst>
              <a:gd name="adj" fmla="val 2041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66076" y="288036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6324F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466076" y="28803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29400" y="3017520"/>
            <a:ext cx="1280160" cy="384048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ṁ, h₁, V₁, z₁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131552" y="4160520"/>
            <a:ext cx="1280160" cy="384048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9948672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ṁ, h₂, V₂, z₂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60436" y="1947672"/>
            <a:ext cx="365760" cy="548640"/>
          </a:xfrm>
          <a:prstGeom prst="downArrow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7466076" y="198424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Q̇ 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14916" y="1947672"/>
            <a:ext cx="365760" cy="548640"/>
          </a:xfrm>
          <a:prstGeom prst="upArrow">
            <a:avLst/>
          </a:prstGeom>
          <a:solidFill>
            <a:srgbClr val="F0714B"/>
          </a:solidFill>
          <a:ln/>
        </p:spPr>
      </p:sp>
      <p:sp>
        <p:nvSpPr>
          <p:cNvPr id="16" name="Text 13"/>
          <p:cNvSpPr/>
          <p:nvPr/>
        </p:nvSpPr>
        <p:spPr>
          <a:xfrm>
            <a:off x="10026396" y="19842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Ẇ out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29400" y="571500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flow: mass in = mass out; properties inside do not change with time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• TWO KEY IDEAS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Work and Enthalpy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9179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9179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work (flow energy)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1 kg of fluid across the control surface against pressure p, the fluid behind must do work = p × v (pressure × specific volume). This energy rides with every kilogram that enters or leaves.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290093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90093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71119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of a flowing stream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kg: internal energy u + flow work pv + kinetic energy V²/2 + potential energy gz.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38839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38839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69417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— defined for convenience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u + pv (kJ/kg). It bundles internal energy with flow work, so a flowing stream simply carries h + V²/2 + gz.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48668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48668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467715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 for non-flow (closed) energy storage, h for energy carried by flowing streams. This single habit prevents most open-system errors.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u + pv is a PROPERTY — it exists for stationary fluids too; it just becomes most useful in flow.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• THE MASTER EQUATION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Flow Energy Equation (SFEE)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entering the CV per unit time = Energy leaving per unit time (steady state):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6324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194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Q̇ − Ẇ = ṁ [ (h₂ − h₁) + (V₂² − V₁²)/2 + g(z₂ − z₁) ]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28437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form — W and Q in kW, ṁ in kg/s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337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− w = (h₂ − h₁) + (V₂² − V₁²)/2000 + g(z₂ − z₁)/1000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39867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 mass, everything in kJ/kg (V in m/s, z in m)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logic (write these five lines in the exam)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Steady state ⇒ energy content of CV is constant.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Energy in: Q̇ + ṁ(h₁ + V₁²/2 + gz₁).   3. Energy out: Ẇ + ṁ(h₂ + V₂²/2 + gz₂).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Equate and rearrange → SFEE.   5. State assumptions: steady, 1-D flow, no storage.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58978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V²/2 is in J/kg; divide by 1000 before adding to h in kJ/kg. Forgetting this factor is error #1 in CATs.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• BOARD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Enthalpy and Flow Work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flows in a pipeline at 800 kPa. At a section, its specific volume is 0.24 m³/kg and specific internal energy is 2576 kJ/kg. Find the flow work per kg and the specific enthalpy of the steam.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work per kg = p v = 800 kPa × 0.24 m³/kg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v = 192 kJ/kg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Enthalpy: h = u + p v = 2576 + 192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2768 kJ/kg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192 kJ/kg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2768 kJ/kg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 × m³/kg = kJ/kg. Steam-table enthalpies (Unit III) are built exactly this way.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• 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 Term-by-Term: Meaning and Units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937760"/>
                <a:gridCol w="35021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(per-mass 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transfer to the fluid per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Shaft work done by the fluid per 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 − h₁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enthalpy (u + pv)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kJ/kg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(V₂² − V₁²)/2000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kinetic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kJ/kg (V in m/s)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g(z₂ − z₁)/1000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potential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kJ/kg (z in 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gases, gΔz is almost always negligible; drop it unless elevations are given.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• LECTURE 7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 → control volume with mass crossing the control surface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work per kg = pv — the work needed to push fluid across the boundary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h = u + pv absorbs flow work into one property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 (per kg): q − w = (h₂−h₁) + (V₂²−V₁²)/2 + g(z₂−z₁)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term in J/kg: divide V²/2 by 1000 to get kJ/kg — the classic slip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— SFEE Applications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Nozzle, turbine, compressor, boiler, condenser and throttling.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5 (First Law Applied to Flow Processes)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