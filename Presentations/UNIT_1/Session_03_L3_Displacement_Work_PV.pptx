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Constant pressure</c:v>
                </c:pt>
              </c:strCache>
            </c:strRef>
          </c:tx>
          <c:spPr>
            <a:solidFill>
              <a:srgbClr val="F0714B"/>
            </a:solidFill>
            <a:ln w="31750" cap="flat">
              <a:solidFill>
                <a:srgbClr val="F0714B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F0714B"/>
              </a:solidFill>
              <a:ln w="9525" cap="flat">
                <a:solidFill>
                  <a:srgbClr val="F0714B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1</c:v>
                </c:pt>
                <c:pt idx="1">
                  <c:v>1.5</c:v>
                </c:pt>
                <c:pt idx="2">
                  <c:v>2</c:v>
                </c:pt>
                <c:pt idx="3">
                  <c:v>2.5</c:v>
                </c:pt>
                <c:pt idx="4">
                  <c:v>3</c:v>
                </c:pt>
                <c:pt idx="5">
                  <c:v>3.5</c:v>
                </c:pt>
                <c:pt idx="6">
                  <c:v>4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300</c:v>
                </c:pt>
                <c:pt idx="1">
                  <c:v>300</c:v>
                </c:pt>
                <c:pt idx="2">
                  <c:v>300</c:v>
                </c:pt>
                <c:pt idx="3">
                  <c:v>300</c:v>
                </c:pt>
                <c:pt idx="4">
                  <c:v>300</c:v>
                </c:pt>
                <c:pt idx="5">
                  <c:v>300</c:v>
                </c:pt>
                <c:pt idx="6">
                  <c:v>300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Isothermal  pV = C</c:v>
                </c:pt>
              </c:strCache>
            </c:strRef>
          </c:tx>
          <c:spPr>
            <a:solidFill>
              <a:srgbClr val="2E75B6"/>
            </a:solidFill>
            <a:ln w="31750" cap="flat">
              <a:solidFill>
                <a:srgbClr val="2E75B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1</c:v>
                </c:pt>
                <c:pt idx="1">
                  <c:v>1.5</c:v>
                </c:pt>
                <c:pt idx="2">
                  <c:v>2</c:v>
                </c:pt>
                <c:pt idx="3">
                  <c:v>2.5</c:v>
                </c:pt>
                <c:pt idx="4">
                  <c:v>3</c:v>
                </c:pt>
                <c:pt idx="5">
                  <c:v>3.5</c:v>
                </c:pt>
                <c:pt idx="6">
                  <c:v>4</c:v>
                </c:pt>
              </c:numCache>
            </c:numRef>
          </c:xVal>
          <c:yVal>
            <c:numRef>
              <c:f>Sheet1!$C$2:$C$8</c:f>
              <c:numCache>
                <c:formatCode>General</c:formatCode>
                <c:ptCount val="7"/>
                <c:pt idx="0">
                  <c:v>600</c:v>
                </c:pt>
                <c:pt idx="1">
                  <c:v>400</c:v>
                </c:pt>
                <c:pt idx="2">
                  <c:v>300</c:v>
                </c:pt>
                <c:pt idx="3">
                  <c:v>240</c:v>
                </c:pt>
                <c:pt idx="4">
                  <c:v>200</c:v>
                </c:pt>
                <c:pt idx="5">
                  <c:v>171.42857142857142</c:v>
                </c:pt>
                <c:pt idx="6">
                  <c:v>150</c:v>
                </c:pt>
              </c:numCache>
            </c:numRef>
          </c:y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Polytropic  pV¹·³ = C</c:v>
                </c:pt>
              </c:strCache>
            </c:strRef>
          </c:tx>
          <c:spPr>
            <a:solidFill>
              <a:srgbClr val="16324F"/>
            </a:solidFill>
            <a:ln w="31750" cap="flat">
              <a:solidFill>
                <a:srgbClr val="16324F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16324F"/>
              </a:solidFill>
              <a:ln w="9525" cap="flat">
                <a:solidFill>
                  <a:srgbClr val="16324F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1</c:v>
                </c:pt>
                <c:pt idx="1">
                  <c:v>1.5</c:v>
                </c:pt>
                <c:pt idx="2">
                  <c:v>2</c:v>
                </c:pt>
                <c:pt idx="3">
                  <c:v>2.5</c:v>
                </c:pt>
                <c:pt idx="4">
                  <c:v>3</c:v>
                </c:pt>
                <c:pt idx="5">
                  <c:v>3.5</c:v>
                </c:pt>
                <c:pt idx="6">
                  <c:v>4</c:v>
                </c:pt>
              </c:numCache>
            </c:numRef>
          </c:xVal>
          <c:yVal>
            <c:numRef>
              <c:f>Sheet1!$D$2:$D$8</c:f>
              <c:numCache>
                <c:formatCode>General</c:formatCode>
                <c:ptCount val="7"/>
                <c:pt idx="0">
                  <c:v>600</c:v>
                </c:pt>
                <c:pt idx="1">
                  <c:v>354.18699731822244</c:v>
                </c:pt>
                <c:pt idx="2">
                  <c:v>243.67571890687066</c:v>
                </c:pt>
                <c:pt idx="3">
                  <c:v>182.31787030376972</c:v>
                </c:pt>
                <c:pt idx="4">
                  <c:v>143.84461866497287</c:v>
                </c:pt>
                <c:pt idx="5">
                  <c:v>117.72339895589624</c:v>
                </c:pt>
                <c:pt idx="6">
                  <c:v>98.96309330796706</c:v>
                </c:pt>
              </c:numCache>
            </c:numRef>
          </c:yVal>
          <c:smooth val="1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Arial"/>
                  </a:rPr>
                  <a:t>Volume V (m³)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E7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Arial"/>
                  </a:rPr>
                  <a:t>Pressure p (kPa)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852160" cy="5852160"/>
          </a:xfrm>
          <a:prstGeom prst="ellipse">
            <a:avLst/>
          </a:prstGeom>
          <a:solidFill>
            <a:srgbClr val="1F4E7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4206240" cy="4206240"/>
          </a:xfrm>
          <a:prstGeom prst="ellipse">
            <a:avLst/>
          </a:prstGeom>
          <a:solidFill>
            <a:srgbClr val="2E75B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3977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pic>
        <p:nvPicPr>
          <p:cNvPr id="5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39534"/>
            <a:ext cx="3611880" cy="9326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00600" y="457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ME23312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THERMODYNAMICS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Basics, Zeroth and First Law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F0714B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148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• LECTURE 3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 Work and the p-V Diagram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48640" y="4069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W = ∫p dV, reading work as area under the curve, and work expressions for standard processes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50749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Anantha Raman L., M.E., Ph.D.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Mechanical Engineering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Rajalakshmi Institute of Technology, Chennai, Tamil Nadu.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• LECTURE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Outline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385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08760" y="1828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&amp; connect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Quasi-static recap; sign convention for heat and work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32688" y="25694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640080" y="28529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852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508760" y="2743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of δW = p dV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Piston–cylinder force analysis, step by step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932688" y="34838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640080" y="37673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673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08760" y="3657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as area on p-V diagram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dependence demonstrated with different curves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932688" y="43982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640080" y="4681728"/>
            <a:ext cx="603504" cy="603504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681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508760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standard processes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V, constant p, isothermal (pV = C), polytropic (pVⁿ = C)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932688" y="5312664"/>
            <a:ext cx="0" cy="256032"/>
          </a:xfrm>
          <a:prstGeom prst="line">
            <a:avLst/>
          </a:prstGeom>
          <a:noFill/>
          <a:ln w="19050">
            <a:solidFill>
              <a:srgbClr val="9DC3E6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640080" y="5596128"/>
            <a:ext cx="603504" cy="603504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55961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508760" y="5486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example + recap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polytropic index n from two states, then the work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• GROUND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Transfer and the Sign Convention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" y="200939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" y="200939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17320" y="172821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Thermodynamic definition of work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is done by a system if the sole effect on the surroundings could be reduced to the raising of a weight.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" y="317525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317525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289407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convention (used throughout this course)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 BY the system → positive. Work done ON the system → negative. Heat TO the system → positive; heat rejected → negative.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1792" y="434111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" y="434111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17320" y="405993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and heat are energy in transit: joule (J), kilojoule (kJ). Rate of work = power, watt (W).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" y="550697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550697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17320" y="522579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(displacement) work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associated with a moving boundary — the most common form in piston–cylinder devices.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• DERIVATION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 Work: δW = p dV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83080"/>
            <a:ext cx="5577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at pressure p pushes piston of area A.</a:t>
            </a:r>
            <a:endParaRPr lang="en-US" sz="1350" dirty="0"/>
          </a:p>
          <a:p>
            <a:pPr lvl="1" marL="304800" indent="-1524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on piston: F = p × A</a:t>
            </a:r>
            <a:endParaRPr lang="en-US" sz="1350" dirty="0"/>
          </a:p>
          <a:p>
            <a:pPr lvl="1" marL="304800" indent="-1524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Piston moves a small distance dL.</a:t>
            </a:r>
            <a:endParaRPr lang="en-US" sz="1350" dirty="0"/>
          </a:p>
          <a:p>
            <a:pPr lvl="1" marL="304800" indent="-152400"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done: δW = F × dL = p × A × dL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 × dL = dV (change in volume), so δW = p dV.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work for process 1→2:  W₁₂ = ∫₁² p dV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only for a quasi-static process, where p is defined at every instant.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0" y="1783080"/>
            <a:ext cx="5239512" cy="4480560"/>
          </a:xfrm>
          <a:prstGeom prst="roundRect">
            <a:avLst>
              <a:gd name="adj" fmla="val 2041"/>
            </a:avLst>
          </a:prstGeom>
          <a:solidFill>
            <a:srgbClr val="EAF2FA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77556" y="2286000"/>
            <a:ext cx="146304" cy="2377440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8" name="Shape 5"/>
          <p:cNvSpPr/>
          <p:nvPr/>
        </p:nvSpPr>
        <p:spPr>
          <a:xfrm>
            <a:off x="10017252" y="2286000"/>
            <a:ext cx="146304" cy="2377440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9" name="Shape 6"/>
          <p:cNvSpPr/>
          <p:nvPr/>
        </p:nvSpPr>
        <p:spPr>
          <a:xfrm>
            <a:off x="7877556" y="4517136"/>
            <a:ext cx="2286000" cy="146304"/>
          </a:xfrm>
          <a:prstGeom prst="rect">
            <a:avLst/>
          </a:prstGeom>
          <a:solidFill>
            <a:srgbClr val="16324F"/>
          </a:solidFill>
          <a:ln/>
        </p:spPr>
      </p:sp>
      <p:sp>
        <p:nvSpPr>
          <p:cNvPr id="10" name="Shape 7"/>
          <p:cNvSpPr/>
          <p:nvPr/>
        </p:nvSpPr>
        <p:spPr>
          <a:xfrm>
            <a:off x="8023860" y="3200400"/>
            <a:ext cx="1993392" cy="1316736"/>
          </a:xfrm>
          <a:prstGeom prst="rect">
            <a:avLst/>
          </a:prstGeom>
          <a:solidFill>
            <a:srgbClr val="9DC3E6"/>
          </a:solidFill>
          <a:ln/>
        </p:spPr>
      </p:sp>
      <p:sp>
        <p:nvSpPr>
          <p:cNvPr id="11" name="Text 8"/>
          <p:cNvSpPr/>
          <p:nvPr/>
        </p:nvSpPr>
        <p:spPr>
          <a:xfrm>
            <a:off x="8023860" y="3246120"/>
            <a:ext cx="1993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V, 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23860" y="2834640"/>
            <a:ext cx="1993392" cy="365760"/>
          </a:xfrm>
          <a:prstGeom prst="rect">
            <a:avLst/>
          </a:prstGeom>
          <a:solidFill>
            <a:srgbClr val="F0714B"/>
          </a:solidFill>
          <a:ln/>
        </p:spPr>
      </p:sp>
      <p:sp>
        <p:nvSpPr>
          <p:cNvPr id="13" name="Text 10"/>
          <p:cNvSpPr/>
          <p:nvPr/>
        </p:nvSpPr>
        <p:spPr>
          <a:xfrm>
            <a:off x="10254996" y="2834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956548" y="1965960"/>
            <a:ext cx="128016" cy="86868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5" name="Shape 12"/>
          <p:cNvSpPr/>
          <p:nvPr/>
        </p:nvSpPr>
        <p:spPr>
          <a:xfrm>
            <a:off x="8846820" y="1417320"/>
            <a:ext cx="347472" cy="502920"/>
          </a:xfrm>
          <a:prstGeom prst="upArrow">
            <a:avLst/>
          </a:prstGeom>
          <a:solidFill>
            <a:srgbClr val="2E75B6"/>
          </a:solidFill>
          <a:ln/>
        </p:spPr>
      </p:sp>
      <p:sp>
        <p:nvSpPr>
          <p:cNvPr id="16" name="Text 13"/>
          <p:cNvSpPr/>
          <p:nvPr/>
        </p:nvSpPr>
        <p:spPr>
          <a:xfrm>
            <a:off x="9276588" y="1463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75120" y="480060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δW = p·A·dL = p·dV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• GRAPHICAL MEANING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is the Area Under the p-V Curve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548640" y="1783080"/>
          <a:ext cx="667512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7543800" y="1920240"/>
            <a:ext cx="4069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diagram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the curve between V₁ and V₂ equals ∫p dV — the displacement work.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curves joining the same two states enclose different areas.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Hence work depends on the PATH — it is a path function.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Steeper fall of p (higher n) → smaller area → less work.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• FORMULA SHEET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 Work for Standard Quasi-static Processes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291840"/>
                <a:gridCol w="450799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p–V relation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done W₁₂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 volume (isochoric)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= constant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= 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 pressure (isobaric)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constant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= p (V₂ − V₁)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Isothermal (ideal gas)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 = constant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= p₁V₁ ln(V₂/V₁) = mRT ln(V₂/V₁)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Polytropic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pVⁿ = constant (n ≠ 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= (p₁V₁ − p₂V₂)/(n − 1)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Adiabatic (special polytropic)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pV^γ = constant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= (p₁V₁ − p₂V₂)/(γ − 1)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" y="576072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five results answer 80% of Unit-I numericals — the tutorial next class drills all of them.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• BOARD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Polytropic Index from Two States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EAF2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6916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gas expands from 5 bar, 0.1 m³ to 1 bar, 0.4 m³ following pVⁿ = constant. Determine the index n and the work done.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154680"/>
            <a:ext cx="7498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p₁V₁ⁿ = p₂V₂ⁿ ⇒ (p₁/p₂) = (V₂/V₁)ⁿ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ln(p₁/p₂) / ln(V₂/V₁) = ln 5 / ln 4 = 1.609 / 1.386 = 1.161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(p₁V₁ − p₂V₂)/(n − 1) with p in kPa: (500×0.1 − 100×0.4)/(0.161)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(50 − 40)/0.161 = 62.1 kJ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→ expansion work done by the gas. ✓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321040" y="3154680"/>
            <a:ext cx="3319272" cy="1554480"/>
          </a:xfrm>
          <a:prstGeom prst="roundRect">
            <a:avLst>
              <a:gd name="adj" fmla="val 5882"/>
            </a:avLst>
          </a:prstGeom>
          <a:solidFill>
            <a:srgbClr val="16324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31546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≈ 1.16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≈ + 62.1 kJ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5806440"/>
            <a:ext cx="11091672" cy="530352"/>
          </a:xfrm>
          <a:prstGeom prst="roundRect">
            <a:avLst>
              <a:gd name="adj" fmla="val 15517"/>
            </a:avLst>
          </a:prstGeom>
          <a:solidFill>
            <a:srgbClr val="FDEDE6"/>
          </a:solidFill>
          <a:ln w="12700">
            <a:solidFill>
              <a:srgbClr val="F071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806440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both end states are given, extract n first from the logs — a favourite CAT sub-question.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• CAUTION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∫p dV Fails, and Other Work Modes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" y="200939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" y="200939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17320" y="172821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(unrestrained) expansion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expanding into vacuum: no resisting force, so W = 0 even though volume increases. ∫p dV must NOT be applied — process is not quasi-static.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1792" y="317525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317525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289407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processes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is non-uniform during fast expansion or compression; the integral has no meaning.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1792" y="434111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" y="434111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17320" y="405993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quasi-static work modes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Shaft work (paddle wheel), electrical work (∫VI dt), spring work, stretching of a wire, surface film — same sign convention applies.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" y="5506974"/>
            <a:ext cx="530352" cy="530352"/>
          </a:xfrm>
          <a:prstGeom prst="ellipse">
            <a:avLst/>
          </a:prstGeom>
          <a:solidFill>
            <a:srgbClr val="F0714B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550697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17320" y="5225796"/>
            <a:ext cx="1019556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work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W_net = W_displacement + W_shaft + W_electrical + ... — add every mode crossing the boundary.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• LECTURE 3 • 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What Comes Next</a:t>
            </a:r>
            <a:endParaRPr lang="en-US" sz="2700" dirty="0"/>
          </a:p>
        </p:txBody>
      </p:sp>
      <p:pic>
        <p:nvPicPr>
          <p:cNvPr id="4" name="Image 0" descr="/home/claude/R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411480"/>
            <a:ext cx="1417320" cy="3659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covered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19456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convention: W done BY the system is positive; Q supplied TO the system is positive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δW = p dV for a quasi-static process; W = area under the p-V curve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is a path function — different paths give different work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Formulas: W = 0 (const V), p(V₂−V₁) (const p), p₁V₁ ln(V₂/V₁) (isothermal), (p₁V₁−p₂V₂)/(n−1) (polytropic)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from states: n = ln(p₂/p₁) / ln(V₁/V₂)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406640" y="1920240"/>
            <a:ext cx="4233672" cy="3657600"/>
          </a:xfrm>
          <a:prstGeom prst="roundRect">
            <a:avLst>
              <a:gd name="adj" fmla="val 2500"/>
            </a:avLst>
          </a:prstGeom>
          <a:solidFill>
            <a:srgbClr val="16324F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0" y="2103120"/>
            <a:ext cx="3703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07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</a:t>
            </a:r>
            <a:endParaRPr lang="en-US" sz="115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1 — Problems on Displacement Work</a:t>
            </a:r>
            <a:endParaRPr lang="en-US" sz="1150" dirty="0"/>
          </a:p>
          <a:p>
            <a:pPr indent="0" marL="0">
              <a:buNone/>
            </a:pPr>
            <a:r>
              <a:rPr lang="en-US" sz="12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problems solved step by step on the board. Bring your calculator.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P.K. Nag, "Engineering Thermodynamics", 6th Edn., TMH — Ch. 3 (Work and Heat Transfer)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2026-08-19T04:07:30Z</dcterms:created>
  <dcterms:modified xsi:type="dcterms:W3CDTF">2026-08-19T04:07:30Z</dcterms:modified>
</cp:coreProperties>
</file>